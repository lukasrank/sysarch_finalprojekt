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7440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Yasin opens. Good morning - we are Group E. We built the control system for a four-level elevator together with its MQTT operator interface. Briefly introduce the four of us and the two teams: HMI team Yasin and Mevluet, control team Ruben and Lukas. Then move to the agenda.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talk has two halves. First the HMI side - the operator interface and how it talks to the system - by Yasin and Mevluet. Then the control system itself - the logic, the I/O, and a live demo - by Ruben and Lukas. The key thing to remember: the two halves meet at exactly one MQTT boundary. Part 1 explains that interface, Part 2 the logic behind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Yasin: this is Part one - the HMI and the interface it speaks. We will cover what the HMI is, how it is separated from the control system, the MQTT topics, the status payload, and finally our reference HMI application.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Yasin. Three actors: the operator and HMI on top, our control system in the middle, the PLC simulation at the bottom. Scope point: in the assignment a partner group owns the HMI, but we also built a reference HMI - that is what this Part one shows. The key idea throughout is a clean, transport-agnostic interface so the two sides stay independent.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Yasin. Two separate Maven modules - the HMI and the control system. They share only one thing: the message contract in the mqtt package, the topics and the JSON DTOs. Neither module imports the other's code. And one rule from the assignment: every interface variable flows in one direction only - state out on status and event, commands in on cmd. They never share a topic.</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Yasin. MQTT is a lightweight publish/subscribe protocol that goes through a broker - here mosquitto on the lab server. Three topics under /SysArch/E: status and event go from control to the HMI, cmd comes back. Status is retained, so an HMI that joins late immediately gets the last state. And it is resilient - if there is no broker, the control system just logs to the console and keeps running. Then I hand to Mevluet.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Mevluet takes over. Every cycle the controller publishes one status message and the HMI just renders it. Walk the table top to bottom: level, direction, phase, door, and velocity - note velocity is signed, a negative value means going down. Then the three call lists: cabin calls, hall up, hall down. This exact example is the journey we will see live later in Part two.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Mevluet. This is our reference HMI. The graphical Swing version has an animated shaft with a moving cabin and sliding doors, call lamps, live read-outs and buttons. There is also a console version for debugging without a display. When the operator presses a button it becomes one of these cmd messages at the bottom. The crucial point: the HMI depends only on the shared contract, never on control code - so the partner group could swap it for any GUI. Then I hand to Ruben for the control system.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Ruben: now Part two, the control system itself. I will cover the requirements, the hardware, the architecture, and the control logic; Lukas then takes the I/O, deployment and the live demo.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Ruben. The assignment gives twelve requirements - do not read them all out. Highlight the important ones: four levels; two speeds plus crawl; the sensor that marks the safe door position; the stopping rules for hall versus cabin calls; the six-second minimum dwell; and the emergency stop. Together these define collective control, which is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Ruben. The physical setup. Four levels, 3.5 metres apart. Two speeds per direction - fast v2 and slow v1 - plus a crawl speed for fine positioning. Around every level there are five sensors at fixed offsets; the lower, safety and reached sensors are what drive the braking on the next slide. Note the top and bottom levels only have sensors on one side.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Ruben. Our core design decision: hexagonal architecture. The domain - the pure logic - knows nothing about Modbus or MQTT. It only talks to ports, which are interfaces; adapters on the edge do the actual I/O. That is why we can run against the simulation or the real PLC, or swap MQTT, without touching the logic - which is exactly what the assignment asks for.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Ruben. The algorithm is collective control, also called SCAN. The lift sweeps in one direction and serves everything on the way - cabin calls, and hall calls that want the same direction. It keeps going while requests lie ahead, and only reverses when the only remaining requests are behind it. The example at the bottom shows it serves L2 and L3 going up, turns at L4, then serves L3 going down - it never zig-zags.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Ruben. How it stops precisely. Three sensors fire in sequence and step the speed down: approach takes us from V2 to V1, safety takes us to crawl, and reached means stop - that is the door-safe position. Going down is the mirror image with the upper sensors. After stopping it holds the minimum dwell of six seconds plus the door open and close time before it leaves.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Ruben. The whole controller is a finite state machine - it is always in exactly one phase: idle, moving, decelerating, crawling, the three door phases, and emergency. Every 100 milliseconds it runs one cycle: read the inputs, advance the state, derive the motor and door outputs, write them and publish status. Emergency interrupts from any state and resumes after a reset. Now I hand to Lukas for the I/O and deployment.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Lukas takes over. Modbus is the simple industrial protocol we use to talk to the PLC - we are the master, the PLC is the slave, and we poll it every 100 ms. We write coils for the motor and doors, and read discrete inputs for the sensors and registers for the speed. All addresses live in one place, ModbusIoMap, so the lab layout is easy to fix. Honest status: Modbus is not wired yet - we run against an in-memory simulation, which is also what the demo uses.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Lukas. Where it runs: the HMI is on the laptop, the broker and the control jar both run on the lab server, and the PLC is a third machine. The pipeline is build, copy, run: mvn package makes one self-contained jar, scp copies it to the server, and java runs it. One real gotcha we hit: the server only has Java 11, so our Java 17 jar failed with an UnsupportedClassVersionError. We retargeted the whole codebase to Java 11 and all 21 tests still pass.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Lukas drives the live demo. Start the control jar on the server and confirm the broker says connected; open the Swing HMI. Then press a cabin call, add a hall call mid-travel to show SCAN serving on the way, and trigger the emergency stop and reset. Point at the animated shaft and at the messages on /SysArch/E. If the VPN or lab is down, fall back to a local broker with the same HMI - and the next slide is a recorded trace as a backup.</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Lukas. This is a real capture of one journey - a cabin call to level 1 while the cabin is at the top. Read down the left column: the call comes in, then departure, moving at full speed minus 100, then decelerating, crawling, arrival, the full door cycle, and back to idle. The right column maps each step to the exact FSM phases from Ruben's state-machine slide - it is the theory made visible on the wire. Use this if the live demo has any issue.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we delivered the full collective-control logic for four levels, a clean hexagonal design, an HMI fully decoupled over MQTT, and a deployable jar - with 21 tests green. Lessons learned: match the runtime early, keep secrets out of git, and watch the tooling traps. Still open: wiring the real Modbus library and confirming the lab addresses - then the same logic drives real hardware. Thank you, and 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5" name="Text 2"/>
          <p:cNvSpPr/>
          <p:nvPr/>
        </p:nvSpPr>
        <p:spPr>
          <a:xfrm>
            <a:off x="640080" y="1783080"/>
            <a:ext cx="10972800" cy="1005840"/>
          </a:xfrm>
          <a:prstGeom prst="rect">
            <a:avLst/>
          </a:prstGeom>
          <a:noFill/>
          <a:ln/>
        </p:spPr>
        <p:txBody>
          <a:bodyPr wrap="square" lIns="0" tIns="0" rIns="0" bIns="0" rtlCol="0" anchor="ctr"/>
          <a:lstStyle/>
          <a:p>
            <a:pPr marL="0" indent="0">
              <a:buNone/>
            </a:pPr>
            <a:r>
              <a:rPr lang="en-US" sz="5000" b="1" dirty="0">
                <a:solidFill>
                  <a:srgbClr val="2D2D2B"/>
                </a:solidFill>
                <a:latin typeface="Arial" pitchFamily="34" charset="0"/>
                <a:ea typeface="Arial" pitchFamily="34" charset="-122"/>
                <a:cs typeface="Arial" pitchFamily="34" charset="-120"/>
              </a:rPr>
              <a:t>Elevator Control System</a:t>
            </a:r>
            <a:endParaRPr lang="en-US" sz="5000" dirty="0"/>
          </a:p>
        </p:txBody>
      </p:sp>
      <p:sp>
        <p:nvSpPr>
          <p:cNvPr id="6" name="Text 3"/>
          <p:cNvSpPr/>
          <p:nvPr/>
        </p:nvSpPr>
        <p:spPr>
          <a:xfrm>
            <a:off x="640080" y="2834640"/>
            <a:ext cx="10241280" cy="822960"/>
          </a:xfrm>
          <a:prstGeom prst="rect">
            <a:avLst/>
          </a:prstGeom>
          <a:noFill/>
          <a:ln/>
        </p:spPr>
        <p:txBody>
          <a:bodyPr wrap="square" lIns="0" tIns="0" rIns="0" bIns="0" rtlCol="0" anchor="ctr"/>
          <a:lstStyle/>
          <a:p>
            <a:pPr marL="0" indent="0">
              <a:buNone/>
            </a:pPr>
            <a:r>
              <a:rPr lang="en-US" sz="1800" dirty="0">
                <a:solidFill>
                  <a:srgbClr val="333331"/>
                </a:solidFill>
                <a:latin typeface="Arial" pitchFamily="34" charset="0"/>
                <a:ea typeface="Arial" pitchFamily="34" charset="-122"/>
                <a:cs typeface="Arial" pitchFamily="34" charset="-120"/>
              </a:rPr>
              <a:t>A collective-control elevator for a 4-level PLC simulation:</a:t>
            </a:r>
            <a:endParaRPr lang="en-US" sz="1800" dirty="0"/>
          </a:p>
          <a:p>
            <a:pPr marL="0" indent="0">
              <a:buNone/>
            </a:pPr>
            <a:r>
              <a:rPr lang="en-US" sz="1800" dirty="0">
                <a:solidFill>
                  <a:srgbClr val="333331"/>
                </a:solidFill>
                <a:latin typeface="Arial" pitchFamily="34" charset="0"/>
                <a:ea typeface="Arial" pitchFamily="34" charset="-122"/>
                <a:cs typeface="Arial" pitchFamily="34" charset="-120"/>
              </a:rPr>
              <a:t>the control logic and its MQTT operator interface (HMI).</a:t>
            </a:r>
            <a:endParaRPr lang="en-US" sz="1800" dirty="0"/>
          </a:p>
        </p:txBody>
      </p:sp>
      <p:sp>
        <p:nvSpPr>
          <p:cNvPr id="7" name="Shape 4"/>
          <p:cNvSpPr/>
          <p:nvPr/>
        </p:nvSpPr>
        <p:spPr>
          <a:xfrm>
            <a:off x="640080" y="3977640"/>
            <a:ext cx="10908792" cy="0"/>
          </a:xfrm>
          <a:prstGeom prst="line">
            <a:avLst/>
          </a:prstGeom>
          <a:noFill/>
          <a:ln w="12700">
            <a:solidFill>
              <a:srgbClr val="D7D7D5"/>
            </a:solidFill>
            <a:prstDash val="solid"/>
          </a:ln>
        </p:spPr>
        <p:txBody>
          <a:bodyPr/>
          <a:lstStyle/>
          <a:p>
            <a:endParaRPr lang="de-DE"/>
          </a:p>
        </p:txBody>
      </p:sp>
      <p:sp>
        <p:nvSpPr>
          <p:cNvPr id="8" name="Text 5"/>
          <p:cNvSpPr/>
          <p:nvPr/>
        </p:nvSpPr>
        <p:spPr>
          <a:xfrm>
            <a:off x="640080" y="4206240"/>
            <a:ext cx="5120640" cy="320040"/>
          </a:xfrm>
          <a:prstGeom prst="rect">
            <a:avLst/>
          </a:prstGeom>
          <a:noFill/>
          <a:ln/>
        </p:spPr>
        <p:txBody>
          <a:bodyPr wrap="square" lIns="0" tIns="0" rIns="0" bIns="0" rtlCol="0" anchor="ctr"/>
          <a:lstStyle/>
          <a:p>
            <a:pPr marL="0" indent="0">
              <a:buNone/>
            </a:pPr>
            <a:r>
              <a:rPr lang="en-US" sz="1300" b="1" kern="0" spc="200" dirty="0">
                <a:solidFill>
                  <a:srgbClr val="0B6E7A"/>
                </a:solidFill>
                <a:latin typeface="Arial" pitchFamily="34" charset="0"/>
                <a:ea typeface="Arial" pitchFamily="34" charset="-122"/>
                <a:cs typeface="Arial" pitchFamily="34" charset="-120"/>
              </a:rPr>
              <a:t>HMI TEAM</a:t>
            </a:r>
            <a:endParaRPr lang="en-US" sz="1300" dirty="0"/>
          </a:p>
        </p:txBody>
      </p:sp>
      <p:sp>
        <p:nvSpPr>
          <p:cNvPr id="9" name="Text 6"/>
          <p:cNvSpPr/>
          <p:nvPr/>
        </p:nvSpPr>
        <p:spPr>
          <a:xfrm>
            <a:off x="640080" y="4498848"/>
            <a:ext cx="5120640" cy="274320"/>
          </a:xfrm>
          <a:prstGeom prst="rect">
            <a:avLst/>
          </a:prstGeom>
          <a:noFill/>
          <a:ln/>
        </p:spPr>
        <p:txBody>
          <a:bodyPr wrap="square" lIns="0" tIns="0" rIns="0" bIns="0" rtlCol="0" anchor="ctr"/>
          <a:lstStyle/>
          <a:p>
            <a:pPr marL="0" indent="0">
              <a:buNone/>
            </a:pPr>
            <a:r>
              <a:rPr lang="en-US" sz="1200" i="1" dirty="0">
                <a:solidFill>
                  <a:srgbClr val="6E6E6C"/>
                </a:solidFill>
                <a:latin typeface="Arial" pitchFamily="34" charset="0"/>
                <a:ea typeface="Arial" pitchFamily="34" charset="-122"/>
                <a:cs typeface="Arial" pitchFamily="34" charset="-120"/>
              </a:rPr>
              <a:t>operator interface</a:t>
            </a:r>
            <a:endParaRPr lang="en-US" sz="1200" dirty="0"/>
          </a:p>
        </p:txBody>
      </p:sp>
      <p:sp>
        <p:nvSpPr>
          <p:cNvPr id="10" name="Text 7"/>
          <p:cNvSpPr/>
          <p:nvPr/>
        </p:nvSpPr>
        <p:spPr>
          <a:xfrm>
            <a:off x="640080" y="4937760"/>
            <a:ext cx="2286000" cy="411480"/>
          </a:xfrm>
          <a:prstGeom prst="rect">
            <a:avLst/>
          </a:prstGeom>
          <a:noFill/>
          <a:ln/>
        </p:spPr>
        <p:txBody>
          <a:bodyPr wrap="square" lIns="0" tIns="0" rIns="0" bIns="0" rtlCol="0" anchor="ctr"/>
          <a:lstStyle/>
          <a:p>
            <a:pPr marL="0" indent="0">
              <a:buNone/>
            </a:pPr>
            <a:r>
              <a:rPr lang="en-US" sz="1900" b="1" dirty="0">
                <a:solidFill>
                  <a:srgbClr val="2D2D2B"/>
                </a:solidFill>
                <a:latin typeface="Arial" pitchFamily="34" charset="0"/>
                <a:ea typeface="Arial" pitchFamily="34" charset="-122"/>
                <a:cs typeface="Arial" pitchFamily="34" charset="-120"/>
              </a:rPr>
              <a:t>Yasin</a:t>
            </a:r>
            <a:endParaRPr lang="en-US" sz="1900" dirty="0"/>
          </a:p>
        </p:txBody>
      </p:sp>
      <p:sp>
        <p:nvSpPr>
          <p:cNvPr id="11" name="Text 8"/>
          <p:cNvSpPr/>
          <p:nvPr/>
        </p:nvSpPr>
        <p:spPr>
          <a:xfrm>
            <a:off x="3108960" y="4937760"/>
            <a:ext cx="2286000" cy="411480"/>
          </a:xfrm>
          <a:prstGeom prst="rect">
            <a:avLst/>
          </a:prstGeom>
          <a:noFill/>
          <a:ln/>
        </p:spPr>
        <p:txBody>
          <a:bodyPr wrap="square" lIns="0" tIns="0" rIns="0" bIns="0" rtlCol="0" anchor="ctr"/>
          <a:lstStyle/>
          <a:p>
            <a:pPr marL="0" indent="0">
              <a:buNone/>
            </a:pPr>
            <a:r>
              <a:rPr lang="en-US" sz="1900" b="1" dirty="0">
                <a:solidFill>
                  <a:srgbClr val="2D2D2B"/>
                </a:solidFill>
                <a:latin typeface="Arial" pitchFamily="34" charset="0"/>
                <a:ea typeface="Arial" pitchFamily="34" charset="-122"/>
                <a:cs typeface="Arial" pitchFamily="34" charset="-120"/>
              </a:rPr>
              <a:t>Mevlüt</a:t>
            </a:r>
            <a:endParaRPr lang="en-US" sz="1900" dirty="0"/>
          </a:p>
        </p:txBody>
      </p:sp>
      <p:sp>
        <p:nvSpPr>
          <p:cNvPr id="12" name="Text 9"/>
          <p:cNvSpPr/>
          <p:nvPr/>
        </p:nvSpPr>
        <p:spPr>
          <a:xfrm>
            <a:off x="6126480" y="4206240"/>
            <a:ext cx="5120640" cy="320040"/>
          </a:xfrm>
          <a:prstGeom prst="rect">
            <a:avLst/>
          </a:prstGeom>
          <a:noFill/>
          <a:ln/>
        </p:spPr>
        <p:txBody>
          <a:bodyPr wrap="square" lIns="0" tIns="0" rIns="0" bIns="0" rtlCol="0" anchor="ctr"/>
          <a:lstStyle/>
          <a:p>
            <a:pPr marL="0" indent="0">
              <a:buNone/>
            </a:pPr>
            <a:r>
              <a:rPr lang="en-US" sz="1300" b="1" kern="0" spc="200" dirty="0">
                <a:solidFill>
                  <a:srgbClr val="0B6E7A"/>
                </a:solidFill>
                <a:latin typeface="Arial" pitchFamily="34" charset="0"/>
                <a:ea typeface="Arial" pitchFamily="34" charset="-122"/>
                <a:cs typeface="Arial" pitchFamily="34" charset="-120"/>
              </a:rPr>
              <a:t>CONTROL TEAM</a:t>
            </a:r>
            <a:endParaRPr lang="en-US" sz="1300" dirty="0"/>
          </a:p>
        </p:txBody>
      </p:sp>
      <p:sp>
        <p:nvSpPr>
          <p:cNvPr id="13" name="Text 10"/>
          <p:cNvSpPr/>
          <p:nvPr/>
        </p:nvSpPr>
        <p:spPr>
          <a:xfrm>
            <a:off x="6126480" y="4498848"/>
            <a:ext cx="5120640" cy="274320"/>
          </a:xfrm>
          <a:prstGeom prst="rect">
            <a:avLst/>
          </a:prstGeom>
          <a:noFill/>
          <a:ln/>
        </p:spPr>
        <p:txBody>
          <a:bodyPr wrap="square" lIns="0" tIns="0" rIns="0" bIns="0" rtlCol="0" anchor="ctr"/>
          <a:lstStyle/>
          <a:p>
            <a:pPr marL="0" indent="0">
              <a:buNone/>
            </a:pPr>
            <a:r>
              <a:rPr lang="en-US" sz="1200" i="1" dirty="0">
                <a:solidFill>
                  <a:srgbClr val="6E6E6C"/>
                </a:solidFill>
                <a:latin typeface="Arial" pitchFamily="34" charset="0"/>
                <a:ea typeface="Arial" pitchFamily="34" charset="-122"/>
                <a:cs typeface="Arial" pitchFamily="34" charset="-120"/>
              </a:rPr>
              <a:t>the control system</a:t>
            </a:r>
            <a:endParaRPr lang="en-US" sz="1200" dirty="0"/>
          </a:p>
        </p:txBody>
      </p:sp>
      <p:sp>
        <p:nvSpPr>
          <p:cNvPr id="14" name="Text 11"/>
          <p:cNvSpPr/>
          <p:nvPr/>
        </p:nvSpPr>
        <p:spPr>
          <a:xfrm>
            <a:off x="6126480" y="4937760"/>
            <a:ext cx="2286000" cy="411480"/>
          </a:xfrm>
          <a:prstGeom prst="rect">
            <a:avLst/>
          </a:prstGeom>
          <a:noFill/>
          <a:ln/>
        </p:spPr>
        <p:txBody>
          <a:bodyPr wrap="square" lIns="0" tIns="0" rIns="0" bIns="0" rtlCol="0" anchor="ctr"/>
          <a:lstStyle/>
          <a:p>
            <a:pPr marL="0" indent="0">
              <a:buNone/>
            </a:pPr>
            <a:r>
              <a:rPr lang="en-US" sz="1900" b="1" dirty="0">
                <a:solidFill>
                  <a:srgbClr val="2D2D2B"/>
                </a:solidFill>
                <a:latin typeface="Arial" pitchFamily="34" charset="0"/>
                <a:ea typeface="Arial" pitchFamily="34" charset="-122"/>
                <a:cs typeface="Arial" pitchFamily="34" charset="-120"/>
              </a:rPr>
              <a:t>Ruben</a:t>
            </a:r>
            <a:endParaRPr lang="en-US" sz="1900" dirty="0"/>
          </a:p>
        </p:txBody>
      </p:sp>
      <p:sp>
        <p:nvSpPr>
          <p:cNvPr id="15" name="Text 12"/>
          <p:cNvSpPr/>
          <p:nvPr/>
        </p:nvSpPr>
        <p:spPr>
          <a:xfrm>
            <a:off x="8595360" y="4937760"/>
            <a:ext cx="2286000" cy="411480"/>
          </a:xfrm>
          <a:prstGeom prst="rect">
            <a:avLst/>
          </a:prstGeom>
          <a:noFill/>
          <a:ln/>
        </p:spPr>
        <p:txBody>
          <a:bodyPr wrap="square" lIns="0" tIns="0" rIns="0" bIns="0" rtlCol="0" anchor="ctr"/>
          <a:lstStyle/>
          <a:p>
            <a:pPr marL="0" indent="0">
              <a:buNone/>
            </a:pPr>
            <a:r>
              <a:rPr lang="en-US" sz="1900" b="1" dirty="0">
                <a:solidFill>
                  <a:srgbClr val="2D2D2B"/>
                </a:solidFill>
                <a:latin typeface="Arial" pitchFamily="34" charset="0"/>
                <a:ea typeface="Arial" pitchFamily="34" charset="-122"/>
                <a:cs typeface="Arial" pitchFamily="34" charset="-120"/>
              </a:rPr>
              <a:t>Lukas</a:t>
            </a:r>
            <a:endParaRPr lang="en-US" sz="1900" dirty="0"/>
          </a:p>
        </p:txBody>
      </p:sp>
      <p:sp>
        <p:nvSpPr>
          <p:cNvPr id="16" name="Text 13"/>
          <p:cNvSpPr/>
          <p:nvPr/>
        </p:nvSpPr>
        <p:spPr>
          <a:xfrm>
            <a:off x="640080" y="6172200"/>
            <a:ext cx="5486400" cy="320040"/>
          </a:xfrm>
          <a:prstGeom prst="rect">
            <a:avLst/>
          </a:prstGeom>
          <a:noFill/>
          <a:ln/>
        </p:spPr>
        <p:txBody>
          <a:bodyPr wrap="square" lIns="0" tIns="0" rIns="0" bIns="0" rtlCol="0" anchor="ctr"/>
          <a:lstStyle/>
          <a:p>
            <a:pPr marL="0" indent="0">
              <a:buNone/>
            </a:pPr>
            <a:r>
              <a:rPr lang="en-US" sz="1300" dirty="0">
                <a:solidFill>
                  <a:srgbClr val="6E6E6C"/>
                </a:solidFill>
                <a:latin typeface="Arial" pitchFamily="34" charset="0"/>
                <a:ea typeface="Arial" pitchFamily="34" charset="-122"/>
                <a:cs typeface="Arial" pitchFamily="34" charset="-120"/>
              </a:rPr>
              <a:t>Group 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40080" y="502920"/>
            <a:ext cx="9144000" cy="292608"/>
          </a:xfrm>
          <a:prstGeom prst="rect">
            <a:avLst/>
          </a:prstGeom>
          <a:noFill/>
          <a:ln/>
        </p:spPr>
        <p:txBody>
          <a:bodyPr wrap="square" lIns="0" tIns="0" rIns="0" bIns="0" rtlCol="0" anchor="ctr"/>
          <a:lstStyle/>
          <a:p>
            <a:pPr marL="0" indent="0">
              <a:buNone/>
            </a:pPr>
            <a:r>
              <a:rPr lang="en-US" sz="1200" b="1" kern="0" spc="200" dirty="0">
                <a:solidFill>
                  <a:srgbClr val="0B6E7A"/>
                </a:solidFill>
                <a:latin typeface="Arial" pitchFamily="34" charset="0"/>
                <a:ea typeface="Arial" pitchFamily="34" charset="-122"/>
                <a:cs typeface="Arial" pitchFamily="34" charset="-120"/>
              </a:rPr>
              <a:t>AGENDA</a:t>
            </a:r>
            <a:endParaRPr lang="en-US" sz="1200" dirty="0"/>
          </a:p>
        </p:txBody>
      </p:sp>
      <p:sp>
        <p:nvSpPr>
          <p:cNvPr id="4" name="Text 2"/>
          <p:cNvSpPr/>
          <p:nvPr/>
        </p:nvSpPr>
        <p:spPr>
          <a:xfrm>
            <a:off x="640080" y="804672"/>
            <a:ext cx="10515600" cy="731520"/>
          </a:xfrm>
          <a:prstGeom prst="rect">
            <a:avLst/>
          </a:prstGeom>
          <a:noFill/>
          <a:ln/>
        </p:spPr>
        <p:txBody>
          <a:bodyPr wrap="square" lIns="0" tIns="0" rIns="0" bIns="0" rtlCol="0" anchor="ctr"/>
          <a:lstStyle/>
          <a:p>
            <a:pPr marL="0" indent="0">
              <a:buNone/>
            </a:pPr>
            <a:r>
              <a:rPr lang="en-US" sz="2800" b="1" dirty="0">
                <a:solidFill>
                  <a:srgbClr val="2D2D2B"/>
                </a:solidFill>
                <a:latin typeface="Arial" pitchFamily="34" charset="0"/>
                <a:ea typeface="Arial" pitchFamily="34" charset="-122"/>
                <a:cs typeface="Arial" pitchFamily="34" charset="-120"/>
              </a:rPr>
              <a:t>Two parts: the HMI and the control system</a:t>
            </a:r>
            <a:endParaRPr lang="en-US" sz="2800" dirty="0"/>
          </a:p>
        </p:txBody>
      </p:sp>
      <p:sp>
        <p:nvSpPr>
          <p:cNvPr id="5" name="Shape 3"/>
          <p:cNvSpPr/>
          <p:nvPr/>
        </p:nvSpPr>
        <p:spPr>
          <a:xfrm>
            <a:off x="640080" y="6382512"/>
            <a:ext cx="10908792" cy="0"/>
          </a:xfrm>
          <a:prstGeom prst="line">
            <a:avLst/>
          </a:prstGeom>
          <a:noFill/>
          <a:ln w="9525">
            <a:solidFill>
              <a:srgbClr val="D7D7D5"/>
            </a:solidFill>
            <a:prstDash val="solid"/>
          </a:ln>
        </p:spPr>
        <p:txBody>
          <a:bodyPr/>
          <a:lstStyle/>
          <a:p>
            <a:endParaRPr lang="de-DE"/>
          </a:p>
        </p:txBody>
      </p:sp>
      <p:sp>
        <p:nvSpPr>
          <p:cNvPr id="6" name="Text 4"/>
          <p:cNvSpPr/>
          <p:nvPr/>
        </p:nvSpPr>
        <p:spPr>
          <a:xfrm>
            <a:off x="640080" y="6437376"/>
            <a:ext cx="8229600" cy="274320"/>
          </a:xfrm>
          <a:prstGeom prst="rect">
            <a:avLst/>
          </a:prstGeom>
          <a:noFill/>
          <a:ln/>
        </p:spPr>
        <p:txBody>
          <a:bodyPr wrap="square" lIns="0" tIns="0" rIns="0" bIns="0" rtlCol="0" anchor="ctr"/>
          <a:lstStyle/>
          <a:p>
            <a:pPr marL="0" indent="0">
              <a:buNone/>
            </a:pPr>
            <a:r>
              <a:rPr lang="en-US" sz="900" dirty="0">
                <a:solidFill>
                  <a:srgbClr val="6E6E6C"/>
                </a:solidFill>
                <a:latin typeface="Arial" pitchFamily="34" charset="0"/>
                <a:ea typeface="Arial" pitchFamily="34" charset="-122"/>
                <a:cs typeface="Arial" pitchFamily="34" charset="-120"/>
              </a:rPr>
              <a:t>HTWG Konstanz  ·  System Architecture  ·  Group E</a:t>
            </a:r>
            <a:endParaRPr lang="en-US" sz="900" dirty="0"/>
          </a:p>
        </p:txBody>
      </p:sp>
      <p:sp>
        <p:nvSpPr>
          <p:cNvPr id="7" name="Text 5"/>
          <p:cNvSpPr/>
          <p:nvPr/>
        </p:nvSpPr>
        <p:spPr>
          <a:xfrm>
            <a:off x="10881360" y="6437376"/>
            <a:ext cx="667512" cy="274320"/>
          </a:xfrm>
          <a:prstGeom prst="rect">
            <a:avLst/>
          </a:prstGeom>
          <a:noFill/>
          <a:ln/>
        </p:spPr>
        <p:txBody>
          <a:bodyPr wrap="square" lIns="0" tIns="0" rIns="0" bIns="0" rtlCol="0" anchor="ctr"/>
          <a:lstStyle/>
          <a:p>
            <a:pPr marL="0" indent="0" algn="r">
              <a:buNone/>
            </a:pPr>
            <a:r>
              <a:rPr lang="en-US" sz="900" dirty="0">
                <a:solidFill>
                  <a:srgbClr val="6E6E6C"/>
                </a:solidFill>
                <a:latin typeface="Arial" pitchFamily="34" charset="0"/>
                <a:ea typeface="Arial" pitchFamily="34" charset="-122"/>
                <a:cs typeface="Arial" pitchFamily="34" charset="-120"/>
              </a:rPr>
              <a:t>1</a:t>
            </a:r>
            <a:endParaRPr lang="en-US" sz="900" dirty="0"/>
          </a:p>
        </p:txBody>
      </p:sp>
      <p:sp>
        <p:nvSpPr>
          <p:cNvPr id="9" name="Text 6"/>
          <p:cNvSpPr/>
          <p:nvPr/>
        </p:nvSpPr>
        <p:spPr>
          <a:xfrm>
            <a:off x="640080" y="2084832"/>
            <a:ext cx="1280160" cy="457200"/>
          </a:xfrm>
          <a:prstGeom prst="rect">
            <a:avLst/>
          </a:prstGeom>
          <a:noFill/>
          <a:ln/>
        </p:spPr>
        <p:txBody>
          <a:bodyPr wrap="square" lIns="0" tIns="0" rIns="0" bIns="0" rtlCol="0" anchor="t"/>
          <a:lstStyle/>
          <a:p>
            <a:pPr marL="0" indent="0">
              <a:buNone/>
            </a:pPr>
            <a:r>
              <a:rPr lang="en-US" sz="1500" b="1" dirty="0">
                <a:solidFill>
                  <a:srgbClr val="0B6E7A"/>
                </a:solidFill>
                <a:latin typeface="Arial" pitchFamily="34" charset="0"/>
                <a:ea typeface="Arial" pitchFamily="34" charset="-122"/>
                <a:cs typeface="Arial" pitchFamily="34" charset="-120"/>
              </a:rPr>
              <a:t>Part 1</a:t>
            </a:r>
            <a:endParaRPr lang="en-US" sz="1500" dirty="0"/>
          </a:p>
        </p:txBody>
      </p:sp>
      <p:sp>
        <p:nvSpPr>
          <p:cNvPr id="10" name="Text 7"/>
          <p:cNvSpPr/>
          <p:nvPr/>
        </p:nvSpPr>
        <p:spPr>
          <a:xfrm>
            <a:off x="1965960" y="2057400"/>
            <a:ext cx="7315200" cy="502920"/>
          </a:xfrm>
          <a:prstGeom prst="rect">
            <a:avLst/>
          </a:prstGeom>
          <a:noFill/>
          <a:ln/>
        </p:spPr>
        <p:txBody>
          <a:bodyPr wrap="square" lIns="0" tIns="0" rIns="0" bIns="0" rtlCol="0" anchor="ctr"/>
          <a:lstStyle/>
          <a:p>
            <a:pPr marL="0" indent="0">
              <a:buNone/>
            </a:pPr>
            <a:r>
              <a:rPr lang="en-US" sz="2200" b="1" dirty="0">
                <a:solidFill>
                  <a:srgbClr val="2D2D2B"/>
                </a:solidFill>
                <a:latin typeface="Arial" pitchFamily="34" charset="0"/>
                <a:ea typeface="Arial" pitchFamily="34" charset="-122"/>
                <a:cs typeface="Arial" pitchFamily="34" charset="-120"/>
              </a:rPr>
              <a:t>The HMI &amp; Operator Interface</a:t>
            </a:r>
            <a:endParaRPr lang="en-US" sz="2200" dirty="0"/>
          </a:p>
        </p:txBody>
      </p:sp>
      <p:sp>
        <p:nvSpPr>
          <p:cNvPr id="11" name="Text 8"/>
          <p:cNvSpPr/>
          <p:nvPr/>
        </p:nvSpPr>
        <p:spPr>
          <a:xfrm>
            <a:off x="1965960" y="2578608"/>
            <a:ext cx="7863840" cy="548640"/>
          </a:xfrm>
          <a:prstGeom prst="rect">
            <a:avLst/>
          </a:prstGeom>
          <a:noFill/>
          <a:ln/>
        </p:spPr>
        <p:txBody>
          <a:bodyPr wrap="square" lIns="0" tIns="0" rIns="0" bIns="0" rtlCol="0" anchor="ctr"/>
          <a:lstStyle/>
          <a:p>
            <a:pPr marL="0" indent="0">
              <a:buNone/>
            </a:pPr>
            <a:r>
              <a:rPr lang="en-US" sz="1400" dirty="0">
                <a:solidFill>
                  <a:srgbClr val="6E6E6C"/>
                </a:solidFill>
                <a:latin typeface="Arial" pitchFamily="34" charset="0"/>
                <a:ea typeface="Arial" pitchFamily="34" charset="-122"/>
                <a:cs typeface="Arial" pitchFamily="34" charset="-120"/>
              </a:rPr>
              <a:t>What the operator sees, the MQTT interface, the status payload, the HMI app.</a:t>
            </a:r>
            <a:endParaRPr lang="en-US" sz="1400" dirty="0"/>
          </a:p>
        </p:txBody>
      </p:sp>
      <p:sp>
        <p:nvSpPr>
          <p:cNvPr id="12" name="Text 9"/>
          <p:cNvSpPr/>
          <p:nvPr/>
        </p:nvSpPr>
        <p:spPr>
          <a:xfrm>
            <a:off x="9418320" y="2057400"/>
            <a:ext cx="2103120" cy="822960"/>
          </a:xfrm>
          <a:prstGeom prst="rect">
            <a:avLst/>
          </a:prstGeom>
          <a:noFill/>
          <a:ln/>
        </p:spPr>
        <p:txBody>
          <a:bodyPr wrap="square" lIns="0" tIns="0" rIns="0" bIns="0" rtlCol="0" anchor="t"/>
          <a:lstStyle/>
          <a:p>
            <a:pPr marL="0" indent="0" algn="r">
              <a:buNone/>
            </a:pPr>
            <a:r>
              <a:rPr lang="en-US" sz="1500" b="1" dirty="0">
                <a:solidFill>
                  <a:srgbClr val="2D2D2B"/>
                </a:solidFill>
                <a:latin typeface="Arial" pitchFamily="34" charset="0"/>
                <a:ea typeface="Arial" pitchFamily="34" charset="-122"/>
                <a:cs typeface="Arial" pitchFamily="34" charset="-120"/>
              </a:rPr>
              <a:t>Yasin &amp; Mevlüt</a:t>
            </a:r>
            <a:endParaRPr lang="en-US" sz="1500" dirty="0"/>
          </a:p>
        </p:txBody>
      </p:sp>
      <p:sp>
        <p:nvSpPr>
          <p:cNvPr id="13" name="Shape 10"/>
          <p:cNvSpPr/>
          <p:nvPr/>
        </p:nvSpPr>
        <p:spPr>
          <a:xfrm>
            <a:off x="640080" y="3383280"/>
            <a:ext cx="10908792" cy="0"/>
          </a:xfrm>
          <a:prstGeom prst="line">
            <a:avLst/>
          </a:prstGeom>
          <a:noFill/>
          <a:ln w="9525">
            <a:solidFill>
              <a:srgbClr val="D7D7D5"/>
            </a:solidFill>
            <a:prstDash val="solid"/>
          </a:ln>
        </p:spPr>
        <p:txBody>
          <a:bodyPr/>
          <a:lstStyle/>
          <a:p>
            <a:endParaRPr lang="de-DE"/>
          </a:p>
        </p:txBody>
      </p:sp>
      <p:sp>
        <p:nvSpPr>
          <p:cNvPr id="14" name="Text 11"/>
          <p:cNvSpPr/>
          <p:nvPr/>
        </p:nvSpPr>
        <p:spPr>
          <a:xfrm>
            <a:off x="640080" y="3776472"/>
            <a:ext cx="1280160" cy="457200"/>
          </a:xfrm>
          <a:prstGeom prst="rect">
            <a:avLst/>
          </a:prstGeom>
          <a:noFill/>
          <a:ln/>
        </p:spPr>
        <p:txBody>
          <a:bodyPr wrap="square" lIns="0" tIns="0" rIns="0" bIns="0" rtlCol="0" anchor="t"/>
          <a:lstStyle/>
          <a:p>
            <a:pPr marL="0" indent="0">
              <a:buNone/>
            </a:pPr>
            <a:r>
              <a:rPr lang="en-US" sz="1500" b="1" dirty="0">
                <a:solidFill>
                  <a:srgbClr val="0B6E7A"/>
                </a:solidFill>
                <a:latin typeface="Arial" pitchFamily="34" charset="0"/>
                <a:ea typeface="Arial" pitchFamily="34" charset="-122"/>
                <a:cs typeface="Arial" pitchFamily="34" charset="-120"/>
              </a:rPr>
              <a:t>Part 2</a:t>
            </a:r>
            <a:endParaRPr lang="en-US" sz="1500" dirty="0"/>
          </a:p>
        </p:txBody>
      </p:sp>
      <p:sp>
        <p:nvSpPr>
          <p:cNvPr id="15" name="Text 12"/>
          <p:cNvSpPr/>
          <p:nvPr/>
        </p:nvSpPr>
        <p:spPr>
          <a:xfrm>
            <a:off x="1965960" y="3749040"/>
            <a:ext cx="7315200" cy="502920"/>
          </a:xfrm>
          <a:prstGeom prst="rect">
            <a:avLst/>
          </a:prstGeom>
          <a:noFill/>
          <a:ln/>
        </p:spPr>
        <p:txBody>
          <a:bodyPr wrap="square" lIns="0" tIns="0" rIns="0" bIns="0" rtlCol="0" anchor="ctr"/>
          <a:lstStyle/>
          <a:p>
            <a:pPr marL="0" indent="0">
              <a:buNone/>
            </a:pPr>
            <a:r>
              <a:rPr lang="en-US" sz="2200" b="1" dirty="0">
                <a:solidFill>
                  <a:srgbClr val="2D2D2B"/>
                </a:solidFill>
                <a:latin typeface="Arial" pitchFamily="34" charset="0"/>
                <a:ea typeface="Arial" pitchFamily="34" charset="-122"/>
                <a:cs typeface="Arial" pitchFamily="34" charset="-120"/>
              </a:rPr>
              <a:t>The Control System</a:t>
            </a:r>
            <a:endParaRPr lang="en-US" sz="2200" dirty="0"/>
          </a:p>
        </p:txBody>
      </p:sp>
      <p:sp>
        <p:nvSpPr>
          <p:cNvPr id="16" name="Text 13"/>
          <p:cNvSpPr/>
          <p:nvPr/>
        </p:nvSpPr>
        <p:spPr>
          <a:xfrm>
            <a:off x="1965960" y="4270248"/>
            <a:ext cx="7863840" cy="548640"/>
          </a:xfrm>
          <a:prstGeom prst="rect">
            <a:avLst/>
          </a:prstGeom>
          <a:noFill/>
          <a:ln/>
        </p:spPr>
        <p:txBody>
          <a:bodyPr wrap="square" lIns="0" tIns="0" rIns="0" bIns="0" rtlCol="0" anchor="ctr"/>
          <a:lstStyle/>
          <a:p>
            <a:pPr marL="0" indent="0">
              <a:buNone/>
            </a:pPr>
            <a:r>
              <a:rPr lang="en-US" sz="1400" dirty="0">
                <a:solidFill>
                  <a:srgbClr val="6E6E6C"/>
                </a:solidFill>
                <a:latin typeface="Arial" pitchFamily="34" charset="0"/>
                <a:ea typeface="Arial" pitchFamily="34" charset="-122"/>
                <a:cs typeface="Arial" pitchFamily="34" charset="-120"/>
              </a:rPr>
              <a:t>Requirements, hexagonal architecture, the SCAN logic, I/O, deployment &amp; live demo.</a:t>
            </a:r>
            <a:endParaRPr lang="en-US" sz="1400" dirty="0"/>
          </a:p>
        </p:txBody>
      </p:sp>
      <p:sp>
        <p:nvSpPr>
          <p:cNvPr id="17" name="Text 14"/>
          <p:cNvSpPr/>
          <p:nvPr/>
        </p:nvSpPr>
        <p:spPr>
          <a:xfrm>
            <a:off x="9418320" y="3749040"/>
            <a:ext cx="2103120" cy="822960"/>
          </a:xfrm>
          <a:prstGeom prst="rect">
            <a:avLst/>
          </a:prstGeom>
          <a:noFill/>
          <a:ln/>
        </p:spPr>
        <p:txBody>
          <a:bodyPr wrap="square" lIns="0" tIns="0" rIns="0" bIns="0" rtlCol="0" anchor="t"/>
          <a:lstStyle/>
          <a:p>
            <a:pPr marL="0" indent="0" algn="r">
              <a:buNone/>
            </a:pPr>
            <a:r>
              <a:rPr lang="en-US" sz="1500" b="1" dirty="0">
                <a:solidFill>
                  <a:srgbClr val="2D2D2B"/>
                </a:solidFill>
                <a:latin typeface="Arial" pitchFamily="34" charset="0"/>
                <a:ea typeface="Arial" pitchFamily="34" charset="-122"/>
                <a:cs typeface="Arial" pitchFamily="34" charset="-120"/>
              </a:rPr>
              <a:t>Ruben &amp; Lukas</a:t>
            </a:r>
            <a:endParaRPr lang="en-US" sz="1500" dirty="0"/>
          </a:p>
        </p:txBody>
      </p:sp>
      <p:sp>
        <p:nvSpPr>
          <p:cNvPr id="18" name="Shape 15"/>
          <p:cNvSpPr/>
          <p:nvPr/>
        </p:nvSpPr>
        <p:spPr>
          <a:xfrm>
            <a:off x="640080" y="5074920"/>
            <a:ext cx="10908792" cy="0"/>
          </a:xfrm>
          <a:prstGeom prst="line">
            <a:avLst/>
          </a:prstGeom>
          <a:noFill/>
          <a:ln w="9525">
            <a:solidFill>
              <a:srgbClr val="D7D7D5"/>
            </a:solidFill>
            <a:prstDash val="solid"/>
          </a:ln>
        </p:spPr>
        <p:txBody>
          <a:bodyPr/>
          <a:lstStyle/>
          <a:p>
            <a:endParaRPr lang="de-DE"/>
          </a:p>
        </p:txBody>
      </p:sp>
      <p:sp>
        <p:nvSpPr>
          <p:cNvPr id="19" name="Text 16"/>
          <p:cNvSpPr/>
          <p:nvPr/>
        </p:nvSpPr>
        <p:spPr>
          <a:xfrm>
            <a:off x="640080" y="5669280"/>
            <a:ext cx="10972800" cy="365760"/>
          </a:xfrm>
          <a:prstGeom prst="rect">
            <a:avLst/>
          </a:prstGeom>
          <a:noFill/>
          <a:ln/>
        </p:spPr>
        <p:txBody>
          <a:bodyPr wrap="square" lIns="0" tIns="0" rIns="0" bIns="0" rtlCol="0" anchor="ctr"/>
          <a:lstStyle/>
          <a:p>
            <a:pPr marL="0" indent="0">
              <a:buNone/>
            </a:pPr>
            <a:r>
              <a:rPr lang="en-US" sz="1300" i="1" dirty="0">
                <a:solidFill>
                  <a:srgbClr val="6E6E6C"/>
                </a:solidFill>
                <a:latin typeface="Arial" pitchFamily="34" charset="0"/>
                <a:ea typeface="Arial" pitchFamily="34" charset="-122"/>
                <a:cs typeface="Arial" pitchFamily="34" charset="-120"/>
              </a:rPr>
              <a:t>The two halves meet at one MQTT boundary: Part 1 explains that interface, Part 2 the logic behind it.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D2D2B"/>
        </a:solidFill>
        <a:effectLst/>
      </p:bgPr>
    </p:bg>
    <p:spTree>
      <p:nvGrpSpPr>
        <p:cNvPr id="1" name=""/>
        <p:cNvGrpSpPr/>
        <p:nvPr/>
      </p:nvGrpSpPr>
      <p:grpSpPr>
        <a:xfrm>
          <a:off x="0" y="0"/>
          <a:ext cx="0" cy="0"/>
          <a:chOff x="0" y="0"/>
          <a:chExt cx="0" cy="0"/>
        </a:xfrm>
      </p:grpSpPr>
      <p:sp>
        <p:nvSpPr>
          <p:cNvPr id="3" name="Text 1"/>
          <p:cNvSpPr/>
          <p:nvPr/>
        </p:nvSpPr>
        <p:spPr>
          <a:xfrm>
            <a:off x="868680" y="2331720"/>
            <a:ext cx="9144000" cy="365760"/>
          </a:xfrm>
          <a:prstGeom prst="rect">
            <a:avLst/>
          </a:prstGeom>
          <a:noFill/>
          <a:ln/>
        </p:spPr>
        <p:txBody>
          <a:bodyPr wrap="square" lIns="0" tIns="0" rIns="0" bIns="0" rtlCol="0" anchor="ctr"/>
          <a:lstStyle/>
          <a:p>
            <a:pPr marL="0" indent="0">
              <a:buNone/>
            </a:pPr>
            <a:r>
              <a:rPr lang="en-US" sz="1400" b="1" kern="0" spc="200" dirty="0">
                <a:solidFill>
                  <a:srgbClr val="9FB9BD"/>
                </a:solidFill>
                <a:latin typeface="Arial" pitchFamily="34" charset="0"/>
                <a:ea typeface="Arial" pitchFamily="34" charset="-122"/>
                <a:cs typeface="Arial" pitchFamily="34" charset="-120"/>
              </a:rPr>
              <a:t>PART ONE</a:t>
            </a:r>
            <a:endParaRPr lang="en-US" sz="1400" dirty="0"/>
          </a:p>
        </p:txBody>
      </p:sp>
      <p:sp>
        <p:nvSpPr>
          <p:cNvPr id="4" name="Text 2"/>
          <p:cNvSpPr/>
          <p:nvPr/>
        </p:nvSpPr>
        <p:spPr>
          <a:xfrm>
            <a:off x="822960" y="2697480"/>
            <a:ext cx="10424160" cy="914400"/>
          </a:xfrm>
          <a:prstGeom prst="rect">
            <a:avLst/>
          </a:prstGeom>
          <a:noFill/>
          <a:ln/>
        </p:spPr>
        <p:txBody>
          <a:bodyPr wrap="square" lIns="0" tIns="0" rIns="0" bIns="0" rtlCol="0" anchor="ctr"/>
          <a:lstStyle/>
          <a:p>
            <a:pPr marL="0" indent="0">
              <a:buNone/>
            </a:pPr>
            <a:r>
              <a:rPr lang="en-US" sz="3800" b="1" dirty="0">
                <a:solidFill>
                  <a:srgbClr val="FFFFFF"/>
                </a:solidFill>
                <a:latin typeface="Arial" pitchFamily="34" charset="0"/>
                <a:ea typeface="Arial" pitchFamily="34" charset="-122"/>
                <a:cs typeface="Arial" pitchFamily="34" charset="-120"/>
              </a:rPr>
              <a:t>The HMI &amp; Operator Interface</a:t>
            </a:r>
            <a:endParaRPr lang="en-US" sz="3800" dirty="0"/>
          </a:p>
        </p:txBody>
      </p:sp>
      <p:sp>
        <p:nvSpPr>
          <p:cNvPr id="5" name="Text 3"/>
          <p:cNvSpPr/>
          <p:nvPr/>
        </p:nvSpPr>
        <p:spPr>
          <a:xfrm>
            <a:off x="841248" y="3703320"/>
            <a:ext cx="9875520" cy="822960"/>
          </a:xfrm>
          <a:prstGeom prst="rect">
            <a:avLst/>
          </a:prstGeom>
          <a:noFill/>
          <a:ln/>
        </p:spPr>
        <p:txBody>
          <a:bodyPr wrap="square" lIns="0" tIns="0" rIns="0" bIns="0" rtlCol="0" anchor="ctr"/>
          <a:lstStyle/>
          <a:p>
            <a:pPr marL="0" indent="0">
              <a:buNone/>
            </a:pPr>
            <a:r>
              <a:rPr lang="en-US" sz="1700" dirty="0">
                <a:solidFill>
                  <a:srgbClr val="C9C9C7"/>
                </a:solidFill>
                <a:latin typeface="Arial" pitchFamily="34" charset="0"/>
                <a:ea typeface="Arial" pitchFamily="34" charset="-122"/>
                <a:cs typeface="Arial" pitchFamily="34" charset="-120"/>
              </a:rPr>
              <a:t>What the operator sees, the MQTT interface it speaks, and the status it reads.</a:t>
            </a:r>
            <a:endParaRPr lang="en-US" sz="1700" dirty="0"/>
          </a:p>
        </p:txBody>
      </p:sp>
      <p:sp>
        <p:nvSpPr>
          <p:cNvPr id="6" name="Text 4"/>
          <p:cNvSpPr/>
          <p:nvPr/>
        </p:nvSpPr>
        <p:spPr>
          <a:xfrm>
            <a:off x="841248" y="4800600"/>
            <a:ext cx="8229600" cy="365760"/>
          </a:xfrm>
          <a:prstGeom prst="rect">
            <a:avLst/>
          </a:prstGeom>
          <a:noFill/>
          <a:ln/>
        </p:spPr>
        <p:txBody>
          <a:bodyPr wrap="square" lIns="0" tIns="0" rIns="0" bIns="0" rtlCol="0" anchor="ctr"/>
          <a:lstStyle/>
          <a:p>
            <a:pPr marL="0" indent="0">
              <a:buNone/>
            </a:pPr>
            <a:r>
              <a:rPr lang="en-US" sz="1500" dirty="0">
                <a:solidFill>
                  <a:srgbClr val="9A9A97"/>
                </a:solidFill>
                <a:latin typeface="Arial" pitchFamily="34" charset="0"/>
                <a:ea typeface="Arial" pitchFamily="34" charset="-122"/>
                <a:cs typeface="Arial" pitchFamily="34" charset="-120"/>
              </a:rPr>
              <a:t>Presented by </a:t>
            </a:r>
            <a:r>
              <a:rPr lang="en-US" sz="1500" b="1" dirty="0">
                <a:solidFill>
                  <a:srgbClr val="FFFFFF"/>
                </a:solidFill>
                <a:latin typeface="Arial" pitchFamily="34" charset="0"/>
                <a:ea typeface="Arial" pitchFamily="34" charset="-122"/>
                <a:cs typeface="Arial" pitchFamily="34" charset="-120"/>
              </a:rPr>
              <a:t>Yasin &amp; Mevlüt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40080" y="502920"/>
            <a:ext cx="9144000" cy="292608"/>
          </a:xfrm>
          <a:prstGeom prst="rect">
            <a:avLst/>
          </a:prstGeom>
          <a:noFill/>
          <a:ln/>
        </p:spPr>
        <p:txBody>
          <a:bodyPr wrap="square" lIns="0" tIns="0" rIns="0" bIns="0" rtlCol="0" anchor="ctr"/>
          <a:lstStyle/>
          <a:p>
            <a:pPr marL="0" indent="0">
              <a:buNone/>
            </a:pPr>
            <a:r>
              <a:rPr lang="en-US" sz="1200" b="1" kern="0" spc="200" dirty="0">
                <a:solidFill>
                  <a:srgbClr val="0B6E7A"/>
                </a:solidFill>
                <a:latin typeface="Arial" pitchFamily="34" charset="0"/>
                <a:ea typeface="Arial" pitchFamily="34" charset="-122"/>
                <a:cs typeface="Arial" pitchFamily="34" charset="-120"/>
              </a:rPr>
              <a:t>PART 1 · OVERVIEW</a:t>
            </a:r>
            <a:endParaRPr lang="en-US" sz="1200" dirty="0"/>
          </a:p>
        </p:txBody>
      </p:sp>
      <p:sp>
        <p:nvSpPr>
          <p:cNvPr id="4" name="Text 2"/>
          <p:cNvSpPr/>
          <p:nvPr/>
        </p:nvSpPr>
        <p:spPr>
          <a:xfrm>
            <a:off x="640080" y="804672"/>
            <a:ext cx="10515600" cy="731520"/>
          </a:xfrm>
          <a:prstGeom prst="rect">
            <a:avLst/>
          </a:prstGeom>
          <a:noFill/>
          <a:ln/>
        </p:spPr>
        <p:txBody>
          <a:bodyPr wrap="square" lIns="0" tIns="0" rIns="0" bIns="0" rtlCol="0" anchor="ctr"/>
          <a:lstStyle/>
          <a:p>
            <a:pPr marL="0" indent="0">
              <a:buNone/>
            </a:pPr>
            <a:r>
              <a:rPr lang="en-US" sz="2800" b="1" dirty="0">
                <a:solidFill>
                  <a:srgbClr val="2D2D2B"/>
                </a:solidFill>
                <a:latin typeface="Arial" pitchFamily="34" charset="0"/>
                <a:ea typeface="Arial" pitchFamily="34" charset="-122"/>
                <a:cs typeface="Arial" pitchFamily="34" charset="-120"/>
              </a:rPr>
              <a:t>What we are building, and what we are not</a:t>
            </a:r>
            <a:endParaRPr lang="en-US" sz="2800" dirty="0"/>
          </a:p>
        </p:txBody>
      </p:sp>
      <p:sp>
        <p:nvSpPr>
          <p:cNvPr id="5" name="Shape 3"/>
          <p:cNvSpPr/>
          <p:nvPr/>
        </p:nvSpPr>
        <p:spPr>
          <a:xfrm>
            <a:off x="640080" y="6382512"/>
            <a:ext cx="10908792" cy="0"/>
          </a:xfrm>
          <a:prstGeom prst="line">
            <a:avLst/>
          </a:prstGeom>
          <a:noFill/>
          <a:ln w="9525">
            <a:solidFill>
              <a:srgbClr val="D7D7D5"/>
            </a:solidFill>
            <a:prstDash val="solid"/>
          </a:ln>
        </p:spPr>
        <p:txBody>
          <a:bodyPr/>
          <a:lstStyle/>
          <a:p>
            <a:endParaRPr lang="de-DE"/>
          </a:p>
        </p:txBody>
      </p:sp>
      <p:sp>
        <p:nvSpPr>
          <p:cNvPr id="6" name="Text 4"/>
          <p:cNvSpPr/>
          <p:nvPr/>
        </p:nvSpPr>
        <p:spPr>
          <a:xfrm>
            <a:off x="640080" y="6437376"/>
            <a:ext cx="8229600" cy="274320"/>
          </a:xfrm>
          <a:prstGeom prst="rect">
            <a:avLst/>
          </a:prstGeom>
          <a:noFill/>
          <a:ln/>
        </p:spPr>
        <p:txBody>
          <a:bodyPr wrap="square" lIns="0" tIns="0" rIns="0" bIns="0" rtlCol="0" anchor="ctr"/>
          <a:lstStyle/>
          <a:p>
            <a:pPr marL="0" indent="0">
              <a:buNone/>
            </a:pPr>
            <a:r>
              <a:rPr lang="en-US" sz="900" dirty="0">
                <a:solidFill>
                  <a:srgbClr val="6E6E6C"/>
                </a:solidFill>
                <a:latin typeface="Arial" pitchFamily="34" charset="0"/>
                <a:ea typeface="Arial" pitchFamily="34" charset="-122"/>
                <a:cs typeface="Arial" pitchFamily="34" charset="-120"/>
              </a:rPr>
              <a:t>HTWG Konstanz  ·  System Architecture  ·  Group E</a:t>
            </a:r>
            <a:endParaRPr lang="en-US" sz="900" dirty="0"/>
          </a:p>
        </p:txBody>
      </p:sp>
      <p:sp>
        <p:nvSpPr>
          <p:cNvPr id="7" name="Text 5"/>
          <p:cNvSpPr/>
          <p:nvPr/>
        </p:nvSpPr>
        <p:spPr>
          <a:xfrm>
            <a:off x="10881360" y="6437376"/>
            <a:ext cx="667512" cy="274320"/>
          </a:xfrm>
          <a:prstGeom prst="rect">
            <a:avLst/>
          </a:prstGeom>
          <a:noFill/>
          <a:ln/>
        </p:spPr>
        <p:txBody>
          <a:bodyPr wrap="square" lIns="0" tIns="0" rIns="0" bIns="0" rtlCol="0" anchor="ctr"/>
          <a:lstStyle/>
          <a:p>
            <a:pPr marL="0" indent="0" algn="r">
              <a:buNone/>
            </a:pPr>
            <a:r>
              <a:rPr lang="en-US" sz="900" dirty="0">
                <a:solidFill>
                  <a:srgbClr val="6E6E6C"/>
                </a:solidFill>
                <a:latin typeface="Arial" pitchFamily="34" charset="0"/>
                <a:ea typeface="Arial" pitchFamily="34" charset="-122"/>
                <a:cs typeface="Arial" pitchFamily="34" charset="-120"/>
              </a:rPr>
              <a:t>2</a:t>
            </a:r>
            <a:endParaRPr lang="en-US" sz="900" dirty="0"/>
          </a:p>
        </p:txBody>
      </p:sp>
      <p:sp>
        <p:nvSpPr>
          <p:cNvPr id="9" name="Shape 6"/>
          <p:cNvSpPr/>
          <p:nvPr/>
        </p:nvSpPr>
        <p:spPr>
          <a:xfrm>
            <a:off x="640080" y="1691640"/>
            <a:ext cx="5349240" cy="2103120"/>
          </a:xfrm>
          <a:prstGeom prst="rect">
            <a:avLst/>
          </a:prstGeom>
          <a:solidFill>
            <a:srgbClr val="F2F3F2"/>
          </a:solidFill>
          <a:ln w="12700">
            <a:solidFill>
              <a:srgbClr val="D7D7D5"/>
            </a:solidFill>
            <a:prstDash val="solid"/>
          </a:ln>
        </p:spPr>
        <p:txBody>
          <a:bodyPr/>
          <a:lstStyle/>
          <a:p>
            <a:endParaRPr lang="de-DE"/>
          </a:p>
        </p:txBody>
      </p:sp>
      <p:sp>
        <p:nvSpPr>
          <p:cNvPr id="10" name="Text 7"/>
          <p:cNvSpPr/>
          <p:nvPr/>
        </p:nvSpPr>
        <p:spPr>
          <a:xfrm>
            <a:off x="868680" y="1874520"/>
            <a:ext cx="4937760" cy="365760"/>
          </a:xfrm>
          <a:prstGeom prst="rect">
            <a:avLst/>
          </a:prstGeom>
          <a:noFill/>
          <a:ln/>
        </p:spPr>
        <p:txBody>
          <a:bodyPr wrap="square" lIns="0" tIns="0" rIns="0" bIns="0" rtlCol="0" anchor="ctr"/>
          <a:lstStyle/>
          <a:p>
            <a:pPr marL="0" indent="0">
              <a:buNone/>
            </a:pPr>
            <a:r>
              <a:rPr lang="en-US" sz="1500" b="1" dirty="0">
                <a:solidFill>
                  <a:srgbClr val="2D2D2B"/>
                </a:solidFill>
                <a:latin typeface="Arial" pitchFamily="34" charset="0"/>
                <a:ea typeface="Arial" pitchFamily="34" charset="-122"/>
                <a:cs typeface="Arial" pitchFamily="34" charset="-120"/>
              </a:rPr>
              <a:t>The assignment</a:t>
            </a:r>
            <a:endParaRPr lang="en-US" sz="1500" dirty="0"/>
          </a:p>
        </p:txBody>
      </p:sp>
      <p:sp>
        <p:nvSpPr>
          <p:cNvPr id="11" name="Text 8"/>
          <p:cNvSpPr/>
          <p:nvPr/>
        </p:nvSpPr>
        <p:spPr>
          <a:xfrm>
            <a:off x="868680" y="2286000"/>
            <a:ext cx="4937760" cy="137160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333331"/>
                </a:solidFill>
                <a:latin typeface="Arial" pitchFamily="34" charset="0"/>
                <a:ea typeface="Arial" pitchFamily="34" charset="-122"/>
                <a:cs typeface="Arial" pitchFamily="34" charset="-120"/>
              </a:rPr>
              <a:t>Drive a ready-made elevator simulation on a lab PLC.</a:t>
            </a:r>
            <a:endParaRPr lang="en-US" sz="1350" dirty="0"/>
          </a:p>
          <a:p>
            <a:pPr marL="177800" indent="-177800">
              <a:spcAft>
                <a:spcPts val="600"/>
              </a:spcAft>
              <a:buSzPct val="100000"/>
              <a:buChar char="•"/>
            </a:pPr>
            <a:r>
              <a:rPr lang="en-US" sz="1350" dirty="0">
                <a:solidFill>
                  <a:srgbClr val="333331"/>
                </a:solidFill>
                <a:latin typeface="Arial" pitchFamily="34" charset="0"/>
                <a:ea typeface="Arial" pitchFamily="34" charset="-122"/>
                <a:cs typeface="Arial" pitchFamily="34" charset="-120"/>
              </a:rPr>
              <a:t>Talk to the PLC as a Modbus/TCP master at a ~100 ms cycle.</a:t>
            </a:r>
            <a:endParaRPr lang="en-US" sz="1350" dirty="0"/>
          </a:p>
          <a:p>
            <a:pPr marL="177800" indent="-177800">
              <a:spcAft>
                <a:spcPts val="600"/>
              </a:spcAft>
              <a:buSzPct val="100000"/>
              <a:buChar char="•"/>
            </a:pPr>
            <a:r>
              <a:rPr lang="en-US" sz="1350" dirty="0">
                <a:solidFill>
                  <a:srgbClr val="333331"/>
                </a:solidFill>
                <a:latin typeface="Arial" pitchFamily="34" charset="0"/>
                <a:ea typeface="Arial" pitchFamily="34" charset="-122"/>
                <a:cs typeface="Arial" pitchFamily="34" charset="-120"/>
              </a:rPr>
              <a:t>Implement the full control logic for a 4-level elevator.</a:t>
            </a:r>
            <a:endParaRPr lang="en-US" sz="1350" dirty="0"/>
          </a:p>
        </p:txBody>
      </p:sp>
      <p:sp>
        <p:nvSpPr>
          <p:cNvPr id="12" name="Shape 9"/>
          <p:cNvSpPr/>
          <p:nvPr/>
        </p:nvSpPr>
        <p:spPr>
          <a:xfrm>
            <a:off x="6199632" y="1691640"/>
            <a:ext cx="5349240" cy="2103120"/>
          </a:xfrm>
          <a:prstGeom prst="rect">
            <a:avLst/>
          </a:prstGeom>
          <a:solidFill>
            <a:srgbClr val="F2F3F2"/>
          </a:solidFill>
          <a:ln w="12700">
            <a:solidFill>
              <a:srgbClr val="D7D7D5"/>
            </a:solidFill>
            <a:prstDash val="solid"/>
          </a:ln>
        </p:spPr>
        <p:txBody>
          <a:bodyPr/>
          <a:lstStyle/>
          <a:p>
            <a:endParaRPr lang="de-DE"/>
          </a:p>
        </p:txBody>
      </p:sp>
      <p:sp>
        <p:nvSpPr>
          <p:cNvPr id="13" name="Text 10"/>
          <p:cNvSpPr/>
          <p:nvPr/>
        </p:nvSpPr>
        <p:spPr>
          <a:xfrm>
            <a:off x="6428232" y="1874520"/>
            <a:ext cx="4937760" cy="365760"/>
          </a:xfrm>
          <a:prstGeom prst="rect">
            <a:avLst/>
          </a:prstGeom>
          <a:noFill/>
          <a:ln/>
        </p:spPr>
        <p:txBody>
          <a:bodyPr wrap="square" lIns="0" tIns="0" rIns="0" bIns="0" rtlCol="0" anchor="ctr"/>
          <a:lstStyle/>
          <a:p>
            <a:pPr marL="0" indent="0">
              <a:buNone/>
            </a:pPr>
            <a:r>
              <a:rPr lang="en-US" sz="1500" b="1" dirty="0">
                <a:solidFill>
                  <a:srgbClr val="2D2D2B"/>
                </a:solidFill>
                <a:latin typeface="Arial" pitchFamily="34" charset="0"/>
                <a:ea typeface="Arial" pitchFamily="34" charset="-122"/>
                <a:cs typeface="Arial" pitchFamily="34" charset="-120"/>
              </a:rPr>
              <a:t>Division of labour</a:t>
            </a:r>
            <a:endParaRPr lang="en-US" sz="1500" dirty="0"/>
          </a:p>
        </p:txBody>
      </p:sp>
      <p:sp>
        <p:nvSpPr>
          <p:cNvPr id="14" name="Text 11"/>
          <p:cNvSpPr/>
          <p:nvPr/>
        </p:nvSpPr>
        <p:spPr>
          <a:xfrm>
            <a:off x="6428232" y="2286000"/>
            <a:ext cx="4937760" cy="137160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333331"/>
                </a:solidFill>
                <a:latin typeface="Arial" pitchFamily="34" charset="0"/>
                <a:ea typeface="Arial" pitchFamily="34" charset="-122"/>
                <a:cs typeface="Arial" pitchFamily="34" charset="-120"/>
              </a:rPr>
              <a:t>This part covers our half: the HMI / operator panel.</a:t>
            </a:r>
          </a:p>
          <a:p>
            <a:pPr marL="177800" indent="-177800">
              <a:spcAft>
                <a:spcPts val="600"/>
              </a:spcAft>
              <a:buSzPct val="100000"/>
              <a:buChar char="•"/>
            </a:pPr>
            <a:r>
              <a:rPr lang="en-US" sz="1350" dirty="0">
                <a:solidFill>
                  <a:srgbClr val="333331"/>
                </a:solidFill>
                <a:latin typeface="Arial" pitchFamily="34" charset="0"/>
                <a:ea typeface="Arial" pitchFamily="34" charset="-122"/>
                <a:cs typeface="Arial" pitchFamily="34" charset="-120"/>
              </a:rPr>
              <a:t>The controller exposes a clean, transport-agnostic interface — that's the boundary our HMI talks to.</a:t>
            </a:r>
            <a:endParaRPr lang="en-US" sz="1350" dirty="0"/>
          </a:p>
        </p:txBody>
      </p:sp>
      <p:sp>
        <p:nvSpPr>
          <p:cNvPr id="15" name="Shape 12"/>
          <p:cNvSpPr/>
          <p:nvPr/>
        </p:nvSpPr>
        <p:spPr>
          <a:xfrm>
            <a:off x="640080" y="4069080"/>
            <a:ext cx="10908792" cy="2057400"/>
          </a:xfrm>
          <a:prstGeom prst="rect">
            <a:avLst/>
          </a:prstGeom>
          <a:solidFill>
            <a:srgbClr val="2D2D2B"/>
          </a:solidFill>
          <a:ln/>
        </p:spPr>
        <p:txBody>
          <a:bodyPr/>
          <a:lstStyle/>
          <a:p>
            <a:endParaRPr lang="de-DE"/>
          </a:p>
        </p:txBody>
      </p:sp>
      <p:sp>
        <p:nvSpPr>
          <p:cNvPr id="16" name="Text 13"/>
          <p:cNvSpPr/>
          <p:nvPr/>
        </p:nvSpPr>
        <p:spPr>
          <a:xfrm>
            <a:off x="914400" y="4224528"/>
            <a:ext cx="10058400" cy="365760"/>
          </a:xfrm>
          <a:prstGeom prst="rect">
            <a:avLst/>
          </a:prstGeom>
          <a:noFill/>
          <a:ln/>
        </p:spPr>
        <p:txBody>
          <a:bodyPr wrap="square" lIns="0" tIns="0" rIns="0" bIns="0" rtlCol="0" anchor="ctr"/>
          <a:lstStyle/>
          <a:p>
            <a:pPr marL="0" indent="0">
              <a:buNone/>
            </a:pPr>
            <a:r>
              <a:rPr lang="en-US" sz="1400" b="1" dirty="0">
                <a:solidFill>
                  <a:srgbClr val="9FB9BD"/>
                </a:solidFill>
                <a:latin typeface="Arial" pitchFamily="34" charset="0"/>
                <a:ea typeface="Arial" pitchFamily="34" charset="-122"/>
                <a:cs typeface="Arial" pitchFamily="34" charset="-120"/>
              </a:rPr>
              <a:t>The big picture — the HMI is our side of this interface</a:t>
            </a:r>
            <a:endParaRPr lang="en-US" sz="1400" dirty="0"/>
          </a:p>
        </p:txBody>
      </p:sp>
      <p:sp>
        <p:nvSpPr>
          <p:cNvPr id="17" name="Shape 14"/>
          <p:cNvSpPr/>
          <p:nvPr/>
        </p:nvSpPr>
        <p:spPr>
          <a:xfrm>
            <a:off x="914400" y="4754880"/>
            <a:ext cx="3246120" cy="1097280"/>
          </a:xfrm>
          <a:prstGeom prst="rect">
            <a:avLst/>
          </a:prstGeom>
          <a:solidFill>
            <a:srgbClr val="0B6E7A"/>
          </a:solidFill>
          <a:ln w="12700">
            <a:solidFill>
              <a:srgbClr val="55554F"/>
            </a:solidFill>
            <a:prstDash val="solid"/>
          </a:ln>
        </p:spPr>
        <p:txBody>
          <a:bodyPr/>
          <a:lstStyle/>
          <a:p>
            <a:endParaRPr lang="de-DE"/>
          </a:p>
        </p:txBody>
      </p:sp>
      <p:sp>
        <p:nvSpPr>
          <p:cNvPr id="18" name="Text 15"/>
          <p:cNvSpPr/>
          <p:nvPr/>
        </p:nvSpPr>
        <p:spPr>
          <a:xfrm>
            <a:off x="1097280" y="4892040"/>
            <a:ext cx="2926080" cy="36576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HMI / Operator</a:t>
            </a:r>
            <a:endParaRPr lang="en-US" sz="1500" dirty="0"/>
          </a:p>
        </p:txBody>
      </p:sp>
      <p:sp>
        <p:nvSpPr>
          <p:cNvPr id="19" name="Text 16"/>
          <p:cNvSpPr/>
          <p:nvPr/>
        </p:nvSpPr>
        <p:spPr>
          <a:xfrm>
            <a:off x="1097280" y="5285232"/>
            <a:ext cx="2926080" cy="457200"/>
          </a:xfrm>
          <a:prstGeom prst="rect">
            <a:avLst/>
          </a:prstGeom>
          <a:noFill/>
          <a:ln/>
        </p:spPr>
        <p:txBody>
          <a:bodyPr wrap="square" lIns="0" tIns="0" rIns="0" bIns="0" rtlCol="0" anchor="ctr"/>
          <a:lstStyle/>
          <a:p>
            <a:pPr marL="0" indent="0">
              <a:buNone/>
            </a:pPr>
            <a:r>
              <a:rPr lang="en-US" sz="1200" dirty="0">
                <a:solidFill>
                  <a:srgbClr val="DCEFF1"/>
                </a:solidFill>
                <a:latin typeface="Arial" pitchFamily="34" charset="0"/>
                <a:ea typeface="Arial" pitchFamily="34" charset="-122"/>
                <a:cs typeface="Arial" pitchFamily="34" charset="-120"/>
              </a:rPr>
              <a:t>issues calls, reads state</a:t>
            </a:r>
            <a:endParaRPr lang="en-US" sz="1200" dirty="0"/>
          </a:p>
        </p:txBody>
      </p:sp>
      <p:sp>
        <p:nvSpPr>
          <p:cNvPr id="20" name="Text 17"/>
          <p:cNvSpPr/>
          <p:nvPr/>
        </p:nvSpPr>
        <p:spPr>
          <a:xfrm>
            <a:off x="4160520" y="4754880"/>
            <a:ext cx="457200" cy="1097280"/>
          </a:xfrm>
          <a:prstGeom prst="rect">
            <a:avLst/>
          </a:prstGeom>
          <a:noFill/>
          <a:ln/>
        </p:spPr>
        <p:txBody>
          <a:bodyPr wrap="square" lIns="0" tIns="0" rIns="0" bIns="0" rtlCol="0" anchor="ctr"/>
          <a:lstStyle/>
          <a:p>
            <a:pPr marL="0" indent="0" algn="ctr">
              <a:buNone/>
            </a:pPr>
            <a:r>
              <a:rPr lang="en-US" sz="2400" b="1" dirty="0">
                <a:solidFill>
                  <a:srgbClr val="9FB9BD"/>
                </a:solidFill>
                <a:latin typeface="Arial" pitchFamily="34" charset="0"/>
                <a:ea typeface="Arial" pitchFamily="34" charset="-122"/>
                <a:cs typeface="Arial" pitchFamily="34" charset="-120"/>
              </a:rPr>
              <a:t>›</a:t>
            </a:r>
            <a:endParaRPr lang="en-US" sz="2400" dirty="0"/>
          </a:p>
        </p:txBody>
      </p:sp>
      <p:sp>
        <p:nvSpPr>
          <p:cNvPr id="21" name="Shape 18"/>
          <p:cNvSpPr/>
          <p:nvPr/>
        </p:nvSpPr>
        <p:spPr>
          <a:xfrm>
            <a:off x="4617720" y="4754880"/>
            <a:ext cx="3246120" cy="1097280"/>
          </a:xfrm>
          <a:prstGeom prst="rect">
            <a:avLst/>
          </a:prstGeom>
          <a:solidFill>
            <a:srgbClr val="3A3A37"/>
          </a:solidFill>
          <a:ln w="12700">
            <a:solidFill>
              <a:srgbClr val="55554F"/>
            </a:solidFill>
            <a:prstDash val="solid"/>
          </a:ln>
        </p:spPr>
        <p:txBody>
          <a:bodyPr/>
          <a:lstStyle/>
          <a:p>
            <a:endParaRPr lang="de-DE"/>
          </a:p>
        </p:txBody>
      </p:sp>
      <p:sp>
        <p:nvSpPr>
          <p:cNvPr id="22" name="Text 19"/>
          <p:cNvSpPr/>
          <p:nvPr/>
        </p:nvSpPr>
        <p:spPr>
          <a:xfrm>
            <a:off x="4800600" y="4892040"/>
            <a:ext cx="2926080" cy="36576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Control System</a:t>
            </a:r>
            <a:endParaRPr lang="en-US" sz="1500" dirty="0"/>
          </a:p>
        </p:txBody>
      </p:sp>
      <p:sp>
        <p:nvSpPr>
          <p:cNvPr id="23" name="Text 20"/>
          <p:cNvSpPr/>
          <p:nvPr/>
        </p:nvSpPr>
        <p:spPr>
          <a:xfrm>
            <a:off x="4800600" y="5285232"/>
            <a:ext cx="2926080" cy="457200"/>
          </a:xfrm>
          <a:prstGeom prst="rect">
            <a:avLst/>
          </a:prstGeom>
          <a:noFill/>
          <a:ln/>
        </p:spPr>
        <p:txBody>
          <a:bodyPr wrap="square" lIns="0" tIns="0" rIns="0" bIns="0" rtlCol="0" anchor="ctr"/>
          <a:lstStyle/>
          <a:p>
            <a:pPr marL="0" indent="0">
              <a:buNone/>
            </a:pPr>
            <a:r>
              <a:rPr lang="en-US" sz="1200" dirty="0">
                <a:solidFill>
                  <a:srgbClr val="BFBFBC"/>
                </a:solidFill>
                <a:latin typeface="Arial" pitchFamily="34" charset="0"/>
                <a:ea typeface="Arial" pitchFamily="34" charset="-122"/>
                <a:cs typeface="Arial" pitchFamily="34" charset="-120"/>
              </a:rPr>
              <a:t>the SCAN logic (Part 2)</a:t>
            </a:r>
            <a:endParaRPr lang="en-US" sz="1200" dirty="0"/>
          </a:p>
        </p:txBody>
      </p:sp>
      <p:sp>
        <p:nvSpPr>
          <p:cNvPr id="24" name="Text 21"/>
          <p:cNvSpPr/>
          <p:nvPr/>
        </p:nvSpPr>
        <p:spPr>
          <a:xfrm>
            <a:off x="7863840" y="4754880"/>
            <a:ext cx="457200" cy="1097280"/>
          </a:xfrm>
          <a:prstGeom prst="rect">
            <a:avLst/>
          </a:prstGeom>
          <a:noFill/>
          <a:ln/>
        </p:spPr>
        <p:txBody>
          <a:bodyPr wrap="square" lIns="0" tIns="0" rIns="0" bIns="0" rtlCol="0" anchor="ctr"/>
          <a:lstStyle/>
          <a:p>
            <a:pPr marL="0" indent="0" algn="ctr">
              <a:buNone/>
            </a:pPr>
            <a:r>
              <a:rPr lang="en-US" sz="2400" b="1" dirty="0">
                <a:solidFill>
                  <a:srgbClr val="9FB9BD"/>
                </a:solidFill>
                <a:latin typeface="Arial" pitchFamily="34" charset="0"/>
                <a:ea typeface="Arial" pitchFamily="34" charset="-122"/>
                <a:cs typeface="Arial" pitchFamily="34" charset="-120"/>
              </a:rPr>
              <a:t>›</a:t>
            </a:r>
            <a:endParaRPr lang="en-US" sz="2400" dirty="0"/>
          </a:p>
        </p:txBody>
      </p:sp>
      <p:sp>
        <p:nvSpPr>
          <p:cNvPr id="25" name="Shape 22"/>
          <p:cNvSpPr/>
          <p:nvPr/>
        </p:nvSpPr>
        <p:spPr>
          <a:xfrm>
            <a:off x="8321040" y="4754880"/>
            <a:ext cx="3246120" cy="1097280"/>
          </a:xfrm>
          <a:prstGeom prst="rect">
            <a:avLst/>
          </a:prstGeom>
          <a:solidFill>
            <a:srgbClr val="3A3A37"/>
          </a:solidFill>
          <a:ln w="12700">
            <a:solidFill>
              <a:srgbClr val="55554F"/>
            </a:solidFill>
            <a:prstDash val="solid"/>
          </a:ln>
        </p:spPr>
        <p:txBody>
          <a:bodyPr/>
          <a:lstStyle/>
          <a:p>
            <a:endParaRPr lang="de-DE"/>
          </a:p>
        </p:txBody>
      </p:sp>
      <p:sp>
        <p:nvSpPr>
          <p:cNvPr id="26" name="Text 23"/>
          <p:cNvSpPr/>
          <p:nvPr/>
        </p:nvSpPr>
        <p:spPr>
          <a:xfrm>
            <a:off x="8503920" y="4892040"/>
            <a:ext cx="2926080" cy="36576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PLC Simulation</a:t>
            </a:r>
            <a:endParaRPr lang="en-US" sz="1500" dirty="0"/>
          </a:p>
        </p:txBody>
      </p:sp>
      <p:sp>
        <p:nvSpPr>
          <p:cNvPr id="27" name="Text 24"/>
          <p:cNvSpPr/>
          <p:nvPr/>
        </p:nvSpPr>
        <p:spPr>
          <a:xfrm>
            <a:off x="8503920" y="5285232"/>
            <a:ext cx="2926080" cy="457200"/>
          </a:xfrm>
          <a:prstGeom prst="rect">
            <a:avLst/>
          </a:prstGeom>
          <a:noFill/>
          <a:ln/>
        </p:spPr>
        <p:txBody>
          <a:bodyPr wrap="square" lIns="0" tIns="0" rIns="0" bIns="0" rtlCol="0" anchor="ctr"/>
          <a:lstStyle/>
          <a:p>
            <a:pPr marL="0" indent="0">
              <a:buNone/>
            </a:pPr>
            <a:r>
              <a:rPr lang="en-US" sz="1200" dirty="0">
                <a:solidFill>
                  <a:srgbClr val="BFBFBC"/>
                </a:solidFill>
                <a:latin typeface="Arial" pitchFamily="34" charset="0"/>
                <a:ea typeface="Arial" pitchFamily="34" charset="-122"/>
                <a:cs typeface="Arial" pitchFamily="34" charset="-120"/>
              </a:rPr>
              <a:t>sensors &amp; motors (Modbus)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40080" y="502920"/>
            <a:ext cx="9144000" cy="292608"/>
          </a:xfrm>
          <a:prstGeom prst="rect">
            <a:avLst/>
          </a:prstGeom>
          <a:noFill/>
          <a:ln/>
        </p:spPr>
        <p:txBody>
          <a:bodyPr wrap="square" lIns="0" tIns="0" rIns="0" bIns="0" rtlCol="0" anchor="ctr"/>
          <a:lstStyle/>
          <a:p>
            <a:pPr marL="0" indent="0">
              <a:buNone/>
            </a:pPr>
            <a:r>
              <a:rPr lang="en-US" sz="1200" b="1" kern="0" spc="200" dirty="0">
                <a:solidFill>
                  <a:srgbClr val="0B6E7A"/>
                </a:solidFill>
                <a:latin typeface="Arial" pitchFamily="34" charset="0"/>
                <a:ea typeface="Arial" pitchFamily="34" charset="-122"/>
                <a:cs typeface="Arial" pitchFamily="34" charset="-120"/>
              </a:rPr>
              <a:t>PART 1 · SEPARATION</a:t>
            </a:r>
            <a:endParaRPr lang="en-US" sz="1200" dirty="0"/>
          </a:p>
        </p:txBody>
      </p:sp>
      <p:sp>
        <p:nvSpPr>
          <p:cNvPr id="4" name="Text 2"/>
          <p:cNvSpPr/>
          <p:nvPr/>
        </p:nvSpPr>
        <p:spPr>
          <a:xfrm>
            <a:off x="640080" y="804672"/>
            <a:ext cx="10515600" cy="731520"/>
          </a:xfrm>
          <a:prstGeom prst="rect">
            <a:avLst/>
          </a:prstGeom>
          <a:noFill/>
          <a:ln/>
        </p:spPr>
        <p:txBody>
          <a:bodyPr wrap="square" lIns="0" tIns="0" rIns="0" bIns="0" rtlCol="0" anchor="ctr"/>
          <a:lstStyle/>
          <a:p>
            <a:pPr marL="0" indent="0">
              <a:buNone/>
            </a:pPr>
            <a:r>
              <a:rPr lang="en-US" sz="2800" b="1" dirty="0">
                <a:solidFill>
                  <a:srgbClr val="2D2D2B"/>
                </a:solidFill>
                <a:latin typeface="Arial" pitchFamily="34" charset="0"/>
                <a:ea typeface="Arial" pitchFamily="34" charset="-122"/>
                <a:cs typeface="Arial" pitchFamily="34" charset="-120"/>
              </a:rPr>
              <a:t>Two Maven modules, one shared contract</a:t>
            </a:r>
            <a:endParaRPr lang="en-US" sz="2800" dirty="0"/>
          </a:p>
        </p:txBody>
      </p:sp>
      <p:sp>
        <p:nvSpPr>
          <p:cNvPr id="5" name="Shape 3"/>
          <p:cNvSpPr/>
          <p:nvPr/>
        </p:nvSpPr>
        <p:spPr>
          <a:xfrm>
            <a:off x="640080" y="6382512"/>
            <a:ext cx="10908792" cy="0"/>
          </a:xfrm>
          <a:prstGeom prst="line">
            <a:avLst/>
          </a:prstGeom>
          <a:noFill/>
          <a:ln w="9525">
            <a:solidFill>
              <a:srgbClr val="D7D7D5"/>
            </a:solidFill>
            <a:prstDash val="solid"/>
          </a:ln>
        </p:spPr>
        <p:txBody>
          <a:bodyPr/>
          <a:lstStyle/>
          <a:p>
            <a:endParaRPr lang="de-DE"/>
          </a:p>
        </p:txBody>
      </p:sp>
      <p:sp>
        <p:nvSpPr>
          <p:cNvPr id="6" name="Text 4"/>
          <p:cNvSpPr/>
          <p:nvPr/>
        </p:nvSpPr>
        <p:spPr>
          <a:xfrm>
            <a:off x="640080" y="6437376"/>
            <a:ext cx="8229600" cy="274320"/>
          </a:xfrm>
          <a:prstGeom prst="rect">
            <a:avLst/>
          </a:prstGeom>
          <a:noFill/>
          <a:ln/>
        </p:spPr>
        <p:txBody>
          <a:bodyPr wrap="square" lIns="0" tIns="0" rIns="0" bIns="0" rtlCol="0" anchor="ctr"/>
          <a:lstStyle/>
          <a:p>
            <a:pPr marL="0" indent="0">
              <a:buNone/>
            </a:pPr>
            <a:r>
              <a:rPr lang="en-US" sz="900" dirty="0">
                <a:solidFill>
                  <a:srgbClr val="6E6E6C"/>
                </a:solidFill>
                <a:latin typeface="Arial" pitchFamily="34" charset="0"/>
                <a:ea typeface="Arial" pitchFamily="34" charset="-122"/>
                <a:cs typeface="Arial" pitchFamily="34" charset="-120"/>
              </a:rPr>
              <a:t>HTWG Konstanz  ·  System Architecture  ·  Group E</a:t>
            </a:r>
            <a:endParaRPr lang="en-US" sz="900" dirty="0"/>
          </a:p>
        </p:txBody>
      </p:sp>
      <p:sp>
        <p:nvSpPr>
          <p:cNvPr id="7" name="Text 5"/>
          <p:cNvSpPr/>
          <p:nvPr/>
        </p:nvSpPr>
        <p:spPr>
          <a:xfrm>
            <a:off x="10881360" y="6437376"/>
            <a:ext cx="667512" cy="274320"/>
          </a:xfrm>
          <a:prstGeom prst="rect">
            <a:avLst/>
          </a:prstGeom>
          <a:noFill/>
          <a:ln/>
        </p:spPr>
        <p:txBody>
          <a:bodyPr wrap="square" lIns="0" tIns="0" rIns="0" bIns="0" rtlCol="0" anchor="ctr"/>
          <a:lstStyle/>
          <a:p>
            <a:pPr marL="0" indent="0" algn="r">
              <a:buNone/>
            </a:pPr>
            <a:r>
              <a:rPr lang="en-US" sz="900" dirty="0">
                <a:solidFill>
                  <a:srgbClr val="6E6E6C"/>
                </a:solidFill>
                <a:latin typeface="Arial" pitchFamily="34" charset="0"/>
                <a:ea typeface="Arial" pitchFamily="34" charset="-122"/>
                <a:cs typeface="Arial" pitchFamily="34" charset="-120"/>
              </a:rPr>
              <a:t>3</a:t>
            </a:r>
            <a:endParaRPr lang="en-US" sz="900" dirty="0"/>
          </a:p>
        </p:txBody>
      </p:sp>
      <p:sp>
        <p:nvSpPr>
          <p:cNvPr id="9" name="Shape 6"/>
          <p:cNvSpPr/>
          <p:nvPr/>
        </p:nvSpPr>
        <p:spPr>
          <a:xfrm>
            <a:off x="640080" y="1737360"/>
            <a:ext cx="3429000" cy="2971800"/>
          </a:xfrm>
          <a:prstGeom prst="rect">
            <a:avLst/>
          </a:prstGeom>
          <a:solidFill>
            <a:srgbClr val="F2F3F2"/>
          </a:solidFill>
          <a:ln w="12700">
            <a:solidFill>
              <a:srgbClr val="D7D7D5"/>
            </a:solidFill>
            <a:prstDash val="solid"/>
          </a:ln>
        </p:spPr>
        <p:txBody>
          <a:bodyPr/>
          <a:lstStyle/>
          <a:p>
            <a:endParaRPr lang="de-DE"/>
          </a:p>
        </p:txBody>
      </p:sp>
      <p:sp>
        <p:nvSpPr>
          <p:cNvPr id="10" name="Text 7"/>
          <p:cNvSpPr/>
          <p:nvPr/>
        </p:nvSpPr>
        <p:spPr>
          <a:xfrm>
            <a:off x="822960" y="1901952"/>
            <a:ext cx="3108960" cy="365760"/>
          </a:xfrm>
          <a:prstGeom prst="rect">
            <a:avLst/>
          </a:prstGeom>
          <a:noFill/>
          <a:ln/>
        </p:spPr>
        <p:txBody>
          <a:bodyPr wrap="square" lIns="0" tIns="0" rIns="0" bIns="0" rtlCol="0" anchor="ctr"/>
          <a:lstStyle/>
          <a:p>
            <a:pPr marL="0" indent="0">
              <a:buNone/>
            </a:pPr>
            <a:r>
              <a:rPr lang="en-US" sz="1500" b="1" dirty="0">
                <a:solidFill>
                  <a:srgbClr val="2D2D2B"/>
                </a:solidFill>
                <a:latin typeface="Arial" pitchFamily="34" charset="0"/>
                <a:ea typeface="Arial" pitchFamily="34" charset="-122"/>
                <a:cs typeface="Arial" pitchFamily="34" charset="-120"/>
              </a:rPr>
              <a:t>SysArch_HMI (us)</a:t>
            </a:r>
            <a:endParaRPr lang="en-US" sz="1500" dirty="0"/>
          </a:p>
        </p:txBody>
      </p:sp>
      <p:sp>
        <p:nvSpPr>
          <p:cNvPr id="11" name="Text 8"/>
          <p:cNvSpPr/>
          <p:nvPr/>
        </p:nvSpPr>
        <p:spPr>
          <a:xfrm>
            <a:off x="822960" y="2286000"/>
            <a:ext cx="3108960" cy="228600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333331"/>
                </a:solidFill>
                <a:latin typeface="Arial" pitchFamily="34" charset="0"/>
                <a:ea typeface="Arial" pitchFamily="34" charset="-122"/>
                <a:cs typeface="Arial" pitchFamily="34" charset="-120"/>
              </a:rPr>
              <a:t>Swing HMI — animated shaft,</a:t>
            </a:r>
            <a:r>
              <a:rPr lang="en-US" sz="1250" dirty="0"/>
              <a:t> </a:t>
            </a:r>
            <a:r>
              <a:rPr lang="en-US" sz="1250" dirty="0">
                <a:solidFill>
                  <a:srgbClr val="333331"/>
                </a:solidFill>
                <a:latin typeface="Arial" pitchFamily="34" charset="0"/>
                <a:ea typeface="Arial" pitchFamily="34" charset="-122"/>
                <a:cs typeface="Arial" pitchFamily="34" charset="-120"/>
              </a:rPr>
              <a:t>status &amp; call buttons</a:t>
            </a:r>
            <a:endParaRPr lang="en-US" sz="1250" dirty="0"/>
          </a:p>
          <a:p>
            <a:pPr marL="177800" indent="-177800">
              <a:spcAft>
                <a:spcPts val="600"/>
              </a:spcAft>
              <a:buSzPct val="100000"/>
              <a:buChar char="•"/>
            </a:pPr>
            <a:r>
              <a:rPr lang="en-US" sz="1250" dirty="0">
                <a:solidFill>
                  <a:srgbClr val="333331"/>
                </a:solidFill>
                <a:latin typeface="Arial" pitchFamily="34" charset="0"/>
                <a:ea typeface="Arial" pitchFamily="34" charset="-122"/>
                <a:cs typeface="Arial" pitchFamily="34" charset="-120"/>
              </a:rPr>
              <a:t>Console HMI for debug</a:t>
            </a:r>
            <a:endParaRPr lang="en-US" sz="1250" dirty="0"/>
          </a:p>
          <a:p>
            <a:pPr marL="177800" indent="-177800">
              <a:spcAft>
                <a:spcPts val="600"/>
              </a:spcAft>
              <a:buSzPct val="100000"/>
              <a:buChar char="•"/>
            </a:pPr>
            <a:r>
              <a:rPr lang="en-US" sz="1250" dirty="0">
                <a:solidFill>
                  <a:srgbClr val="333331"/>
                </a:solidFill>
                <a:latin typeface="Arial" pitchFamily="34" charset="0"/>
                <a:ea typeface="Arial" pitchFamily="34" charset="-122"/>
                <a:cs typeface="Arial" pitchFamily="34" charset="-120"/>
              </a:rPr>
              <a:t>Depends only on the contract,</a:t>
            </a:r>
            <a:r>
              <a:rPr lang="en-US" sz="1250" dirty="0"/>
              <a:t> </a:t>
            </a:r>
            <a:r>
              <a:rPr lang="en-US" sz="1250" dirty="0">
                <a:solidFill>
                  <a:srgbClr val="333331"/>
                </a:solidFill>
                <a:latin typeface="Arial" pitchFamily="34" charset="0"/>
                <a:ea typeface="Arial" pitchFamily="34" charset="-122"/>
                <a:cs typeface="Arial" pitchFamily="34" charset="-120"/>
              </a:rPr>
              <a:t>Paho &amp; the JDK.</a:t>
            </a:r>
            <a:endParaRPr lang="en-US" sz="1250" dirty="0"/>
          </a:p>
        </p:txBody>
      </p:sp>
      <p:sp>
        <p:nvSpPr>
          <p:cNvPr id="12" name="Shape 9"/>
          <p:cNvSpPr/>
          <p:nvPr/>
        </p:nvSpPr>
        <p:spPr>
          <a:xfrm>
            <a:off x="8119872" y="1737360"/>
            <a:ext cx="3429000" cy="2971800"/>
          </a:xfrm>
          <a:prstGeom prst="rect">
            <a:avLst/>
          </a:prstGeom>
          <a:solidFill>
            <a:srgbClr val="F2F3F2"/>
          </a:solidFill>
          <a:ln w="12700">
            <a:solidFill>
              <a:srgbClr val="D7D7D5"/>
            </a:solidFill>
            <a:prstDash val="solid"/>
          </a:ln>
        </p:spPr>
        <p:txBody>
          <a:bodyPr/>
          <a:lstStyle/>
          <a:p>
            <a:endParaRPr lang="de-DE"/>
          </a:p>
        </p:txBody>
      </p:sp>
      <p:sp>
        <p:nvSpPr>
          <p:cNvPr id="13" name="Text 10"/>
          <p:cNvSpPr/>
          <p:nvPr/>
        </p:nvSpPr>
        <p:spPr>
          <a:xfrm>
            <a:off x="8302752" y="1901952"/>
            <a:ext cx="3108960" cy="365760"/>
          </a:xfrm>
          <a:prstGeom prst="rect">
            <a:avLst/>
          </a:prstGeom>
          <a:noFill/>
          <a:ln/>
        </p:spPr>
        <p:txBody>
          <a:bodyPr wrap="square" lIns="0" tIns="0" rIns="0" bIns="0" rtlCol="0" anchor="ctr"/>
          <a:lstStyle/>
          <a:p>
            <a:pPr marL="0" indent="0">
              <a:buNone/>
            </a:pPr>
            <a:r>
              <a:rPr lang="en-US" sz="1500" b="1" dirty="0">
                <a:solidFill>
                  <a:srgbClr val="2D2D2B"/>
                </a:solidFill>
                <a:latin typeface="Arial" pitchFamily="34" charset="0"/>
                <a:ea typeface="Arial" pitchFamily="34" charset="-122"/>
                <a:cs typeface="Arial" pitchFamily="34" charset="-120"/>
              </a:rPr>
              <a:t>SysArch_Control</a:t>
            </a:r>
            <a:endParaRPr lang="en-US" sz="1500" dirty="0"/>
          </a:p>
        </p:txBody>
      </p:sp>
      <p:sp>
        <p:nvSpPr>
          <p:cNvPr id="14" name="Text 11"/>
          <p:cNvSpPr/>
          <p:nvPr/>
        </p:nvSpPr>
        <p:spPr>
          <a:xfrm>
            <a:off x="8302752" y="2286000"/>
            <a:ext cx="3108960" cy="228600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333331"/>
                </a:solidFill>
                <a:latin typeface="Arial" pitchFamily="34" charset="0"/>
                <a:ea typeface="Arial" pitchFamily="34" charset="-122"/>
                <a:cs typeface="Arial" pitchFamily="34" charset="-120"/>
              </a:rPr>
              <a:t>domain/ — pure logic &amp; model</a:t>
            </a:r>
            <a:endParaRPr lang="en-US" sz="1250" dirty="0"/>
          </a:p>
          <a:p>
            <a:pPr marL="177800" indent="-177800">
              <a:spcAft>
                <a:spcPts val="600"/>
              </a:spcAft>
              <a:buSzPct val="100000"/>
              <a:buChar char="•"/>
            </a:pPr>
            <a:r>
              <a:rPr lang="en-US" sz="1250" dirty="0">
                <a:solidFill>
                  <a:srgbClr val="333331"/>
                </a:solidFill>
                <a:latin typeface="Arial" pitchFamily="34" charset="0"/>
                <a:ea typeface="Arial" pitchFamily="34" charset="-122"/>
                <a:cs typeface="Arial" pitchFamily="34" charset="-120"/>
              </a:rPr>
              <a:t>application/ — ports + loop</a:t>
            </a:r>
            <a:endParaRPr lang="en-US" sz="1250" dirty="0"/>
          </a:p>
          <a:p>
            <a:pPr marL="177800" indent="-177800">
              <a:spcAft>
                <a:spcPts val="600"/>
              </a:spcAft>
              <a:buSzPct val="100000"/>
              <a:buChar char="•"/>
            </a:pPr>
            <a:r>
              <a:rPr lang="en-US" sz="1250" dirty="0">
                <a:solidFill>
                  <a:srgbClr val="333331"/>
                </a:solidFill>
                <a:latin typeface="Arial" pitchFamily="34" charset="0"/>
                <a:ea typeface="Arial" pitchFamily="34" charset="-122"/>
                <a:cs typeface="Arial" pitchFamily="34" charset="-120"/>
              </a:rPr>
              <a:t>infrastructure/ — Modbus,</a:t>
            </a:r>
            <a:r>
              <a:rPr lang="en-US" sz="1250" dirty="0"/>
              <a:t> </a:t>
            </a:r>
            <a:r>
              <a:rPr lang="en-US" sz="1250" dirty="0">
                <a:solidFill>
                  <a:srgbClr val="333331"/>
                </a:solidFill>
                <a:latin typeface="Arial" pitchFamily="34" charset="0"/>
                <a:ea typeface="Arial" pitchFamily="34" charset="-122"/>
                <a:cs typeface="Arial" pitchFamily="34" charset="-120"/>
              </a:rPr>
              <a:t>MQTT, simulation adapters</a:t>
            </a:r>
            <a:endParaRPr lang="en-US" sz="1250" dirty="0"/>
          </a:p>
          <a:p>
            <a:pPr marL="177800" indent="-177800">
              <a:spcAft>
                <a:spcPts val="600"/>
              </a:spcAft>
              <a:buSzPct val="100000"/>
              <a:buChar char="•"/>
            </a:pPr>
            <a:r>
              <a:rPr lang="en-US" sz="1250" dirty="0">
                <a:solidFill>
                  <a:srgbClr val="333331"/>
                </a:solidFill>
                <a:latin typeface="Arial" pitchFamily="34" charset="0"/>
                <a:ea typeface="Arial" pitchFamily="34" charset="-122"/>
                <a:cs typeface="Arial" pitchFamily="34" charset="-120"/>
              </a:rPr>
              <a:t>Builds a runnable fat jar.</a:t>
            </a:r>
            <a:endParaRPr lang="en-US" sz="1250" dirty="0"/>
          </a:p>
        </p:txBody>
      </p:sp>
      <p:sp>
        <p:nvSpPr>
          <p:cNvPr id="15" name="Shape 12"/>
          <p:cNvSpPr/>
          <p:nvPr/>
        </p:nvSpPr>
        <p:spPr>
          <a:xfrm>
            <a:off x="4434840" y="1920240"/>
            <a:ext cx="3291840" cy="2423160"/>
          </a:xfrm>
          <a:prstGeom prst="rect">
            <a:avLst/>
          </a:prstGeom>
          <a:solidFill>
            <a:srgbClr val="2D2D2B"/>
          </a:solidFill>
          <a:ln/>
        </p:spPr>
        <p:txBody>
          <a:bodyPr/>
          <a:lstStyle/>
          <a:p>
            <a:endParaRPr lang="de-DE"/>
          </a:p>
        </p:txBody>
      </p:sp>
      <p:sp>
        <p:nvSpPr>
          <p:cNvPr id="16" name="Text 13"/>
          <p:cNvSpPr/>
          <p:nvPr/>
        </p:nvSpPr>
        <p:spPr>
          <a:xfrm>
            <a:off x="4434840" y="2103120"/>
            <a:ext cx="3291840" cy="365760"/>
          </a:xfrm>
          <a:prstGeom prst="rect">
            <a:avLst/>
          </a:prstGeom>
          <a:noFill/>
          <a:ln/>
        </p:spPr>
        <p:txBody>
          <a:bodyPr wrap="square" lIns="0" tIns="0" rIns="0" bIns="0" rtlCol="0" anchor="ctr"/>
          <a:lstStyle/>
          <a:p>
            <a:pPr marL="0" indent="0" algn="ctr">
              <a:buNone/>
            </a:pPr>
            <a:r>
              <a:rPr lang="en-US" sz="1300" b="1" dirty="0">
                <a:solidFill>
                  <a:srgbClr val="5FB6C2"/>
                </a:solidFill>
                <a:latin typeface="Consolas" pitchFamily="34" charset="0"/>
                <a:ea typeface="Consolas" pitchFamily="34" charset="-122"/>
                <a:cs typeface="Consolas" pitchFamily="34" charset="-120"/>
              </a:rPr>
              <a:t>de.htwg.sysarch.mqtt</a:t>
            </a:r>
            <a:endParaRPr lang="en-US" sz="1300" dirty="0"/>
          </a:p>
        </p:txBody>
      </p:sp>
      <p:sp>
        <p:nvSpPr>
          <p:cNvPr id="17" name="Text 14"/>
          <p:cNvSpPr/>
          <p:nvPr/>
        </p:nvSpPr>
        <p:spPr>
          <a:xfrm>
            <a:off x="4434840" y="2450592"/>
            <a:ext cx="3291840" cy="320040"/>
          </a:xfrm>
          <a:prstGeom prst="rect">
            <a:avLst/>
          </a:prstGeom>
          <a:noFill/>
          <a:ln/>
        </p:spPr>
        <p:txBody>
          <a:bodyPr wrap="square" lIns="0" tIns="0" rIns="0" bIns="0" rtlCol="0" anchor="ctr"/>
          <a:lstStyle/>
          <a:p>
            <a:pPr marL="0" indent="0" algn="ctr">
              <a:buNone/>
            </a:pPr>
            <a:r>
              <a:rPr lang="en-US" sz="1150" i="1" dirty="0">
                <a:solidFill>
                  <a:srgbClr val="BFBFBC"/>
                </a:solidFill>
                <a:latin typeface="Arial" pitchFamily="34" charset="0"/>
                <a:ea typeface="Arial" pitchFamily="34" charset="-122"/>
                <a:cs typeface="Arial" pitchFamily="34" charset="-120"/>
              </a:rPr>
              <a:t>the SHARED contract</a:t>
            </a:r>
            <a:endParaRPr lang="en-US" sz="1150" dirty="0"/>
          </a:p>
        </p:txBody>
      </p:sp>
      <p:sp>
        <p:nvSpPr>
          <p:cNvPr id="18" name="Text 15"/>
          <p:cNvSpPr/>
          <p:nvPr/>
        </p:nvSpPr>
        <p:spPr>
          <a:xfrm>
            <a:off x="4434840" y="2880360"/>
            <a:ext cx="3291840" cy="1371600"/>
          </a:xfrm>
          <a:prstGeom prst="rect">
            <a:avLst/>
          </a:prstGeom>
          <a:noFill/>
          <a:ln/>
        </p:spPr>
        <p:txBody>
          <a:bodyPr wrap="square" lIns="0" tIns="0" rIns="0" bIns="0" rtlCol="0" anchor="ctr"/>
          <a:lstStyle/>
          <a:p>
            <a:pPr marL="0" indent="0" algn="ctr">
              <a:spcAft>
                <a:spcPts val="400"/>
              </a:spcAft>
              <a:buNone/>
            </a:pPr>
            <a:r>
              <a:rPr lang="en-US" sz="1200" dirty="0">
                <a:solidFill>
                  <a:srgbClr val="FFFFFF"/>
                </a:solidFill>
                <a:latin typeface="Consolas" pitchFamily="34" charset="0"/>
                <a:ea typeface="Consolas" pitchFamily="34" charset="-122"/>
                <a:cs typeface="Consolas" pitchFamily="34" charset="-120"/>
              </a:rPr>
              <a:t>MqttTopics</a:t>
            </a:r>
            <a:endParaRPr lang="en-US" sz="1200" dirty="0"/>
          </a:p>
          <a:p>
            <a:pPr marL="0" indent="0" algn="ctr">
              <a:spcAft>
                <a:spcPts val="400"/>
              </a:spcAft>
              <a:buNone/>
            </a:pPr>
            <a:r>
              <a:rPr lang="en-US" sz="1200" dirty="0">
                <a:solidFill>
                  <a:srgbClr val="FFFFFF"/>
                </a:solidFill>
                <a:latin typeface="Consolas" pitchFamily="34" charset="0"/>
                <a:ea typeface="Consolas" pitchFamily="34" charset="-122"/>
                <a:cs typeface="Consolas" pitchFamily="34" charset="-120"/>
              </a:rPr>
              <a:t>StatusMessage</a:t>
            </a:r>
            <a:endParaRPr lang="en-US" sz="1200" dirty="0"/>
          </a:p>
          <a:p>
            <a:pPr marL="0" indent="0" algn="ctr">
              <a:spcAft>
                <a:spcPts val="400"/>
              </a:spcAft>
              <a:buNone/>
            </a:pPr>
            <a:r>
              <a:rPr lang="en-US" sz="1200" dirty="0">
                <a:solidFill>
                  <a:srgbClr val="FFFFFF"/>
                </a:solidFill>
                <a:latin typeface="Consolas" pitchFamily="34" charset="0"/>
                <a:ea typeface="Consolas" pitchFamily="34" charset="-122"/>
                <a:cs typeface="Consolas" pitchFamily="34" charset="-120"/>
              </a:rPr>
              <a:t>EventMessage</a:t>
            </a:r>
            <a:endParaRPr lang="en-US" sz="1200" dirty="0"/>
          </a:p>
          <a:p>
            <a:pPr marL="0" indent="0" algn="ctr">
              <a:spcAft>
                <a:spcPts val="400"/>
              </a:spcAft>
              <a:buNone/>
            </a:pPr>
            <a:r>
              <a:rPr lang="en-US" sz="1200" dirty="0">
                <a:solidFill>
                  <a:srgbClr val="FFFFFF"/>
                </a:solidFill>
                <a:latin typeface="Consolas" pitchFamily="34" charset="0"/>
                <a:ea typeface="Consolas" pitchFamily="34" charset="-122"/>
                <a:cs typeface="Consolas" pitchFamily="34" charset="-120"/>
              </a:rPr>
              <a:t>CommandMessage</a:t>
            </a:r>
            <a:endParaRPr lang="en-US" sz="1200" dirty="0"/>
          </a:p>
          <a:p>
            <a:pPr marL="0" indent="0" algn="ctr">
              <a:spcAft>
                <a:spcPts val="400"/>
              </a:spcAft>
              <a:buNone/>
            </a:pPr>
            <a:r>
              <a:rPr lang="en-US" sz="1200" dirty="0">
                <a:solidFill>
                  <a:srgbClr val="FFFFFF"/>
                </a:solidFill>
                <a:latin typeface="Consolas" pitchFamily="34" charset="0"/>
                <a:ea typeface="Consolas" pitchFamily="34" charset="-122"/>
                <a:cs typeface="Consolas" pitchFamily="34" charset="-120"/>
              </a:rPr>
              <a:t>JsonCodec (Gson)</a:t>
            </a:r>
            <a:endParaRPr lang="en-US" sz="1200" dirty="0"/>
          </a:p>
        </p:txBody>
      </p:sp>
      <p:sp>
        <p:nvSpPr>
          <p:cNvPr id="19" name="Shape 16"/>
          <p:cNvSpPr/>
          <p:nvPr/>
        </p:nvSpPr>
        <p:spPr>
          <a:xfrm>
            <a:off x="640080" y="5029200"/>
            <a:ext cx="10908792" cy="1188720"/>
          </a:xfrm>
          <a:prstGeom prst="rect">
            <a:avLst/>
          </a:prstGeom>
          <a:solidFill>
            <a:srgbClr val="F2F3F2"/>
          </a:solidFill>
          <a:ln w="12700">
            <a:solidFill>
              <a:srgbClr val="D7D7D5"/>
            </a:solidFill>
            <a:prstDash val="solid"/>
          </a:ln>
        </p:spPr>
        <p:txBody>
          <a:bodyPr/>
          <a:lstStyle/>
          <a:p>
            <a:endParaRPr lang="de-DE"/>
          </a:p>
        </p:txBody>
      </p:sp>
      <p:sp>
        <p:nvSpPr>
          <p:cNvPr id="20" name="Text 17"/>
          <p:cNvSpPr/>
          <p:nvPr/>
        </p:nvSpPr>
        <p:spPr>
          <a:xfrm>
            <a:off x="914400" y="5029200"/>
            <a:ext cx="10360152" cy="1188720"/>
          </a:xfrm>
          <a:prstGeom prst="rect">
            <a:avLst/>
          </a:prstGeom>
          <a:noFill/>
          <a:ln/>
        </p:spPr>
        <p:txBody>
          <a:bodyPr wrap="square" lIns="0" tIns="0" rIns="0" bIns="0" rtlCol="0" anchor="ctr"/>
          <a:lstStyle/>
          <a:p>
            <a:pPr marL="0" indent="0">
              <a:buNone/>
            </a:pPr>
            <a:r>
              <a:rPr lang="en-US" sz="1400" b="1" dirty="0">
                <a:solidFill>
                  <a:srgbClr val="2D2D2B"/>
                </a:solidFill>
                <a:latin typeface="Arial" pitchFamily="34" charset="0"/>
                <a:ea typeface="Arial" pitchFamily="34" charset="-122"/>
                <a:cs typeface="Arial" pitchFamily="34" charset="-120"/>
              </a:rPr>
              <a:t>One-directional interface:  </a:t>
            </a:r>
            <a:r>
              <a:rPr lang="en-US" sz="1400" dirty="0">
                <a:solidFill>
                  <a:srgbClr val="333331"/>
                </a:solidFill>
                <a:latin typeface="Arial" pitchFamily="34" charset="0"/>
                <a:ea typeface="Arial" pitchFamily="34" charset="-122"/>
                <a:cs typeface="Arial" pitchFamily="34" charset="-120"/>
              </a:rPr>
              <a:t>every interface variable is written in one direction only. State the HMI reads flows out on </a:t>
            </a:r>
            <a:r>
              <a:rPr lang="en-US" sz="1400" b="1" dirty="0">
                <a:solidFill>
                  <a:srgbClr val="333331"/>
                </a:solidFill>
                <a:latin typeface="Arial" pitchFamily="34" charset="0"/>
                <a:ea typeface="Arial" pitchFamily="34" charset="-122"/>
                <a:cs typeface="Arial" pitchFamily="34" charset="-120"/>
              </a:rPr>
              <a:t>status / event</a:t>
            </a:r>
            <a:r>
              <a:rPr lang="en-US" sz="1400" dirty="0">
                <a:solidFill>
                  <a:srgbClr val="333331"/>
                </a:solidFill>
                <a:latin typeface="Arial" pitchFamily="34" charset="0"/>
                <a:ea typeface="Arial" pitchFamily="34" charset="-122"/>
                <a:cs typeface="Arial" pitchFamily="34" charset="-120"/>
              </a:rPr>
              <a:t>; commands flow in on </a:t>
            </a:r>
            <a:r>
              <a:rPr lang="en-US" sz="1400" b="1" dirty="0">
                <a:solidFill>
                  <a:srgbClr val="333331"/>
                </a:solidFill>
                <a:latin typeface="Arial" pitchFamily="34" charset="0"/>
                <a:ea typeface="Arial" pitchFamily="34" charset="-122"/>
                <a:cs typeface="Arial" pitchFamily="34" charset="-120"/>
              </a:rPr>
              <a:t>cmd</a:t>
            </a:r>
            <a:r>
              <a:rPr lang="en-US" sz="1400" dirty="0">
                <a:solidFill>
                  <a:srgbClr val="333331"/>
                </a:solidFill>
                <a:latin typeface="Arial" pitchFamily="34" charset="0"/>
                <a:ea typeface="Arial" pitchFamily="34" charset="-122"/>
                <a:cs typeface="Arial" pitchFamily="34" charset="-120"/>
              </a:rPr>
              <a:t>. The two never share a topic, and neither module imports the other's code.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40080" y="502920"/>
            <a:ext cx="9144000" cy="292608"/>
          </a:xfrm>
          <a:prstGeom prst="rect">
            <a:avLst/>
          </a:prstGeom>
          <a:noFill/>
          <a:ln/>
        </p:spPr>
        <p:txBody>
          <a:bodyPr wrap="square" lIns="0" tIns="0" rIns="0" bIns="0" rtlCol="0" anchor="ctr"/>
          <a:lstStyle/>
          <a:p>
            <a:pPr marL="0" indent="0">
              <a:buNone/>
            </a:pPr>
            <a:r>
              <a:rPr lang="en-US" sz="1200" b="1" kern="0" spc="200" dirty="0">
                <a:solidFill>
                  <a:srgbClr val="0B6E7A"/>
                </a:solidFill>
                <a:latin typeface="Arial" pitchFamily="34" charset="0"/>
                <a:ea typeface="Arial" pitchFamily="34" charset="-122"/>
                <a:cs typeface="Arial" pitchFamily="34" charset="-120"/>
              </a:rPr>
              <a:t>PART 1 · MQTT</a:t>
            </a:r>
            <a:endParaRPr lang="en-US" sz="1200" dirty="0"/>
          </a:p>
        </p:txBody>
      </p:sp>
      <p:sp>
        <p:nvSpPr>
          <p:cNvPr id="4" name="Text 2"/>
          <p:cNvSpPr/>
          <p:nvPr/>
        </p:nvSpPr>
        <p:spPr>
          <a:xfrm>
            <a:off x="640080" y="804672"/>
            <a:ext cx="10515600" cy="731520"/>
          </a:xfrm>
          <a:prstGeom prst="rect">
            <a:avLst/>
          </a:prstGeom>
          <a:noFill/>
          <a:ln/>
        </p:spPr>
        <p:txBody>
          <a:bodyPr wrap="square" lIns="0" tIns="0" rIns="0" bIns="0" rtlCol="0" anchor="ctr"/>
          <a:lstStyle/>
          <a:p>
            <a:pPr marL="0" indent="0">
              <a:buNone/>
            </a:pPr>
            <a:r>
              <a:rPr lang="en-US" sz="2800" b="1" dirty="0">
                <a:solidFill>
                  <a:srgbClr val="2D2D2B"/>
                </a:solidFill>
                <a:latin typeface="Arial" pitchFamily="34" charset="0"/>
                <a:ea typeface="Arial" pitchFamily="34" charset="-122"/>
                <a:cs typeface="Arial" pitchFamily="34" charset="-120"/>
              </a:rPr>
              <a:t>The operator interface runs over MQTT</a:t>
            </a:r>
            <a:endParaRPr lang="en-US" sz="2800" dirty="0"/>
          </a:p>
        </p:txBody>
      </p:sp>
      <p:sp>
        <p:nvSpPr>
          <p:cNvPr id="5" name="Shape 3"/>
          <p:cNvSpPr/>
          <p:nvPr/>
        </p:nvSpPr>
        <p:spPr>
          <a:xfrm>
            <a:off x="640080" y="6382512"/>
            <a:ext cx="10908792" cy="0"/>
          </a:xfrm>
          <a:prstGeom prst="line">
            <a:avLst/>
          </a:prstGeom>
          <a:noFill/>
          <a:ln w="9525">
            <a:solidFill>
              <a:srgbClr val="D7D7D5"/>
            </a:solidFill>
            <a:prstDash val="solid"/>
          </a:ln>
        </p:spPr>
        <p:txBody>
          <a:bodyPr/>
          <a:lstStyle/>
          <a:p>
            <a:endParaRPr lang="de-DE"/>
          </a:p>
        </p:txBody>
      </p:sp>
      <p:sp>
        <p:nvSpPr>
          <p:cNvPr id="6" name="Text 4"/>
          <p:cNvSpPr/>
          <p:nvPr/>
        </p:nvSpPr>
        <p:spPr>
          <a:xfrm>
            <a:off x="640080" y="6437376"/>
            <a:ext cx="8229600" cy="274320"/>
          </a:xfrm>
          <a:prstGeom prst="rect">
            <a:avLst/>
          </a:prstGeom>
          <a:noFill/>
          <a:ln/>
        </p:spPr>
        <p:txBody>
          <a:bodyPr wrap="square" lIns="0" tIns="0" rIns="0" bIns="0" rtlCol="0" anchor="ctr"/>
          <a:lstStyle/>
          <a:p>
            <a:pPr marL="0" indent="0">
              <a:buNone/>
            </a:pPr>
            <a:r>
              <a:rPr lang="en-US" sz="900" dirty="0">
                <a:solidFill>
                  <a:srgbClr val="6E6E6C"/>
                </a:solidFill>
                <a:latin typeface="Arial" pitchFamily="34" charset="0"/>
                <a:ea typeface="Arial" pitchFamily="34" charset="-122"/>
                <a:cs typeface="Arial" pitchFamily="34" charset="-120"/>
              </a:rPr>
              <a:t>HTWG Konstanz  ·  System Architecture  ·  Group E</a:t>
            </a:r>
            <a:endParaRPr lang="en-US" sz="900" dirty="0"/>
          </a:p>
        </p:txBody>
      </p:sp>
      <p:sp>
        <p:nvSpPr>
          <p:cNvPr id="7" name="Text 5"/>
          <p:cNvSpPr/>
          <p:nvPr/>
        </p:nvSpPr>
        <p:spPr>
          <a:xfrm>
            <a:off x="10881360" y="6437376"/>
            <a:ext cx="667512" cy="274320"/>
          </a:xfrm>
          <a:prstGeom prst="rect">
            <a:avLst/>
          </a:prstGeom>
          <a:noFill/>
          <a:ln/>
        </p:spPr>
        <p:txBody>
          <a:bodyPr wrap="square" lIns="0" tIns="0" rIns="0" bIns="0" rtlCol="0" anchor="ctr"/>
          <a:lstStyle/>
          <a:p>
            <a:pPr marL="0" indent="0" algn="r">
              <a:buNone/>
            </a:pPr>
            <a:r>
              <a:rPr lang="en-US" sz="900" dirty="0">
                <a:solidFill>
                  <a:srgbClr val="6E6E6C"/>
                </a:solidFill>
                <a:latin typeface="Arial" pitchFamily="34" charset="0"/>
                <a:ea typeface="Arial" pitchFamily="34" charset="-122"/>
                <a:cs typeface="Arial" pitchFamily="34" charset="-120"/>
              </a:rPr>
              <a:t>4</a:t>
            </a:r>
            <a:endParaRPr lang="en-US" sz="900" dirty="0"/>
          </a:p>
        </p:txBody>
      </p:sp>
      <p:sp>
        <p:nvSpPr>
          <p:cNvPr id="9" name="Text 6"/>
          <p:cNvSpPr/>
          <p:nvPr/>
        </p:nvSpPr>
        <p:spPr>
          <a:xfrm>
            <a:off x="640080" y="1536192"/>
            <a:ext cx="10972800" cy="502920"/>
          </a:xfrm>
          <a:prstGeom prst="rect">
            <a:avLst/>
          </a:prstGeom>
          <a:noFill/>
          <a:ln/>
        </p:spPr>
        <p:txBody>
          <a:bodyPr wrap="square" lIns="0" tIns="0" rIns="0" bIns="0" rtlCol="0" anchor="ctr"/>
          <a:lstStyle/>
          <a:p>
            <a:pPr marL="0" indent="0">
              <a:buNone/>
            </a:pPr>
            <a:r>
              <a:rPr lang="en-US" sz="1400" dirty="0">
                <a:solidFill>
                  <a:srgbClr val="6E6E6C"/>
                </a:solidFill>
                <a:latin typeface="Arial" pitchFamily="34" charset="0"/>
                <a:ea typeface="Arial" pitchFamily="34" charset="-122"/>
                <a:cs typeface="Arial" pitchFamily="34" charset="-120"/>
              </a:rPr>
              <a:t>Control and HMI are separate processes. They meet only at a mosquitto broker, exchanging JSON on three topics under /SysArch/E.</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2148840"/>
          <a:ext cx="10908792" cy="2194560"/>
        </p:xfrm>
        <a:graphic>
          <a:graphicData uri="http://schemas.openxmlformats.org/drawingml/2006/table">
            <a:tbl>
              <a:tblPr/>
              <a:tblGrid>
                <a:gridCol w="32004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136392">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548640">
                <a:tc>
                  <a:txBody>
                    <a:bodyPr/>
                    <a:lstStyle/>
                    <a:p>
                      <a:pPr marL="0" indent="0">
                        <a:buNone/>
                      </a:pPr>
                      <a:r>
                        <a:rPr lang="en-US" sz="1300" b="1" dirty="0">
                          <a:solidFill>
                            <a:srgbClr val="FFFFFF"/>
                          </a:solidFill>
                          <a:latin typeface="Arial" pitchFamily="34" charset="0"/>
                          <a:ea typeface="Arial" pitchFamily="34" charset="-122"/>
                          <a:cs typeface="Arial" pitchFamily="34" charset="-120"/>
                        </a:rPr>
                        <a:t>Topic</a:t>
                      </a:r>
                      <a:endParaRPr lang="en-US" sz="130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2D2D2B"/>
                    </a:solidFill>
                  </a:tcPr>
                </a:tc>
                <a:tc>
                  <a:txBody>
                    <a:bodyPr/>
                    <a:lstStyle/>
                    <a:p>
                      <a:pPr marL="0" indent="0">
                        <a:buNone/>
                      </a:pPr>
                      <a:r>
                        <a:rPr lang="en-US" sz="1300" b="1" dirty="0">
                          <a:solidFill>
                            <a:srgbClr val="FFFFFF"/>
                          </a:solidFill>
                          <a:latin typeface="Arial" pitchFamily="34" charset="0"/>
                          <a:ea typeface="Arial" pitchFamily="34" charset="-122"/>
                          <a:cs typeface="Arial" pitchFamily="34" charset="-120"/>
                        </a:rPr>
                        <a:t>Direction</a:t>
                      </a:r>
                      <a:endParaRPr lang="en-US" sz="130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2D2D2B"/>
                    </a:solidFill>
                  </a:tcPr>
                </a:tc>
                <a:tc>
                  <a:txBody>
                    <a:bodyPr/>
                    <a:lstStyle/>
                    <a:p>
                      <a:pPr marL="0" indent="0">
                        <a:buNone/>
                      </a:pPr>
                      <a:r>
                        <a:rPr lang="en-US" sz="1300" b="1" dirty="0">
                          <a:solidFill>
                            <a:srgbClr val="FFFFFF"/>
                          </a:solidFill>
                          <a:latin typeface="Arial" pitchFamily="34" charset="0"/>
                          <a:ea typeface="Arial" pitchFamily="34" charset="-122"/>
                          <a:cs typeface="Arial" pitchFamily="34" charset="-120"/>
                        </a:rPr>
                        <a:t>Payload</a:t>
                      </a:r>
                      <a:endParaRPr lang="en-US" sz="130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2D2D2B"/>
                    </a:solidFill>
                  </a:tcPr>
                </a:tc>
                <a:tc>
                  <a:txBody>
                    <a:bodyPr/>
                    <a:lstStyle/>
                    <a:p>
                      <a:pPr marL="0" indent="0">
                        <a:buNone/>
                      </a:pPr>
                      <a:r>
                        <a:rPr lang="en-US" sz="1300" b="1" dirty="0">
                          <a:solidFill>
                            <a:srgbClr val="FFFFFF"/>
                          </a:solidFill>
                          <a:latin typeface="Arial" pitchFamily="34" charset="0"/>
                          <a:ea typeface="Arial" pitchFamily="34" charset="-122"/>
                          <a:cs typeface="Arial" pitchFamily="34" charset="-120"/>
                        </a:rPr>
                        <a:t>Retained</a:t>
                      </a:r>
                      <a:endParaRPr lang="en-US" sz="130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2D2D2B"/>
                    </a:solidFill>
                  </a:tcPr>
                </a:tc>
                <a:extLst>
                  <a:ext uri="{0D108BD9-81ED-4DB2-BD59-A6C34878D82A}">
                    <a16:rowId xmlns:a16="http://schemas.microsoft.com/office/drawing/2014/main" val="10000"/>
                  </a:ext>
                </a:extLst>
              </a:tr>
              <a:tr h="548640">
                <a:tc>
                  <a:txBody>
                    <a:bodyPr/>
                    <a:lstStyle/>
                    <a:p>
                      <a:pPr marL="0" indent="0">
                        <a:buNone/>
                      </a:pPr>
                      <a:r>
                        <a:rPr lang="en-US" sz="1350" dirty="0">
                          <a:solidFill>
                            <a:srgbClr val="333331"/>
                          </a:solidFill>
                          <a:latin typeface="Arial" pitchFamily="34" charset="0"/>
                          <a:ea typeface="Arial" pitchFamily="34" charset="-122"/>
                          <a:cs typeface="Arial" pitchFamily="34" charset="-120"/>
                        </a:rPr>
                        <a:t>/SysArch/E/status</a:t>
                      </a:r>
                      <a:endParaRPr lang="en-US" sz="13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tc>
                  <a:txBody>
                    <a:bodyPr/>
                    <a:lstStyle/>
                    <a:p>
                      <a:pPr marL="0" indent="0">
                        <a:buNone/>
                      </a:pPr>
                      <a:r>
                        <a:rPr lang="en-US" sz="1350" dirty="0">
                          <a:solidFill>
                            <a:srgbClr val="333331"/>
                          </a:solidFill>
                          <a:latin typeface="Arial" pitchFamily="34" charset="0"/>
                          <a:ea typeface="Arial" pitchFamily="34" charset="-122"/>
                          <a:cs typeface="Arial" pitchFamily="34" charset="-120"/>
                        </a:rPr>
                        <a:t>control → HMI</a:t>
                      </a:r>
                      <a:endParaRPr lang="en-US" sz="13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tc>
                  <a:txBody>
                    <a:bodyPr/>
                    <a:lstStyle/>
                    <a:p>
                      <a:pPr marL="0" indent="0">
                        <a:buNone/>
                      </a:pPr>
                      <a:r>
                        <a:rPr lang="en-US" sz="1350" dirty="0">
                          <a:solidFill>
                            <a:srgbClr val="333331"/>
                          </a:solidFill>
                          <a:latin typeface="Arial" pitchFamily="34" charset="0"/>
                          <a:ea typeface="Arial" pitchFamily="34" charset="-122"/>
                          <a:cs typeface="Arial" pitchFamily="34" charset="-120"/>
                        </a:rPr>
                        <a:t>StatusMessage</a:t>
                      </a:r>
                      <a:endParaRPr lang="en-US" sz="13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tc>
                  <a:txBody>
                    <a:bodyPr/>
                    <a:lstStyle/>
                    <a:p>
                      <a:pPr marL="0" indent="0">
                        <a:buNone/>
                      </a:pPr>
                      <a:r>
                        <a:rPr lang="en-US" sz="1350" dirty="0">
                          <a:solidFill>
                            <a:srgbClr val="333331"/>
                          </a:solidFill>
                          <a:latin typeface="Arial" pitchFamily="34" charset="0"/>
                          <a:ea typeface="Arial" pitchFamily="34" charset="-122"/>
                          <a:cs typeface="Arial" pitchFamily="34" charset="-120"/>
                        </a:rPr>
                        <a:t>yes</a:t>
                      </a:r>
                      <a:endParaRPr lang="en-US" sz="13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350" dirty="0">
                          <a:solidFill>
                            <a:srgbClr val="333331"/>
                          </a:solidFill>
                          <a:latin typeface="Arial" pitchFamily="34" charset="0"/>
                          <a:ea typeface="Arial" pitchFamily="34" charset="-122"/>
                          <a:cs typeface="Arial" pitchFamily="34" charset="-120"/>
                        </a:rPr>
                        <a:t>/SysArch/E/event</a:t>
                      </a:r>
                      <a:endParaRPr lang="en-US" sz="13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tc>
                  <a:txBody>
                    <a:bodyPr/>
                    <a:lstStyle/>
                    <a:p>
                      <a:pPr marL="0" indent="0">
                        <a:buNone/>
                      </a:pPr>
                      <a:r>
                        <a:rPr lang="en-US" sz="1350" dirty="0">
                          <a:solidFill>
                            <a:srgbClr val="333331"/>
                          </a:solidFill>
                          <a:latin typeface="Arial" pitchFamily="34" charset="0"/>
                          <a:ea typeface="Arial" pitchFamily="34" charset="-122"/>
                          <a:cs typeface="Arial" pitchFamily="34" charset="-120"/>
                        </a:rPr>
                        <a:t>control → HMI</a:t>
                      </a:r>
                      <a:endParaRPr lang="en-US" sz="13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tc>
                  <a:txBody>
                    <a:bodyPr/>
                    <a:lstStyle/>
                    <a:p>
                      <a:pPr marL="0" indent="0">
                        <a:buNone/>
                      </a:pPr>
                      <a:r>
                        <a:rPr lang="en-US" sz="1350" dirty="0">
                          <a:solidFill>
                            <a:srgbClr val="333331"/>
                          </a:solidFill>
                          <a:latin typeface="Arial" pitchFamily="34" charset="0"/>
                          <a:ea typeface="Arial" pitchFamily="34" charset="-122"/>
                          <a:cs typeface="Arial" pitchFamily="34" charset="-120"/>
                        </a:rPr>
                        <a:t>EventMessage</a:t>
                      </a:r>
                      <a:endParaRPr lang="en-US" sz="13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tc>
                  <a:txBody>
                    <a:bodyPr/>
                    <a:lstStyle/>
                    <a:p>
                      <a:pPr marL="0" indent="0">
                        <a:buNone/>
                      </a:pPr>
                      <a:r>
                        <a:rPr lang="en-US" sz="1350" dirty="0">
                          <a:solidFill>
                            <a:srgbClr val="333331"/>
                          </a:solidFill>
                          <a:latin typeface="Arial" pitchFamily="34" charset="0"/>
                          <a:ea typeface="Arial" pitchFamily="34" charset="-122"/>
                          <a:cs typeface="Arial" pitchFamily="34" charset="-120"/>
                        </a:rPr>
                        <a:t>no</a:t>
                      </a:r>
                      <a:endParaRPr lang="en-US" sz="13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350" dirty="0">
                          <a:solidFill>
                            <a:srgbClr val="333331"/>
                          </a:solidFill>
                          <a:latin typeface="Arial" pitchFamily="34" charset="0"/>
                          <a:ea typeface="Arial" pitchFamily="34" charset="-122"/>
                          <a:cs typeface="Arial" pitchFamily="34" charset="-120"/>
                        </a:rPr>
                        <a:t>/SysArch/E/cmd</a:t>
                      </a:r>
                      <a:endParaRPr lang="en-US" sz="13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tc>
                  <a:txBody>
                    <a:bodyPr/>
                    <a:lstStyle/>
                    <a:p>
                      <a:pPr marL="0" indent="0">
                        <a:buNone/>
                      </a:pPr>
                      <a:r>
                        <a:rPr lang="en-US" sz="1350" dirty="0">
                          <a:solidFill>
                            <a:srgbClr val="333331"/>
                          </a:solidFill>
                          <a:latin typeface="Arial" pitchFamily="34" charset="0"/>
                          <a:ea typeface="Arial" pitchFamily="34" charset="-122"/>
                          <a:cs typeface="Arial" pitchFamily="34" charset="-120"/>
                        </a:rPr>
                        <a:t>HMI → control</a:t>
                      </a:r>
                      <a:endParaRPr lang="en-US" sz="13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tc>
                  <a:txBody>
                    <a:bodyPr/>
                    <a:lstStyle/>
                    <a:p>
                      <a:pPr marL="0" indent="0">
                        <a:buNone/>
                      </a:pPr>
                      <a:r>
                        <a:rPr lang="en-US" sz="1350" dirty="0">
                          <a:solidFill>
                            <a:srgbClr val="333331"/>
                          </a:solidFill>
                          <a:latin typeface="Arial" pitchFamily="34" charset="0"/>
                          <a:ea typeface="Arial" pitchFamily="34" charset="-122"/>
                          <a:cs typeface="Arial" pitchFamily="34" charset="-120"/>
                        </a:rPr>
                        <a:t>CommandMessage</a:t>
                      </a:r>
                      <a:endParaRPr lang="en-US" sz="13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tc>
                  <a:txBody>
                    <a:bodyPr/>
                    <a:lstStyle/>
                    <a:p>
                      <a:pPr marL="0" indent="0">
                        <a:buNone/>
                      </a:pPr>
                      <a:r>
                        <a:rPr lang="en-US" sz="1350" dirty="0">
                          <a:solidFill>
                            <a:srgbClr val="333331"/>
                          </a:solidFill>
                          <a:latin typeface="Arial" pitchFamily="34" charset="0"/>
                          <a:ea typeface="Arial" pitchFamily="34" charset="-122"/>
                          <a:cs typeface="Arial" pitchFamily="34" charset="-120"/>
                        </a:rPr>
                        <a:t>no</a:t>
                      </a:r>
                      <a:endParaRPr lang="en-US" sz="13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1" name="Shape 7"/>
          <p:cNvSpPr/>
          <p:nvPr/>
        </p:nvSpPr>
        <p:spPr>
          <a:xfrm>
            <a:off x="640080" y="4572000"/>
            <a:ext cx="6675120" cy="1691640"/>
          </a:xfrm>
          <a:prstGeom prst="rect">
            <a:avLst/>
          </a:prstGeom>
          <a:solidFill>
            <a:srgbClr val="2D2D2B"/>
          </a:solidFill>
          <a:ln/>
        </p:spPr>
        <p:txBody>
          <a:bodyPr/>
          <a:lstStyle/>
          <a:p>
            <a:endParaRPr lang="de-DE"/>
          </a:p>
        </p:txBody>
      </p:sp>
      <p:sp>
        <p:nvSpPr>
          <p:cNvPr id="12" name="Text 8"/>
          <p:cNvSpPr/>
          <p:nvPr/>
        </p:nvSpPr>
        <p:spPr>
          <a:xfrm>
            <a:off x="868680" y="4681728"/>
            <a:ext cx="5486400" cy="320040"/>
          </a:xfrm>
          <a:prstGeom prst="rect">
            <a:avLst/>
          </a:prstGeom>
          <a:noFill/>
          <a:ln/>
        </p:spPr>
        <p:txBody>
          <a:bodyPr wrap="square" lIns="0" tIns="0" rIns="0" bIns="0" rtlCol="0" anchor="ctr"/>
          <a:lstStyle/>
          <a:p>
            <a:pPr marL="0" indent="0">
              <a:buNone/>
            </a:pPr>
            <a:r>
              <a:rPr lang="en-US" sz="1250" b="1" dirty="0">
                <a:solidFill>
                  <a:srgbClr val="9FB9BD"/>
                </a:solidFill>
                <a:latin typeface="Arial" pitchFamily="34" charset="0"/>
                <a:ea typeface="Arial" pitchFamily="34" charset="-122"/>
                <a:cs typeface="Arial" pitchFamily="34" charset="-120"/>
              </a:rPr>
              <a:t>Example messages</a:t>
            </a:r>
            <a:endParaRPr lang="en-US" sz="1250" dirty="0"/>
          </a:p>
        </p:txBody>
      </p:sp>
      <p:sp>
        <p:nvSpPr>
          <p:cNvPr id="13" name="Text 9"/>
          <p:cNvSpPr/>
          <p:nvPr/>
        </p:nvSpPr>
        <p:spPr>
          <a:xfrm>
            <a:off x="868680" y="5029200"/>
            <a:ext cx="6309360" cy="1188720"/>
          </a:xfrm>
          <a:prstGeom prst="rect">
            <a:avLst/>
          </a:prstGeom>
          <a:noFill/>
          <a:ln/>
        </p:spPr>
        <p:txBody>
          <a:bodyPr wrap="square" lIns="0" tIns="0" rIns="0" bIns="0" rtlCol="0" anchor="ctr"/>
          <a:lstStyle/>
          <a:p>
            <a:pPr marL="0" indent="0">
              <a:spcAft>
                <a:spcPts val="700"/>
              </a:spcAft>
              <a:buNone/>
            </a:pPr>
            <a:r>
              <a:rPr lang="en-US" sz="1050" dirty="0">
                <a:solidFill>
                  <a:srgbClr val="DCDCDA"/>
                </a:solidFill>
                <a:latin typeface="Consolas" pitchFamily="34" charset="0"/>
                <a:ea typeface="Consolas" pitchFamily="34" charset="-122"/>
                <a:cs typeface="Consolas" pitchFamily="34" charset="-120"/>
              </a:rPr>
              <a:t>status  {"level":4,"direction":"NONE","phase":"IDLE", …}</a:t>
            </a:r>
            <a:endParaRPr lang="en-US" sz="1050" dirty="0"/>
          </a:p>
          <a:p>
            <a:pPr marL="0" indent="0">
              <a:spcAft>
                <a:spcPts val="700"/>
              </a:spcAft>
              <a:buNone/>
            </a:pPr>
            <a:r>
              <a:rPr lang="en-US" sz="1050" dirty="0">
                <a:solidFill>
                  <a:srgbClr val="DCDCDA"/>
                </a:solidFill>
                <a:latin typeface="Consolas" pitchFamily="34" charset="0"/>
                <a:ea typeface="Consolas" pitchFamily="34" charset="-122"/>
                <a:cs typeface="Consolas" pitchFamily="34" charset="-120"/>
              </a:rPr>
              <a:t>event   {"type":"ARRIVAL","level":3,"detail":""}</a:t>
            </a:r>
            <a:endParaRPr lang="en-US" sz="1050" dirty="0"/>
          </a:p>
          <a:p>
            <a:pPr marL="0" indent="0">
              <a:buNone/>
            </a:pPr>
            <a:r>
              <a:rPr lang="en-US" sz="1050" dirty="0">
                <a:solidFill>
                  <a:srgbClr val="DCDCDA"/>
                </a:solidFill>
                <a:latin typeface="Consolas" pitchFamily="34" charset="0"/>
                <a:ea typeface="Consolas" pitchFamily="34" charset="-122"/>
                <a:cs typeface="Consolas" pitchFamily="34" charset="-120"/>
              </a:rPr>
              <a:t>cmd     {"type":"cabin","level":3}</a:t>
            </a:r>
            <a:endParaRPr lang="en-US" sz="1050" dirty="0"/>
          </a:p>
        </p:txBody>
      </p:sp>
      <p:sp>
        <p:nvSpPr>
          <p:cNvPr id="14" name="Shape 10"/>
          <p:cNvSpPr/>
          <p:nvPr/>
        </p:nvSpPr>
        <p:spPr>
          <a:xfrm>
            <a:off x="7543800" y="4572000"/>
            <a:ext cx="4005072" cy="1691640"/>
          </a:xfrm>
          <a:prstGeom prst="rect">
            <a:avLst/>
          </a:prstGeom>
          <a:solidFill>
            <a:srgbClr val="F2F3F2"/>
          </a:solidFill>
          <a:ln w="12700">
            <a:solidFill>
              <a:srgbClr val="D7D7D5"/>
            </a:solidFill>
            <a:prstDash val="solid"/>
          </a:ln>
        </p:spPr>
        <p:txBody>
          <a:bodyPr/>
          <a:lstStyle/>
          <a:p>
            <a:endParaRPr lang="de-DE"/>
          </a:p>
        </p:txBody>
      </p:sp>
      <p:sp>
        <p:nvSpPr>
          <p:cNvPr id="15" name="Text 11"/>
          <p:cNvSpPr/>
          <p:nvPr/>
        </p:nvSpPr>
        <p:spPr>
          <a:xfrm>
            <a:off x="7772400" y="4709160"/>
            <a:ext cx="3657600" cy="365760"/>
          </a:xfrm>
          <a:prstGeom prst="rect">
            <a:avLst/>
          </a:prstGeom>
          <a:noFill/>
          <a:ln/>
        </p:spPr>
        <p:txBody>
          <a:bodyPr wrap="square" lIns="0" tIns="0" rIns="0" bIns="0" rtlCol="0" anchor="ctr"/>
          <a:lstStyle/>
          <a:p>
            <a:pPr marL="0" indent="0">
              <a:buNone/>
            </a:pPr>
            <a:r>
              <a:rPr lang="en-US" sz="1500" b="1" dirty="0">
                <a:solidFill>
                  <a:srgbClr val="2D2D2B"/>
                </a:solidFill>
                <a:latin typeface="Arial" pitchFamily="34" charset="0"/>
                <a:ea typeface="Arial" pitchFamily="34" charset="-122"/>
                <a:cs typeface="Arial" pitchFamily="34" charset="-120"/>
              </a:rPr>
              <a:t>Resilient by design</a:t>
            </a:r>
            <a:endParaRPr lang="en-US" sz="1500" dirty="0"/>
          </a:p>
        </p:txBody>
      </p:sp>
      <p:sp>
        <p:nvSpPr>
          <p:cNvPr id="16" name="Text 12"/>
          <p:cNvSpPr/>
          <p:nvPr/>
        </p:nvSpPr>
        <p:spPr>
          <a:xfrm>
            <a:off x="7772400" y="5074920"/>
            <a:ext cx="3657600" cy="10972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333331"/>
                </a:solidFill>
                <a:latin typeface="Arial" pitchFamily="34" charset="0"/>
                <a:ea typeface="Arial" pitchFamily="34" charset="-122"/>
                <a:cs typeface="Arial" pitchFamily="34" charset="-120"/>
              </a:rPr>
              <a:t>No broker → logs to console, keeps running.</a:t>
            </a:r>
            <a:endParaRPr lang="en-US" sz="1250" dirty="0"/>
          </a:p>
          <a:p>
            <a:pPr marL="177800" indent="-177800">
              <a:spcAft>
                <a:spcPts val="600"/>
              </a:spcAft>
              <a:buSzPct val="100000"/>
              <a:buChar char="•"/>
            </a:pPr>
            <a:r>
              <a:rPr lang="en-US" sz="1250" dirty="0">
                <a:solidFill>
                  <a:srgbClr val="333331"/>
                </a:solidFill>
                <a:latin typeface="Arial" pitchFamily="34" charset="0"/>
                <a:ea typeface="Arial" pitchFamily="34" charset="-122"/>
                <a:cs typeface="Arial" pitchFamily="34" charset="-120"/>
              </a:rPr>
              <a:t>Auto-reconnect; bad commands are dropped, not fatal.</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40080" y="502920"/>
            <a:ext cx="9144000" cy="292608"/>
          </a:xfrm>
          <a:prstGeom prst="rect">
            <a:avLst/>
          </a:prstGeom>
          <a:noFill/>
          <a:ln/>
        </p:spPr>
        <p:txBody>
          <a:bodyPr wrap="square" lIns="0" tIns="0" rIns="0" bIns="0" rtlCol="0" anchor="ctr"/>
          <a:lstStyle/>
          <a:p>
            <a:pPr marL="0" indent="0">
              <a:buNone/>
            </a:pPr>
            <a:r>
              <a:rPr lang="en-US" sz="1200" b="1" kern="0" spc="200" dirty="0">
                <a:solidFill>
                  <a:srgbClr val="0B6E7A"/>
                </a:solidFill>
                <a:latin typeface="Arial" pitchFamily="34" charset="0"/>
                <a:ea typeface="Arial" pitchFamily="34" charset="-122"/>
                <a:cs typeface="Arial" pitchFamily="34" charset="-120"/>
              </a:rPr>
              <a:t>PART 1 · STATUS PAYLOAD</a:t>
            </a:r>
            <a:endParaRPr lang="en-US" sz="1200" dirty="0"/>
          </a:p>
        </p:txBody>
      </p:sp>
      <p:sp>
        <p:nvSpPr>
          <p:cNvPr id="4" name="Text 2"/>
          <p:cNvSpPr/>
          <p:nvPr/>
        </p:nvSpPr>
        <p:spPr>
          <a:xfrm>
            <a:off x="640080" y="804672"/>
            <a:ext cx="10515600" cy="731520"/>
          </a:xfrm>
          <a:prstGeom prst="rect">
            <a:avLst/>
          </a:prstGeom>
          <a:noFill/>
          <a:ln/>
        </p:spPr>
        <p:txBody>
          <a:bodyPr wrap="square" lIns="0" tIns="0" rIns="0" bIns="0" rtlCol="0" anchor="ctr"/>
          <a:lstStyle/>
          <a:p>
            <a:pPr marL="0" indent="0">
              <a:buNone/>
            </a:pPr>
            <a:r>
              <a:rPr lang="en-US" sz="2800" b="1" dirty="0">
                <a:solidFill>
                  <a:srgbClr val="2D2D2B"/>
                </a:solidFill>
                <a:latin typeface="Arial" pitchFamily="34" charset="0"/>
                <a:ea typeface="Arial" pitchFamily="34" charset="-122"/>
                <a:cs typeface="Arial" pitchFamily="34" charset="-120"/>
              </a:rPr>
              <a:t>Reading a status message: fields and meaning</a:t>
            </a:r>
            <a:endParaRPr lang="en-US" sz="2800" dirty="0"/>
          </a:p>
        </p:txBody>
      </p:sp>
      <p:sp>
        <p:nvSpPr>
          <p:cNvPr id="5" name="Shape 3"/>
          <p:cNvSpPr/>
          <p:nvPr/>
        </p:nvSpPr>
        <p:spPr>
          <a:xfrm>
            <a:off x="640080" y="6382512"/>
            <a:ext cx="10908792" cy="0"/>
          </a:xfrm>
          <a:prstGeom prst="line">
            <a:avLst/>
          </a:prstGeom>
          <a:noFill/>
          <a:ln w="9525">
            <a:solidFill>
              <a:srgbClr val="D7D7D5"/>
            </a:solidFill>
            <a:prstDash val="solid"/>
          </a:ln>
        </p:spPr>
        <p:txBody>
          <a:bodyPr/>
          <a:lstStyle/>
          <a:p>
            <a:endParaRPr lang="de-DE"/>
          </a:p>
        </p:txBody>
      </p:sp>
      <p:sp>
        <p:nvSpPr>
          <p:cNvPr id="6" name="Text 4"/>
          <p:cNvSpPr/>
          <p:nvPr/>
        </p:nvSpPr>
        <p:spPr>
          <a:xfrm>
            <a:off x="640080" y="6437376"/>
            <a:ext cx="8229600" cy="274320"/>
          </a:xfrm>
          <a:prstGeom prst="rect">
            <a:avLst/>
          </a:prstGeom>
          <a:noFill/>
          <a:ln/>
        </p:spPr>
        <p:txBody>
          <a:bodyPr wrap="square" lIns="0" tIns="0" rIns="0" bIns="0" rtlCol="0" anchor="ctr"/>
          <a:lstStyle/>
          <a:p>
            <a:pPr marL="0" indent="0">
              <a:buNone/>
            </a:pPr>
            <a:r>
              <a:rPr lang="en-US" sz="900" dirty="0">
                <a:solidFill>
                  <a:srgbClr val="6E6E6C"/>
                </a:solidFill>
                <a:latin typeface="Arial" pitchFamily="34" charset="0"/>
                <a:ea typeface="Arial" pitchFamily="34" charset="-122"/>
                <a:cs typeface="Arial" pitchFamily="34" charset="-120"/>
              </a:rPr>
              <a:t>HTWG Konstanz  ·  System Architecture  ·  Group E</a:t>
            </a:r>
            <a:endParaRPr lang="en-US" sz="900" dirty="0"/>
          </a:p>
        </p:txBody>
      </p:sp>
      <p:sp>
        <p:nvSpPr>
          <p:cNvPr id="7" name="Text 5"/>
          <p:cNvSpPr/>
          <p:nvPr/>
        </p:nvSpPr>
        <p:spPr>
          <a:xfrm>
            <a:off x="10881360" y="6437376"/>
            <a:ext cx="667512" cy="274320"/>
          </a:xfrm>
          <a:prstGeom prst="rect">
            <a:avLst/>
          </a:prstGeom>
          <a:noFill/>
          <a:ln/>
        </p:spPr>
        <p:txBody>
          <a:bodyPr wrap="square" lIns="0" tIns="0" rIns="0" bIns="0" rtlCol="0" anchor="ctr"/>
          <a:lstStyle/>
          <a:p>
            <a:pPr marL="0" indent="0" algn="r">
              <a:buNone/>
            </a:pPr>
            <a:r>
              <a:rPr lang="en-US" sz="900" dirty="0">
                <a:solidFill>
                  <a:srgbClr val="6E6E6C"/>
                </a:solidFill>
                <a:latin typeface="Arial" pitchFamily="34" charset="0"/>
                <a:ea typeface="Arial" pitchFamily="34" charset="-122"/>
                <a:cs typeface="Arial" pitchFamily="34" charset="-120"/>
              </a:rPr>
              <a:t>5</a:t>
            </a:r>
            <a:endParaRPr lang="en-US" sz="900" dirty="0"/>
          </a:p>
        </p:txBody>
      </p:sp>
      <p:sp>
        <p:nvSpPr>
          <p:cNvPr id="9" name="Text 6"/>
          <p:cNvSpPr/>
          <p:nvPr/>
        </p:nvSpPr>
        <p:spPr>
          <a:xfrm>
            <a:off x="640080" y="1517904"/>
            <a:ext cx="11155680" cy="457200"/>
          </a:xfrm>
          <a:prstGeom prst="rect">
            <a:avLst/>
          </a:prstGeom>
          <a:noFill/>
          <a:ln/>
        </p:spPr>
        <p:txBody>
          <a:bodyPr wrap="square" lIns="0" tIns="0" rIns="0" bIns="0" rtlCol="0" anchor="ctr"/>
          <a:lstStyle/>
          <a:p>
            <a:pPr marL="0" indent="0">
              <a:buNone/>
            </a:pPr>
            <a:r>
              <a:rPr lang="en-US" sz="1350" dirty="0">
                <a:solidFill>
                  <a:srgbClr val="6E6E6C"/>
                </a:solidFill>
                <a:latin typeface="Arial" pitchFamily="34" charset="0"/>
                <a:ea typeface="Arial" pitchFamily="34" charset="-122"/>
                <a:cs typeface="Arial" pitchFamily="34" charset="-120"/>
              </a:rPr>
              <a:t>Every cycle the controller publishes one StatusMessage; the HMI renders it. Example from the demo run in Part 2 (cabin going down to level 1):</a:t>
            </a:r>
            <a:endParaRPr lang="en-US" sz="13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2103120"/>
          <a:ext cx="10908792" cy="4023360"/>
        </p:xfrm>
        <a:graphic>
          <a:graphicData uri="http://schemas.openxmlformats.org/drawingml/2006/table">
            <a:tbl>
              <a:tblPr/>
              <a:tblGrid>
                <a:gridCol w="24688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6885432">
                  <a:extLst>
                    <a:ext uri="{9D8B030D-6E8A-4147-A177-3AD203B41FA5}">
                      <a16:colId xmlns:a16="http://schemas.microsoft.com/office/drawing/2014/main" val="20002"/>
                    </a:ext>
                  </a:extLst>
                </a:gridCol>
              </a:tblGrid>
              <a:tr h="365760">
                <a:tc>
                  <a:txBody>
                    <a:bodyPr/>
                    <a:lstStyle/>
                    <a:p>
                      <a:pPr marL="0" indent="0">
                        <a:buNone/>
                      </a:pPr>
                      <a:r>
                        <a:rPr lang="en-US" sz="1300" b="1" dirty="0">
                          <a:solidFill>
                            <a:srgbClr val="FFFFFF"/>
                          </a:solidFill>
                          <a:latin typeface="Arial" pitchFamily="34" charset="0"/>
                          <a:ea typeface="Arial" pitchFamily="34" charset="-122"/>
                          <a:cs typeface="Arial" pitchFamily="34" charset="-120"/>
                        </a:rPr>
                        <a:t>Field</a:t>
                      </a:r>
                      <a:endParaRPr lang="en-US" sz="130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2D2D2B"/>
                    </a:solidFill>
                  </a:tcPr>
                </a:tc>
                <a:tc>
                  <a:txBody>
                    <a:bodyPr/>
                    <a:lstStyle/>
                    <a:p>
                      <a:pPr marL="0" indent="0">
                        <a:buNone/>
                      </a:pPr>
                      <a:r>
                        <a:rPr lang="en-US" sz="1300" b="1" dirty="0">
                          <a:solidFill>
                            <a:srgbClr val="FFFFFF"/>
                          </a:solidFill>
                          <a:latin typeface="Arial" pitchFamily="34" charset="0"/>
                          <a:ea typeface="Arial" pitchFamily="34" charset="-122"/>
                          <a:cs typeface="Arial" pitchFamily="34" charset="-120"/>
                        </a:rPr>
                        <a:t>Example</a:t>
                      </a:r>
                      <a:endParaRPr lang="en-US" sz="130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2D2D2B"/>
                    </a:solidFill>
                  </a:tcPr>
                </a:tc>
                <a:tc>
                  <a:txBody>
                    <a:bodyPr/>
                    <a:lstStyle/>
                    <a:p>
                      <a:pPr marL="0" indent="0">
                        <a:buNone/>
                      </a:pPr>
                      <a:r>
                        <a:rPr lang="en-US" sz="1300" b="1" dirty="0">
                          <a:solidFill>
                            <a:srgbClr val="FFFFFF"/>
                          </a:solidFill>
                          <a:latin typeface="Arial" pitchFamily="34" charset="0"/>
                          <a:ea typeface="Arial" pitchFamily="34" charset="-122"/>
                          <a:cs typeface="Arial" pitchFamily="34" charset="-120"/>
                        </a:rPr>
                        <a:t>Meaning</a:t>
                      </a:r>
                      <a:endParaRPr lang="en-US" sz="130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2D2D2B"/>
                    </a:solidFill>
                  </a:tcPr>
                </a:tc>
                <a:extLst>
                  <a:ext uri="{0D108BD9-81ED-4DB2-BD59-A6C34878D82A}">
                    <a16:rowId xmlns:a16="http://schemas.microsoft.com/office/drawing/2014/main" val="10000"/>
                  </a:ext>
                </a:extLst>
              </a:tr>
              <a:tr h="365760">
                <a:tc>
                  <a:txBody>
                    <a:bodyPr/>
                    <a:lstStyle/>
                    <a:p>
                      <a:pPr marL="0" indent="0">
                        <a:buNone/>
                      </a:pPr>
                      <a:r>
                        <a:rPr lang="en-US" sz="1250" dirty="0">
                          <a:solidFill>
                            <a:srgbClr val="333331"/>
                          </a:solidFill>
                          <a:latin typeface="Arial" pitchFamily="34" charset="0"/>
                          <a:ea typeface="Arial" pitchFamily="34" charset="-122"/>
                          <a:cs typeface="Arial" pitchFamily="34" charset="-120"/>
                        </a:rPr>
                        <a:t>level</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tc>
                  <a:txBody>
                    <a:bodyPr/>
                    <a:lstStyle/>
                    <a:p>
                      <a:pPr marL="0" indent="0">
                        <a:buNone/>
                      </a:pPr>
                      <a:r>
                        <a:rPr lang="en-US" sz="1250" dirty="0">
                          <a:solidFill>
                            <a:srgbClr val="333331"/>
                          </a:solidFill>
                          <a:latin typeface="Arial" pitchFamily="34" charset="0"/>
                          <a:ea typeface="Arial" pitchFamily="34" charset="-122"/>
                          <a:cs typeface="Arial" pitchFamily="34" charset="-120"/>
                        </a:rPr>
                        <a:t>4</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tc>
                  <a:txBody>
                    <a:bodyPr/>
                    <a:lstStyle/>
                    <a:p>
                      <a:pPr marL="0" indent="0">
                        <a:buNone/>
                      </a:pPr>
                      <a:r>
                        <a:rPr lang="en-US" sz="1250" dirty="0">
                          <a:solidFill>
                            <a:srgbClr val="333331"/>
                          </a:solidFill>
                          <a:latin typeface="Arial" pitchFamily="34" charset="0"/>
                          <a:ea typeface="Arial" pitchFamily="34" charset="-122"/>
                          <a:cs typeface="Arial" pitchFamily="34" charset="-120"/>
                        </a:rPr>
                        <a:t>Current floor of the cabin (1–4)</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250" dirty="0">
                          <a:solidFill>
                            <a:srgbClr val="333331"/>
                          </a:solidFill>
                          <a:latin typeface="Arial" pitchFamily="34" charset="0"/>
                          <a:ea typeface="Arial" pitchFamily="34" charset="-122"/>
                          <a:cs typeface="Arial" pitchFamily="34" charset="-120"/>
                        </a:rPr>
                        <a:t>direction</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tc>
                  <a:txBody>
                    <a:bodyPr/>
                    <a:lstStyle/>
                    <a:p>
                      <a:pPr marL="0" indent="0">
                        <a:buNone/>
                      </a:pPr>
                      <a:r>
                        <a:rPr lang="en-US" sz="1250" dirty="0">
                          <a:solidFill>
                            <a:srgbClr val="333331"/>
                          </a:solidFill>
                          <a:latin typeface="Arial" pitchFamily="34" charset="0"/>
                          <a:ea typeface="Arial" pitchFamily="34" charset="-122"/>
                          <a:cs typeface="Arial" pitchFamily="34" charset="-120"/>
                        </a:rPr>
                        <a:t>DOWN</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tc>
                  <a:txBody>
                    <a:bodyPr/>
                    <a:lstStyle/>
                    <a:p>
                      <a:pPr marL="0" indent="0">
                        <a:buNone/>
                      </a:pPr>
                      <a:r>
                        <a:rPr lang="en-US" sz="1250" dirty="0">
                          <a:solidFill>
                            <a:srgbClr val="333331"/>
                          </a:solidFill>
                          <a:latin typeface="Arial" pitchFamily="34" charset="0"/>
                          <a:ea typeface="Arial" pitchFamily="34" charset="-122"/>
                          <a:cs typeface="Arial" pitchFamily="34" charset="-120"/>
                        </a:rPr>
                        <a:t>Travel direction: UP / DOWN / NONE</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250" dirty="0">
                          <a:solidFill>
                            <a:srgbClr val="333331"/>
                          </a:solidFill>
                          <a:latin typeface="Arial" pitchFamily="34" charset="0"/>
                          <a:ea typeface="Arial" pitchFamily="34" charset="-122"/>
                          <a:cs typeface="Arial" pitchFamily="34" charset="-120"/>
                        </a:rPr>
                        <a:t>phase</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tc>
                  <a:txBody>
                    <a:bodyPr/>
                    <a:lstStyle/>
                    <a:p>
                      <a:pPr marL="0" indent="0">
                        <a:buNone/>
                      </a:pPr>
                      <a:r>
                        <a:rPr lang="en-US" sz="1250" dirty="0">
                          <a:solidFill>
                            <a:srgbClr val="333331"/>
                          </a:solidFill>
                          <a:latin typeface="Arial" pitchFamily="34" charset="0"/>
                          <a:ea typeface="Arial" pitchFamily="34" charset="-122"/>
                          <a:cs typeface="Arial" pitchFamily="34" charset="-120"/>
                        </a:rPr>
                        <a:t>MOVING</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tc>
                  <a:txBody>
                    <a:bodyPr/>
                    <a:lstStyle/>
                    <a:p>
                      <a:pPr marL="0" indent="0">
                        <a:buNone/>
                      </a:pPr>
                      <a:r>
                        <a:rPr lang="en-US" sz="1250" dirty="0">
                          <a:solidFill>
                            <a:srgbClr val="333331"/>
                          </a:solidFill>
                          <a:latin typeface="Arial" pitchFamily="34" charset="0"/>
                          <a:ea typeface="Arial" pitchFamily="34" charset="-122"/>
                          <a:cs typeface="Arial" pitchFamily="34" charset="-120"/>
                        </a:rPr>
                        <a:t>Control state machine phase</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250" dirty="0">
                          <a:solidFill>
                            <a:srgbClr val="333331"/>
                          </a:solidFill>
                          <a:latin typeface="Arial" pitchFamily="34" charset="0"/>
                          <a:ea typeface="Arial" pitchFamily="34" charset="-122"/>
                          <a:cs typeface="Arial" pitchFamily="34" charset="-120"/>
                        </a:rPr>
                        <a:t>door</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tc>
                  <a:txBody>
                    <a:bodyPr/>
                    <a:lstStyle/>
                    <a:p>
                      <a:pPr marL="0" indent="0">
                        <a:buNone/>
                      </a:pPr>
                      <a:r>
                        <a:rPr lang="en-US" sz="1250" dirty="0">
                          <a:solidFill>
                            <a:srgbClr val="333331"/>
                          </a:solidFill>
                          <a:latin typeface="Arial" pitchFamily="34" charset="0"/>
                          <a:ea typeface="Arial" pitchFamily="34" charset="-122"/>
                          <a:cs typeface="Arial" pitchFamily="34" charset="-120"/>
                        </a:rPr>
                        <a:t>CLOSED</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tc>
                  <a:txBody>
                    <a:bodyPr/>
                    <a:lstStyle/>
                    <a:p>
                      <a:pPr marL="0" indent="0">
                        <a:buNone/>
                      </a:pPr>
                      <a:r>
                        <a:rPr lang="en-US" sz="1250" dirty="0">
                          <a:solidFill>
                            <a:srgbClr val="333331"/>
                          </a:solidFill>
                          <a:latin typeface="Arial" pitchFamily="34" charset="0"/>
                          <a:ea typeface="Arial" pitchFamily="34" charset="-122"/>
                          <a:cs typeface="Arial" pitchFamily="34" charset="-120"/>
                        </a:rPr>
                        <a:t>Door state: OPEN / CLOSED / MOVING / UNKNOWN</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1250" dirty="0">
                          <a:solidFill>
                            <a:srgbClr val="333331"/>
                          </a:solidFill>
                          <a:latin typeface="Arial" pitchFamily="34" charset="0"/>
                          <a:ea typeface="Arial" pitchFamily="34" charset="-122"/>
                          <a:cs typeface="Arial" pitchFamily="34" charset="-120"/>
                        </a:rPr>
                        <a:t>velocity</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tc>
                  <a:txBody>
                    <a:bodyPr/>
                    <a:lstStyle/>
                    <a:p>
                      <a:pPr marL="0" indent="0">
                        <a:buNone/>
                      </a:pPr>
                      <a:r>
                        <a:rPr lang="en-US" sz="1250" dirty="0">
                          <a:solidFill>
                            <a:srgbClr val="333331"/>
                          </a:solidFill>
                          <a:latin typeface="Arial" pitchFamily="34" charset="0"/>
                          <a:ea typeface="Arial" pitchFamily="34" charset="-122"/>
                          <a:cs typeface="Arial" pitchFamily="34" charset="-120"/>
                        </a:rPr>
                        <a:t>−100</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tc>
                  <a:txBody>
                    <a:bodyPr/>
                    <a:lstStyle/>
                    <a:p>
                      <a:pPr marL="0" indent="0">
                        <a:buNone/>
                      </a:pPr>
                      <a:r>
                        <a:rPr lang="en-US" sz="1250" dirty="0">
                          <a:solidFill>
                            <a:srgbClr val="333331"/>
                          </a:solidFill>
                          <a:latin typeface="Arial" pitchFamily="34" charset="0"/>
                          <a:ea typeface="Arial" pitchFamily="34" charset="-122"/>
                          <a:cs typeface="Arial" pitchFamily="34" charset="-120"/>
                        </a:rPr>
                        <a:t>Speed in cm/s; sign gives direction (− = down)</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buNone/>
                      </a:pPr>
                      <a:r>
                        <a:rPr lang="en-US" sz="1250" dirty="0">
                          <a:solidFill>
                            <a:srgbClr val="333331"/>
                          </a:solidFill>
                          <a:latin typeface="Arial" pitchFamily="34" charset="0"/>
                          <a:ea typeface="Arial" pitchFamily="34" charset="-122"/>
                          <a:cs typeface="Arial" pitchFamily="34" charset="-120"/>
                        </a:rPr>
                        <a:t>emergencyActive</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tc>
                  <a:txBody>
                    <a:bodyPr/>
                    <a:lstStyle/>
                    <a:p>
                      <a:pPr marL="0" indent="0">
                        <a:buNone/>
                      </a:pPr>
                      <a:r>
                        <a:rPr lang="en-US" sz="1250" dirty="0">
                          <a:solidFill>
                            <a:srgbClr val="333331"/>
                          </a:solidFill>
                          <a:latin typeface="Arial" pitchFamily="34" charset="0"/>
                          <a:ea typeface="Arial" pitchFamily="34" charset="-122"/>
                          <a:cs typeface="Arial" pitchFamily="34" charset="-120"/>
                        </a:rPr>
                        <a:t>false</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tc>
                  <a:txBody>
                    <a:bodyPr/>
                    <a:lstStyle/>
                    <a:p>
                      <a:pPr marL="0" indent="0">
                        <a:buNone/>
                      </a:pPr>
                      <a:r>
                        <a:rPr lang="en-US" sz="1250" dirty="0">
                          <a:solidFill>
                            <a:srgbClr val="333331"/>
                          </a:solidFill>
                          <a:latin typeface="Arial" pitchFamily="34" charset="0"/>
                          <a:ea typeface="Arial" pitchFamily="34" charset="-122"/>
                          <a:cs typeface="Arial" pitchFamily="34" charset="-120"/>
                        </a:rPr>
                        <a:t>Is the emergency stop engaged?</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5760">
                <a:tc>
                  <a:txBody>
                    <a:bodyPr/>
                    <a:lstStyle/>
                    <a:p>
                      <a:pPr marL="0" indent="0">
                        <a:buNone/>
                      </a:pPr>
                      <a:r>
                        <a:rPr lang="en-US" sz="1250" dirty="0">
                          <a:solidFill>
                            <a:srgbClr val="333331"/>
                          </a:solidFill>
                          <a:latin typeface="Arial" pitchFamily="34" charset="0"/>
                          <a:ea typeface="Arial" pitchFamily="34" charset="-122"/>
                          <a:cs typeface="Arial" pitchFamily="34" charset="-120"/>
                        </a:rPr>
                        <a:t>motorError</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tc>
                  <a:txBody>
                    <a:bodyPr/>
                    <a:lstStyle/>
                    <a:p>
                      <a:pPr marL="0" indent="0">
                        <a:buNone/>
                      </a:pPr>
                      <a:r>
                        <a:rPr lang="en-US" sz="1250" dirty="0">
                          <a:solidFill>
                            <a:srgbClr val="333331"/>
                          </a:solidFill>
                          <a:latin typeface="Arial" pitchFamily="34" charset="0"/>
                          <a:ea typeface="Arial" pitchFamily="34" charset="-122"/>
                          <a:cs typeface="Arial" pitchFamily="34" charset="-120"/>
                        </a:rPr>
                        <a:t>false</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tc>
                  <a:txBody>
                    <a:bodyPr/>
                    <a:lstStyle/>
                    <a:p>
                      <a:pPr marL="0" indent="0">
                        <a:buNone/>
                      </a:pPr>
                      <a:r>
                        <a:rPr lang="en-US" sz="1250" dirty="0">
                          <a:solidFill>
                            <a:srgbClr val="333331"/>
                          </a:solidFill>
                          <a:latin typeface="Arial" pitchFamily="34" charset="0"/>
                          <a:ea typeface="Arial" pitchFamily="34" charset="-122"/>
                          <a:cs typeface="Arial" pitchFamily="34" charset="-120"/>
                        </a:rPr>
                        <a:t>Is a motor fault present? (clearable by reset)</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marL="0" indent="0">
                        <a:buNone/>
                      </a:pPr>
                      <a:r>
                        <a:rPr lang="en-US" sz="1250" dirty="0">
                          <a:solidFill>
                            <a:srgbClr val="333331"/>
                          </a:solidFill>
                          <a:latin typeface="Arial" pitchFamily="34" charset="0"/>
                          <a:ea typeface="Arial" pitchFamily="34" charset="-122"/>
                          <a:cs typeface="Arial" pitchFamily="34" charset="-120"/>
                        </a:rPr>
                        <a:t>cabinCalls</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tc>
                  <a:txBody>
                    <a:bodyPr/>
                    <a:lstStyle/>
                    <a:p>
                      <a:pPr marL="0" indent="0">
                        <a:buNone/>
                      </a:pPr>
                      <a:r>
                        <a:rPr lang="en-US" sz="1250" dirty="0">
                          <a:solidFill>
                            <a:srgbClr val="333331"/>
                          </a:solidFill>
                          <a:latin typeface="Arial" pitchFamily="34" charset="0"/>
                          <a:ea typeface="Arial" pitchFamily="34" charset="-122"/>
                          <a:cs typeface="Arial" pitchFamily="34" charset="-120"/>
                        </a:rPr>
                        <a:t>[1]</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tc>
                  <a:txBody>
                    <a:bodyPr/>
                    <a:lstStyle/>
                    <a:p>
                      <a:pPr marL="0" indent="0">
                        <a:buNone/>
                      </a:pPr>
                      <a:r>
                        <a:rPr lang="en-US" sz="1250" dirty="0">
                          <a:solidFill>
                            <a:srgbClr val="333331"/>
                          </a:solidFill>
                          <a:latin typeface="Arial" pitchFamily="34" charset="0"/>
                          <a:ea typeface="Arial" pitchFamily="34" charset="-122"/>
                          <a:cs typeface="Arial" pitchFamily="34" charset="-120"/>
                        </a:rPr>
                        <a:t>Pending in-cabin target floors</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65760">
                <a:tc>
                  <a:txBody>
                    <a:bodyPr/>
                    <a:lstStyle/>
                    <a:p>
                      <a:pPr marL="0" indent="0">
                        <a:buNone/>
                      </a:pPr>
                      <a:r>
                        <a:rPr lang="en-US" sz="1250" dirty="0">
                          <a:solidFill>
                            <a:srgbClr val="333331"/>
                          </a:solidFill>
                          <a:latin typeface="Arial" pitchFamily="34" charset="0"/>
                          <a:ea typeface="Arial" pitchFamily="34" charset="-122"/>
                          <a:cs typeface="Arial" pitchFamily="34" charset="-120"/>
                        </a:rPr>
                        <a:t>hallUpCalls</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tc>
                  <a:txBody>
                    <a:bodyPr/>
                    <a:lstStyle/>
                    <a:p>
                      <a:pPr marL="0" indent="0">
                        <a:buNone/>
                      </a:pPr>
                      <a:r>
                        <a:rPr lang="en-US" sz="1250" dirty="0">
                          <a:solidFill>
                            <a:srgbClr val="333331"/>
                          </a:solidFill>
                          <a:latin typeface="Arial" pitchFamily="34" charset="0"/>
                          <a:ea typeface="Arial" pitchFamily="34" charset="-122"/>
                          <a:cs typeface="Arial" pitchFamily="34" charset="-120"/>
                        </a:rPr>
                        <a:t>[ ]</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tc>
                  <a:txBody>
                    <a:bodyPr/>
                    <a:lstStyle/>
                    <a:p>
                      <a:pPr marL="0" indent="0">
                        <a:buNone/>
                      </a:pPr>
                      <a:r>
                        <a:rPr lang="en-US" sz="1250" dirty="0">
                          <a:solidFill>
                            <a:srgbClr val="333331"/>
                          </a:solidFill>
                          <a:latin typeface="Arial" pitchFamily="34" charset="0"/>
                          <a:ea typeface="Arial" pitchFamily="34" charset="-122"/>
                          <a:cs typeface="Arial" pitchFamily="34" charset="-120"/>
                        </a:rPr>
                        <a:t>Pending hall calls wanting to go UP</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65760">
                <a:tc>
                  <a:txBody>
                    <a:bodyPr/>
                    <a:lstStyle/>
                    <a:p>
                      <a:pPr marL="0" indent="0">
                        <a:buNone/>
                      </a:pPr>
                      <a:r>
                        <a:rPr lang="en-US" sz="1250" dirty="0">
                          <a:solidFill>
                            <a:srgbClr val="333331"/>
                          </a:solidFill>
                          <a:latin typeface="Arial" pitchFamily="34" charset="0"/>
                          <a:ea typeface="Arial" pitchFamily="34" charset="-122"/>
                          <a:cs typeface="Arial" pitchFamily="34" charset="-120"/>
                        </a:rPr>
                        <a:t>hallDownCalls</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tc>
                  <a:txBody>
                    <a:bodyPr/>
                    <a:lstStyle/>
                    <a:p>
                      <a:pPr marL="0" indent="0">
                        <a:buNone/>
                      </a:pPr>
                      <a:r>
                        <a:rPr lang="en-US" sz="1250" dirty="0">
                          <a:solidFill>
                            <a:srgbClr val="333331"/>
                          </a:solidFill>
                          <a:latin typeface="Arial" pitchFamily="34" charset="0"/>
                          <a:ea typeface="Arial" pitchFamily="34" charset="-122"/>
                          <a:cs typeface="Arial" pitchFamily="34" charset="-120"/>
                        </a:rPr>
                        <a:t>[ ]</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tc>
                  <a:txBody>
                    <a:bodyPr/>
                    <a:lstStyle/>
                    <a:p>
                      <a:pPr marL="0" indent="0">
                        <a:buNone/>
                      </a:pPr>
                      <a:r>
                        <a:rPr lang="en-US" sz="1250" dirty="0">
                          <a:solidFill>
                            <a:srgbClr val="333331"/>
                          </a:solidFill>
                          <a:latin typeface="Arial" pitchFamily="34" charset="0"/>
                          <a:ea typeface="Arial" pitchFamily="34" charset="-122"/>
                          <a:cs typeface="Arial" pitchFamily="34" charset="-120"/>
                        </a:rPr>
                        <a:t>Pending hall calls wanting to go DOWN</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11" name="Text 7"/>
          <p:cNvSpPr/>
          <p:nvPr/>
        </p:nvSpPr>
        <p:spPr>
          <a:xfrm>
            <a:off x="640080" y="6163056"/>
            <a:ext cx="10972800" cy="274320"/>
          </a:xfrm>
          <a:prstGeom prst="rect">
            <a:avLst/>
          </a:prstGeom>
          <a:noFill/>
          <a:ln/>
        </p:spPr>
        <p:txBody>
          <a:bodyPr wrap="square" lIns="0" tIns="0" rIns="0" bIns="0" rtlCol="0" anchor="ctr"/>
          <a:lstStyle/>
          <a:p>
            <a:pPr marL="0" indent="0">
              <a:buNone/>
            </a:pPr>
            <a:r>
              <a:rPr lang="en-US" sz="1100" i="1" dirty="0">
                <a:solidFill>
                  <a:srgbClr val="6E6E6C"/>
                </a:solidFill>
                <a:latin typeface="Arial" pitchFamily="34" charset="0"/>
                <a:ea typeface="Arial" pitchFamily="34" charset="-122"/>
                <a:cs typeface="Arial" pitchFamily="34" charset="-120"/>
              </a:rPr>
              <a:t>Field names are the JSON keys; they are identical on both sides of the MQTT contract.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40080" y="502920"/>
            <a:ext cx="9144000" cy="292608"/>
          </a:xfrm>
          <a:prstGeom prst="rect">
            <a:avLst/>
          </a:prstGeom>
          <a:noFill/>
          <a:ln/>
        </p:spPr>
        <p:txBody>
          <a:bodyPr wrap="square" lIns="0" tIns="0" rIns="0" bIns="0" rtlCol="0" anchor="ctr"/>
          <a:lstStyle/>
          <a:p>
            <a:pPr marL="0" indent="0">
              <a:buNone/>
            </a:pPr>
            <a:r>
              <a:rPr lang="en-US" sz="1200" b="1" kern="0" spc="200" dirty="0">
                <a:solidFill>
                  <a:srgbClr val="0B6E7A"/>
                </a:solidFill>
                <a:latin typeface="Arial" pitchFamily="34" charset="0"/>
                <a:ea typeface="Arial" pitchFamily="34" charset="-122"/>
                <a:cs typeface="Arial" pitchFamily="34" charset="-120"/>
              </a:rPr>
              <a:t>PART 1 · THE HMI APP</a:t>
            </a:r>
            <a:endParaRPr lang="en-US" sz="1200" dirty="0"/>
          </a:p>
        </p:txBody>
      </p:sp>
      <p:sp>
        <p:nvSpPr>
          <p:cNvPr id="4" name="Text 2"/>
          <p:cNvSpPr/>
          <p:nvPr/>
        </p:nvSpPr>
        <p:spPr>
          <a:xfrm>
            <a:off x="640080" y="804672"/>
            <a:ext cx="10515600" cy="731520"/>
          </a:xfrm>
          <a:prstGeom prst="rect">
            <a:avLst/>
          </a:prstGeom>
          <a:noFill/>
          <a:ln/>
        </p:spPr>
        <p:txBody>
          <a:bodyPr wrap="square" lIns="0" tIns="0" rIns="0" bIns="0" rtlCol="0" anchor="ctr"/>
          <a:lstStyle/>
          <a:p>
            <a:pPr marL="0" indent="0">
              <a:buNone/>
            </a:pPr>
            <a:r>
              <a:rPr lang="en-US" sz="2800" b="1" dirty="0">
                <a:solidFill>
                  <a:srgbClr val="2D2D2B"/>
                </a:solidFill>
                <a:latin typeface="Arial" pitchFamily="34" charset="0"/>
                <a:ea typeface="Arial" pitchFamily="34" charset="-122"/>
                <a:cs typeface="Arial" pitchFamily="34" charset="-120"/>
              </a:rPr>
              <a:t>Our reference HMI</a:t>
            </a:r>
            <a:endParaRPr lang="en-US" sz="2800" dirty="0"/>
          </a:p>
        </p:txBody>
      </p:sp>
      <p:sp>
        <p:nvSpPr>
          <p:cNvPr id="5" name="Shape 3"/>
          <p:cNvSpPr/>
          <p:nvPr/>
        </p:nvSpPr>
        <p:spPr>
          <a:xfrm>
            <a:off x="640080" y="6382512"/>
            <a:ext cx="10908792" cy="0"/>
          </a:xfrm>
          <a:prstGeom prst="line">
            <a:avLst/>
          </a:prstGeom>
          <a:noFill/>
          <a:ln w="9525">
            <a:solidFill>
              <a:srgbClr val="D7D7D5"/>
            </a:solidFill>
            <a:prstDash val="solid"/>
          </a:ln>
        </p:spPr>
        <p:txBody>
          <a:bodyPr/>
          <a:lstStyle/>
          <a:p>
            <a:endParaRPr lang="de-DE"/>
          </a:p>
        </p:txBody>
      </p:sp>
      <p:sp>
        <p:nvSpPr>
          <p:cNvPr id="6" name="Text 4"/>
          <p:cNvSpPr/>
          <p:nvPr/>
        </p:nvSpPr>
        <p:spPr>
          <a:xfrm>
            <a:off x="640080" y="6437376"/>
            <a:ext cx="8229600" cy="274320"/>
          </a:xfrm>
          <a:prstGeom prst="rect">
            <a:avLst/>
          </a:prstGeom>
          <a:noFill/>
          <a:ln/>
        </p:spPr>
        <p:txBody>
          <a:bodyPr wrap="square" lIns="0" tIns="0" rIns="0" bIns="0" rtlCol="0" anchor="ctr"/>
          <a:lstStyle/>
          <a:p>
            <a:pPr marL="0" indent="0">
              <a:buNone/>
            </a:pPr>
            <a:r>
              <a:rPr lang="en-US" sz="900" dirty="0">
                <a:solidFill>
                  <a:srgbClr val="6E6E6C"/>
                </a:solidFill>
                <a:latin typeface="Arial" pitchFamily="34" charset="0"/>
                <a:ea typeface="Arial" pitchFamily="34" charset="-122"/>
                <a:cs typeface="Arial" pitchFamily="34" charset="-120"/>
              </a:rPr>
              <a:t>HTWG Konstanz  ·  System Architecture  ·  Group E</a:t>
            </a:r>
            <a:endParaRPr lang="en-US" sz="900" dirty="0"/>
          </a:p>
        </p:txBody>
      </p:sp>
      <p:sp>
        <p:nvSpPr>
          <p:cNvPr id="7" name="Text 5"/>
          <p:cNvSpPr/>
          <p:nvPr/>
        </p:nvSpPr>
        <p:spPr>
          <a:xfrm>
            <a:off x="10881360" y="6437376"/>
            <a:ext cx="667512" cy="274320"/>
          </a:xfrm>
          <a:prstGeom prst="rect">
            <a:avLst/>
          </a:prstGeom>
          <a:noFill/>
          <a:ln/>
        </p:spPr>
        <p:txBody>
          <a:bodyPr wrap="square" lIns="0" tIns="0" rIns="0" bIns="0" rtlCol="0" anchor="ctr"/>
          <a:lstStyle/>
          <a:p>
            <a:pPr marL="0" indent="0" algn="r">
              <a:buNone/>
            </a:pPr>
            <a:r>
              <a:rPr lang="en-US" sz="900" dirty="0">
                <a:solidFill>
                  <a:srgbClr val="6E6E6C"/>
                </a:solidFill>
                <a:latin typeface="Arial" pitchFamily="34" charset="0"/>
                <a:ea typeface="Arial" pitchFamily="34" charset="-122"/>
                <a:cs typeface="Arial" pitchFamily="34" charset="-120"/>
              </a:rPr>
              <a:t>6</a:t>
            </a:r>
            <a:endParaRPr lang="en-US" sz="900" dirty="0"/>
          </a:p>
        </p:txBody>
      </p:sp>
      <p:sp>
        <p:nvSpPr>
          <p:cNvPr id="9" name="Shape 6"/>
          <p:cNvSpPr/>
          <p:nvPr/>
        </p:nvSpPr>
        <p:spPr>
          <a:xfrm>
            <a:off x="640080" y="1737360"/>
            <a:ext cx="5349240" cy="2697480"/>
          </a:xfrm>
          <a:prstGeom prst="rect">
            <a:avLst/>
          </a:prstGeom>
          <a:solidFill>
            <a:srgbClr val="F2F3F2"/>
          </a:solidFill>
          <a:ln w="12700">
            <a:solidFill>
              <a:srgbClr val="D7D7D5"/>
            </a:solidFill>
            <a:prstDash val="solid"/>
          </a:ln>
        </p:spPr>
        <p:txBody>
          <a:bodyPr/>
          <a:lstStyle/>
          <a:p>
            <a:endParaRPr lang="de-DE"/>
          </a:p>
        </p:txBody>
      </p:sp>
      <p:sp>
        <p:nvSpPr>
          <p:cNvPr id="10" name="Text 7"/>
          <p:cNvSpPr/>
          <p:nvPr/>
        </p:nvSpPr>
        <p:spPr>
          <a:xfrm>
            <a:off x="868680" y="1901952"/>
            <a:ext cx="4937760" cy="365760"/>
          </a:xfrm>
          <a:prstGeom prst="rect">
            <a:avLst/>
          </a:prstGeom>
          <a:noFill/>
          <a:ln/>
        </p:spPr>
        <p:txBody>
          <a:bodyPr wrap="square" lIns="0" tIns="0" rIns="0" bIns="0" rtlCol="0" anchor="ctr"/>
          <a:lstStyle/>
          <a:p>
            <a:pPr marL="0" indent="0">
              <a:buNone/>
            </a:pPr>
            <a:r>
              <a:rPr lang="en-US" sz="1500" b="1" dirty="0">
                <a:solidFill>
                  <a:srgbClr val="2D2D2B"/>
                </a:solidFill>
                <a:latin typeface="Arial" pitchFamily="34" charset="0"/>
                <a:ea typeface="Arial" pitchFamily="34" charset="-122"/>
                <a:cs typeface="Arial" pitchFamily="34" charset="-120"/>
              </a:rPr>
              <a:t>Graphical HMI (Swing)</a:t>
            </a:r>
            <a:endParaRPr lang="en-US" sz="1500" dirty="0"/>
          </a:p>
        </p:txBody>
      </p:sp>
      <p:sp>
        <p:nvSpPr>
          <p:cNvPr id="11" name="Text 8"/>
          <p:cNvSpPr/>
          <p:nvPr/>
        </p:nvSpPr>
        <p:spPr>
          <a:xfrm>
            <a:off x="868680" y="2304288"/>
            <a:ext cx="4937760" cy="2011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333331"/>
                </a:solidFill>
                <a:latin typeface="Arial" pitchFamily="34" charset="0"/>
                <a:ea typeface="Arial" pitchFamily="34" charset="-122"/>
                <a:cs typeface="Arial" pitchFamily="34" charset="-120"/>
              </a:rPr>
              <a:t>Animated 4-level shaft with moving cabin &amp; sliding doors.</a:t>
            </a:r>
            <a:endParaRPr lang="en-US" sz="1300" dirty="0"/>
          </a:p>
          <a:p>
            <a:pPr marL="177800" indent="-177800">
              <a:spcAft>
                <a:spcPts val="600"/>
              </a:spcAft>
              <a:buSzPct val="100000"/>
              <a:buChar char="•"/>
            </a:pPr>
            <a:r>
              <a:rPr lang="en-US" sz="1300" dirty="0">
                <a:solidFill>
                  <a:srgbClr val="333331"/>
                </a:solidFill>
                <a:latin typeface="Arial" pitchFamily="34" charset="0"/>
                <a:ea typeface="Arial" pitchFamily="34" charset="-122"/>
                <a:cs typeface="Arial" pitchFamily="34" charset="-120"/>
              </a:rPr>
              <a:t>Per-floor call lamps light up on pending calls.</a:t>
            </a:r>
            <a:endParaRPr lang="en-US" sz="1300" dirty="0"/>
          </a:p>
          <a:p>
            <a:pPr marL="177800" indent="-177800">
              <a:spcAft>
                <a:spcPts val="600"/>
              </a:spcAft>
              <a:buSzPct val="100000"/>
              <a:buChar char="•"/>
            </a:pPr>
            <a:r>
              <a:rPr lang="en-US" sz="1300" dirty="0">
                <a:solidFill>
                  <a:srgbClr val="333331"/>
                </a:solidFill>
                <a:latin typeface="Arial" pitchFamily="34" charset="0"/>
                <a:ea typeface="Arial" pitchFamily="34" charset="-122"/>
                <a:cs typeface="Arial" pitchFamily="34" charset="-120"/>
              </a:rPr>
              <a:t>Live read-outs: level, direction, phase, door, velocity.</a:t>
            </a:r>
            <a:endParaRPr lang="en-US" sz="1300" dirty="0"/>
          </a:p>
          <a:p>
            <a:pPr marL="177800" indent="-177800">
              <a:spcAft>
                <a:spcPts val="600"/>
              </a:spcAft>
              <a:buSzPct val="100000"/>
              <a:buChar char="•"/>
            </a:pPr>
            <a:r>
              <a:rPr lang="en-US" sz="1300" dirty="0">
                <a:solidFill>
                  <a:srgbClr val="333331"/>
                </a:solidFill>
                <a:latin typeface="Arial" pitchFamily="34" charset="0"/>
                <a:ea typeface="Arial" pitchFamily="34" charset="-122"/>
                <a:cs typeface="Arial" pitchFamily="34" charset="-120"/>
              </a:rPr>
              <a:t>Buttons: cabin &amp; hall calls, emergency stop, reset.</a:t>
            </a:r>
            <a:endParaRPr lang="en-US" sz="1300" dirty="0"/>
          </a:p>
          <a:p>
            <a:pPr marL="177800" indent="-177800">
              <a:spcAft>
                <a:spcPts val="600"/>
              </a:spcAft>
              <a:buSzPct val="100000"/>
              <a:buChar char="•"/>
            </a:pPr>
            <a:r>
              <a:rPr lang="en-US" sz="1300" dirty="0">
                <a:solidFill>
                  <a:srgbClr val="333331"/>
                </a:solidFill>
                <a:latin typeface="Arial" pitchFamily="34" charset="0"/>
                <a:ea typeface="Arial" pitchFamily="34" charset="-122"/>
                <a:cs typeface="Arial" pitchFamily="34" charset="-120"/>
              </a:rPr>
              <a:t>Scrolling event log (arrivals, doors, alarms).</a:t>
            </a:r>
            <a:endParaRPr lang="en-US" sz="1300" dirty="0"/>
          </a:p>
        </p:txBody>
      </p:sp>
      <p:sp>
        <p:nvSpPr>
          <p:cNvPr id="12" name="Shape 9"/>
          <p:cNvSpPr/>
          <p:nvPr/>
        </p:nvSpPr>
        <p:spPr>
          <a:xfrm>
            <a:off x="6199632" y="1737360"/>
            <a:ext cx="5349240" cy="2697480"/>
          </a:xfrm>
          <a:prstGeom prst="rect">
            <a:avLst/>
          </a:prstGeom>
          <a:solidFill>
            <a:srgbClr val="F2F3F2"/>
          </a:solidFill>
          <a:ln w="12700">
            <a:solidFill>
              <a:srgbClr val="D7D7D5"/>
            </a:solidFill>
            <a:prstDash val="solid"/>
          </a:ln>
        </p:spPr>
        <p:txBody>
          <a:bodyPr/>
          <a:lstStyle/>
          <a:p>
            <a:endParaRPr lang="de-DE"/>
          </a:p>
        </p:txBody>
      </p:sp>
      <p:sp>
        <p:nvSpPr>
          <p:cNvPr id="13" name="Text 10"/>
          <p:cNvSpPr/>
          <p:nvPr/>
        </p:nvSpPr>
        <p:spPr>
          <a:xfrm>
            <a:off x="6428232" y="1901952"/>
            <a:ext cx="4937760" cy="365760"/>
          </a:xfrm>
          <a:prstGeom prst="rect">
            <a:avLst/>
          </a:prstGeom>
          <a:noFill/>
          <a:ln/>
        </p:spPr>
        <p:txBody>
          <a:bodyPr wrap="square" lIns="0" tIns="0" rIns="0" bIns="0" rtlCol="0" anchor="ctr"/>
          <a:lstStyle/>
          <a:p>
            <a:pPr marL="0" indent="0">
              <a:buNone/>
            </a:pPr>
            <a:r>
              <a:rPr lang="en-US" sz="1500" b="1" dirty="0">
                <a:solidFill>
                  <a:srgbClr val="2D2D2B"/>
                </a:solidFill>
                <a:latin typeface="Arial" pitchFamily="34" charset="0"/>
                <a:ea typeface="Arial" pitchFamily="34" charset="-122"/>
                <a:cs typeface="Arial" pitchFamily="34" charset="-120"/>
              </a:rPr>
              <a:t>Console HMI (headless / debug)</a:t>
            </a:r>
            <a:endParaRPr lang="en-US" sz="1500" dirty="0"/>
          </a:p>
        </p:txBody>
      </p:sp>
      <p:sp>
        <p:nvSpPr>
          <p:cNvPr id="14" name="Text 11"/>
          <p:cNvSpPr/>
          <p:nvPr/>
        </p:nvSpPr>
        <p:spPr>
          <a:xfrm>
            <a:off x="6428232" y="2304288"/>
            <a:ext cx="4937760" cy="2011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333331"/>
                </a:solidFill>
                <a:latin typeface="Arial" pitchFamily="34" charset="0"/>
                <a:ea typeface="Arial" pitchFamily="34" charset="-122"/>
                <a:cs typeface="Arial" pitchFamily="34" charset="-120"/>
              </a:rPr>
              <a:t>Same MQTT contract, no GUI.</a:t>
            </a:r>
            <a:endParaRPr lang="en-US" sz="1300" dirty="0"/>
          </a:p>
          <a:p>
            <a:pPr marL="177800" indent="-177800">
              <a:spcAft>
                <a:spcPts val="600"/>
              </a:spcAft>
              <a:buSzPct val="100000"/>
              <a:buChar char="•"/>
            </a:pPr>
            <a:r>
              <a:rPr lang="en-US" sz="1300" dirty="0">
                <a:solidFill>
                  <a:srgbClr val="333331"/>
                </a:solidFill>
                <a:latin typeface="Arial" pitchFamily="34" charset="0"/>
                <a:ea typeface="Arial" pitchFamily="34" charset="-122"/>
                <a:cs typeface="Arial" pitchFamily="34" charset="-120"/>
              </a:rPr>
              <a:t>Type commands: c / u / d &lt;1-4&gt;, e, r, x.</a:t>
            </a:r>
            <a:endParaRPr lang="en-US" sz="1300" dirty="0"/>
          </a:p>
          <a:p>
            <a:pPr marL="177800" indent="-177800">
              <a:spcAft>
                <a:spcPts val="600"/>
              </a:spcAft>
              <a:buSzPct val="100000"/>
              <a:buChar char="•"/>
            </a:pPr>
            <a:r>
              <a:rPr lang="en-US" sz="1300" dirty="0">
                <a:solidFill>
                  <a:srgbClr val="333331"/>
                </a:solidFill>
                <a:latin typeface="Arial" pitchFamily="34" charset="0"/>
                <a:ea typeface="Arial" pitchFamily="34" charset="-122"/>
                <a:cs typeface="Arial" pitchFamily="34" charset="-120"/>
              </a:rPr>
              <a:t>Prints incoming status &amp; events to stdout.</a:t>
            </a:r>
            <a:endParaRPr lang="en-US" sz="1300" dirty="0"/>
          </a:p>
          <a:p>
            <a:pPr marL="177800" indent="-177800">
              <a:spcAft>
                <a:spcPts val="600"/>
              </a:spcAft>
              <a:buSzPct val="100000"/>
              <a:buChar char="•"/>
            </a:pPr>
            <a:r>
              <a:rPr lang="en-US" sz="1300" dirty="0">
                <a:solidFill>
                  <a:srgbClr val="333331"/>
                </a:solidFill>
                <a:latin typeface="Arial" pitchFamily="34" charset="0"/>
                <a:ea typeface="Arial" pitchFamily="34" charset="-122"/>
                <a:cs typeface="Arial" pitchFamily="34" charset="-120"/>
              </a:rPr>
              <a:t>Handy for testing without the lab or a display.</a:t>
            </a:r>
            <a:endParaRPr lang="en-US" sz="1300" dirty="0"/>
          </a:p>
        </p:txBody>
      </p:sp>
      <p:sp>
        <p:nvSpPr>
          <p:cNvPr id="15" name="Shape 12"/>
          <p:cNvSpPr/>
          <p:nvPr/>
        </p:nvSpPr>
        <p:spPr>
          <a:xfrm>
            <a:off x="640080" y="4617720"/>
            <a:ext cx="10908792" cy="1600200"/>
          </a:xfrm>
          <a:prstGeom prst="rect">
            <a:avLst/>
          </a:prstGeom>
          <a:solidFill>
            <a:srgbClr val="2D2D2B"/>
          </a:solidFill>
          <a:ln/>
        </p:spPr>
        <p:txBody>
          <a:bodyPr/>
          <a:lstStyle/>
          <a:p>
            <a:endParaRPr lang="de-DE"/>
          </a:p>
        </p:txBody>
      </p:sp>
      <p:sp>
        <p:nvSpPr>
          <p:cNvPr id="16" name="Text 13"/>
          <p:cNvSpPr/>
          <p:nvPr/>
        </p:nvSpPr>
        <p:spPr>
          <a:xfrm>
            <a:off x="914400" y="4736592"/>
            <a:ext cx="9144000" cy="320040"/>
          </a:xfrm>
          <a:prstGeom prst="rect">
            <a:avLst/>
          </a:prstGeom>
          <a:noFill/>
          <a:ln/>
        </p:spPr>
        <p:txBody>
          <a:bodyPr wrap="square" lIns="0" tIns="0" rIns="0" bIns="0" rtlCol="0" anchor="ctr"/>
          <a:lstStyle/>
          <a:p>
            <a:pPr marL="0" indent="0">
              <a:buNone/>
            </a:pPr>
            <a:r>
              <a:rPr lang="en-US" sz="1250" b="1" dirty="0">
                <a:solidFill>
                  <a:srgbClr val="9FB9BD"/>
                </a:solidFill>
                <a:latin typeface="Arial" pitchFamily="34" charset="0"/>
                <a:ea typeface="Arial" pitchFamily="34" charset="-122"/>
                <a:cs typeface="Arial" pitchFamily="34" charset="-120"/>
              </a:rPr>
              <a:t>Commands the HMI sends on  /SysArch/E/cmd</a:t>
            </a:r>
            <a:endParaRPr lang="en-US" sz="1250" dirty="0"/>
          </a:p>
        </p:txBody>
      </p:sp>
      <p:sp>
        <p:nvSpPr>
          <p:cNvPr id="17" name="Text 14"/>
          <p:cNvSpPr/>
          <p:nvPr/>
        </p:nvSpPr>
        <p:spPr>
          <a:xfrm>
            <a:off x="914400" y="5074920"/>
            <a:ext cx="6858000" cy="1097280"/>
          </a:xfrm>
          <a:prstGeom prst="rect">
            <a:avLst/>
          </a:prstGeom>
          <a:noFill/>
          <a:ln/>
        </p:spPr>
        <p:txBody>
          <a:bodyPr wrap="square" lIns="0" tIns="0" rIns="0" bIns="0" rtlCol="0" anchor="ctr"/>
          <a:lstStyle/>
          <a:p>
            <a:pPr marL="0" indent="0">
              <a:spcAft>
                <a:spcPts val="500"/>
              </a:spcAft>
              <a:buNone/>
            </a:pPr>
            <a:r>
              <a:rPr lang="en-US" sz="1050" dirty="0">
                <a:solidFill>
                  <a:srgbClr val="DCDCDA"/>
                </a:solidFill>
                <a:latin typeface="Consolas" pitchFamily="34" charset="0"/>
                <a:ea typeface="Consolas" pitchFamily="34" charset="-122"/>
                <a:cs typeface="Consolas" pitchFamily="34" charset="-120"/>
              </a:rPr>
              <a:t>{"type":"cabin","level":3}</a:t>
            </a:r>
            <a:endParaRPr lang="en-US" sz="1050" dirty="0"/>
          </a:p>
          <a:p>
            <a:pPr marL="0" indent="0">
              <a:spcAft>
                <a:spcPts val="500"/>
              </a:spcAft>
              <a:buNone/>
            </a:pPr>
            <a:r>
              <a:rPr lang="en-US" sz="1050" dirty="0">
                <a:solidFill>
                  <a:srgbClr val="DCDCDA"/>
                </a:solidFill>
                <a:latin typeface="Consolas" pitchFamily="34" charset="0"/>
                <a:ea typeface="Consolas" pitchFamily="34" charset="-122"/>
                <a:cs typeface="Consolas" pitchFamily="34" charset="-120"/>
              </a:rPr>
              <a:t>{"type":"hall","level":2,"direction":"UP"}</a:t>
            </a:r>
            <a:endParaRPr lang="en-US" sz="1050" dirty="0"/>
          </a:p>
          <a:p>
            <a:pPr marL="0" indent="0">
              <a:spcAft>
                <a:spcPts val="500"/>
              </a:spcAft>
              <a:buNone/>
            </a:pPr>
            <a:r>
              <a:rPr lang="en-US" sz="1050" dirty="0">
                <a:solidFill>
                  <a:srgbClr val="DCDCDA"/>
                </a:solidFill>
                <a:latin typeface="Consolas" pitchFamily="34" charset="0"/>
                <a:ea typeface="Consolas" pitchFamily="34" charset="-122"/>
                <a:cs typeface="Consolas" pitchFamily="34" charset="-120"/>
              </a:rPr>
              <a:t>{"type":"emergency","action":"engage"}    (or "clear")</a:t>
            </a:r>
            <a:endParaRPr lang="en-US" sz="1050" dirty="0"/>
          </a:p>
          <a:p>
            <a:pPr marL="0" indent="0">
              <a:buNone/>
            </a:pPr>
            <a:r>
              <a:rPr lang="en-US" sz="1050" dirty="0">
                <a:solidFill>
                  <a:srgbClr val="DCDCDA"/>
                </a:solidFill>
                <a:latin typeface="Consolas" pitchFamily="34" charset="0"/>
                <a:ea typeface="Consolas" pitchFamily="34" charset="-122"/>
                <a:cs typeface="Consolas" pitchFamily="34" charset="-120"/>
              </a:rPr>
              <a:t>{"type":"reset"}</a:t>
            </a:r>
            <a:endParaRPr lang="en-US" sz="1050" dirty="0"/>
          </a:p>
        </p:txBody>
      </p:sp>
      <p:sp>
        <p:nvSpPr>
          <p:cNvPr id="18" name="Text 15"/>
          <p:cNvSpPr/>
          <p:nvPr/>
        </p:nvSpPr>
        <p:spPr>
          <a:xfrm>
            <a:off x="7680960" y="5212080"/>
            <a:ext cx="3840480" cy="822960"/>
          </a:xfrm>
          <a:prstGeom prst="rect">
            <a:avLst/>
          </a:prstGeom>
          <a:noFill/>
          <a:ln/>
        </p:spPr>
        <p:txBody>
          <a:bodyPr wrap="square" lIns="0" tIns="0" rIns="0" bIns="0" rtlCol="0" anchor="ctr"/>
          <a:lstStyle/>
          <a:p>
            <a:pPr marL="0" indent="0">
              <a:buNone/>
            </a:pPr>
            <a:r>
              <a:rPr lang="en-US" sz="1200" i="1" dirty="0">
                <a:solidFill>
                  <a:srgbClr val="C9C9C7"/>
                </a:solidFill>
                <a:latin typeface="Arial" pitchFamily="34" charset="0"/>
                <a:ea typeface="Arial" pitchFamily="34" charset="-122"/>
                <a:cs typeface="Arial" pitchFamily="34" charset="-120"/>
              </a:rPr>
              <a:t>The HMI depends only on the shared contract — never on control-system code.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D2D2B"/>
        </a:solidFill>
        <a:effectLst/>
      </p:bgPr>
    </p:bg>
    <p:spTree>
      <p:nvGrpSpPr>
        <p:cNvPr id="1" name=""/>
        <p:cNvGrpSpPr/>
        <p:nvPr/>
      </p:nvGrpSpPr>
      <p:grpSpPr>
        <a:xfrm>
          <a:off x="0" y="0"/>
          <a:ext cx="0" cy="0"/>
          <a:chOff x="0" y="0"/>
          <a:chExt cx="0" cy="0"/>
        </a:xfrm>
      </p:grpSpPr>
      <p:sp>
        <p:nvSpPr>
          <p:cNvPr id="3" name="Text 1"/>
          <p:cNvSpPr/>
          <p:nvPr/>
        </p:nvSpPr>
        <p:spPr>
          <a:xfrm>
            <a:off x="868680" y="2331720"/>
            <a:ext cx="9144000" cy="365760"/>
          </a:xfrm>
          <a:prstGeom prst="rect">
            <a:avLst/>
          </a:prstGeom>
          <a:noFill/>
          <a:ln/>
        </p:spPr>
        <p:txBody>
          <a:bodyPr wrap="square" lIns="0" tIns="0" rIns="0" bIns="0" rtlCol="0" anchor="ctr"/>
          <a:lstStyle/>
          <a:p>
            <a:pPr marL="0" indent="0">
              <a:buNone/>
            </a:pPr>
            <a:r>
              <a:rPr lang="en-US" sz="1400" b="1" kern="0" spc="200" dirty="0">
                <a:solidFill>
                  <a:srgbClr val="9FB9BD"/>
                </a:solidFill>
                <a:latin typeface="Arial" pitchFamily="34" charset="0"/>
                <a:ea typeface="Arial" pitchFamily="34" charset="-122"/>
                <a:cs typeface="Arial" pitchFamily="34" charset="-120"/>
              </a:rPr>
              <a:t>PART TWO</a:t>
            </a:r>
            <a:endParaRPr lang="en-US" sz="1400" dirty="0"/>
          </a:p>
        </p:txBody>
      </p:sp>
      <p:sp>
        <p:nvSpPr>
          <p:cNvPr id="4" name="Text 2"/>
          <p:cNvSpPr/>
          <p:nvPr/>
        </p:nvSpPr>
        <p:spPr>
          <a:xfrm>
            <a:off x="822960" y="2697480"/>
            <a:ext cx="10424160" cy="914400"/>
          </a:xfrm>
          <a:prstGeom prst="rect">
            <a:avLst/>
          </a:prstGeom>
          <a:noFill/>
          <a:ln/>
        </p:spPr>
        <p:txBody>
          <a:bodyPr wrap="square" lIns="0" tIns="0" rIns="0" bIns="0" rtlCol="0" anchor="ctr"/>
          <a:lstStyle/>
          <a:p>
            <a:pPr marL="0" indent="0">
              <a:buNone/>
            </a:pPr>
            <a:r>
              <a:rPr lang="en-US" sz="3800" b="1" dirty="0">
                <a:solidFill>
                  <a:srgbClr val="FFFFFF"/>
                </a:solidFill>
                <a:latin typeface="Arial" pitchFamily="34" charset="0"/>
                <a:ea typeface="Arial" pitchFamily="34" charset="-122"/>
                <a:cs typeface="Arial" pitchFamily="34" charset="-120"/>
              </a:rPr>
              <a:t>The Control System</a:t>
            </a:r>
            <a:endParaRPr lang="en-US" sz="3800" dirty="0"/>
          </a:p>
        </p:txBody>
      </p:sp>
      <p:sp>
        <p:nvSpPr>
          <p:cNvPr id="5" name="Text 3"/>
          <p:cNvSpPr/>
          <p:nvPr/>
        </p:nvSpPr>
        <p:spPr>
          <a:xfrm>
            <a:off x="841248" y="3703320"/>
            <a:ext cx="9875520" cy="822960"/>
          </a:xfrm>
          <a:prstGeom prst="rect">
            <a:avLst/>
          </a:prstGeom>
          <a:noFill/>
          <a:ln/>
        </p:spPr>
        <p:txBody>
          <a:bodyPr wrap="square" lIns="0" tIns="0" rIns="0" bIns="0" rtlCol="0" anchor="ctr"/>
          <a:lstStyle/>
          <a:p>
            <a:pPr marL="0" indent="0">
              <a:buNone/>
            </a:pPr>
            <a:r>
              <a:rPr lang="en-US" sz="1700" dirty="0">
                <a:solidFill>
                  <a:srgbClr val="C9C9C7"/>
                </a:solidFill>
                <a:latin typeface="Arial" pitchFamily="34" charset="0"/>
                <a:ea typeface="Arial" pitchFamily="34" charset="-122"/>
                <a:cs typeface="Arial" pitchFamily="34" charset="-120"/>
              </a:rPr>
              <a:t>Requirements, hexagonal architecture, the SCAN logic, I/O, deployment and a live demo.</a:t>
            </a:r>
            <a:endParaRPr lang="en-US" sz="1700" dirty="0"/>
          </a:p>
        </p:txBody>
      </p:sp>
      <p:sp>
        <p:nvSpPr>
          <p:cNvPr id="6" name="Text 4"/>
          <p:cNvSpPr/>
          <p:nvPr/>
        </p:nvSpPr>
        <p:spPr>
          <a:xfrm>
            <a:off x="841248" y="4800600"/>
            <a:ext cx="8229600" cy="365760"/>
          </a:xfrm>
          <a:prstGeom prst="rect">
            <a:avLst/>
          </a:prstGeom>
          <a:noFill/>
          <a:ln/>
        </p:spPr>
        <p:txBody>
          <a:bodyPr wrap="square" lIns="0" tIns="0" rIns="0" bIns="0" rtlCol="0" anchor="ctr"/>
          <a:lstStyle/>
          <a:p>
            <a:pPr marL="0" indent="0">
              <a:buNone/>
            </a:pPr>
            <a:r>
              <a:rPr lang="en-US" sz="1500" dirty="0">
                <a:solidFill>
                  <a:srgbClr val="9A9A97"/>
                </a:solidFill>
                <a:latin typeface="Arial" pitchFamily="34" charset="0"/>
                <a:ea typeface="Arial" pitchFamily="34" charset="-122"/>
                <a:cs typeface="Arial" pitchFamily="34" charset="-120"/>
              </a:rPr>
              <a:t>Presented by </a:t>
            </a:r>
            <a:r>
              <a:rPr lang="en-US" sz="1500" b="1" dirty="0">
                <a:solidFill>
                  <a:srgbClr val="FFFFFF"/>
                </a:solidFill>
                <a:latin typeface="Arial" pitchFamily="34" charset="0"/>
                <a:ea typeface="Arial" pitchFamily="34" charset="-122"/>
                <a:cs typeface="Arial" pitchFamily="34" charset="-120"/>
              </a:rPr>
              <a:t>Ruben &amp; Lukas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40080" y="502920"/>
            <a:ext cx="9144000" cy="292608"/>
          </a:xfrm>
          <a:prstGeom prst="rect">
            <a:avLst/>
          </a:prstGeom>
          <a:noFill/>
          <a:ln/>
        </p:spPr>
        <p:txBody>
          <a:bodyPr wrap="square" lIns="0" tIns="0" rIns="0" bIns="0" rtlCol="0" anchor="ctr"/>
          <a:lstStyle/>
          <a:p>
            <a:pPr marL="0" indent="0">
              <a:buNone/>
            </a:pPr>
            <a:r>
              <a:rPr lang="en-US" sz="1200" b="1" kern="0" spc="200" dirty="0">
                <a:solidFill>
                  <a:srgbClr val="0B6E7A"/>
                </a:solidFill>
                <a:latin typeface="Arial" pitchFamily="34" charset="0"/>
                <a:ea typeface="Arial" pitchFamily="34" charset="-122"/>
                <a:cs typeface="Arial" pitchFamily="34" charset="-120"/>
              </a:rPr>
              <a:t>PART 2 · REQUIREMENTS</a:t>
            </a:r>
            <a:endParaRPr lang="en-US" sz="1200" dirty="0"/>
          </a:p>
        </p:txBody>
      </p:sp>
      <p:sp>
        <p:nvSpPr>
          <p:cNvPr id="4" name="Text 2"/>
          <p:cNvSpPr/>
          <p:nvPr/>
        </p:nvSpPr>
        <p:spPr>
          <a:xfrm>
            <a:off x="640080" y="804672"/>
            <a:ext cx="10515600" cy="731520"/>
          </a:xfrm>
          <a:prstGeom prst="rect">
            <a:avLst/>
          </a:prstGeom>
          <a:noFill/>
          <a:ln/>
        </p:spPr>
        <p:txBody>
          <a:bodyPr wrap="square" lIns="0" tIns="0" rIns="0" bIns="0" rtlCol="0" anchor="ctr"/>
          <a:lstStyle/>
          <a:p>
            <a:pPr marL="0" indent="0">
              <a:buNone/>
            </a:pPr>
            <a:r>
              <a:rPr lang="en-US" sz="2800" b="1" dirty="0">
                <a:solidFill>
                  <a:srgbClr val="2D2D2B"/>
                </a:solidFill>
                <a:latin typeface="Arial" pitchFamily="34" charset="0"/>
                <a:ea typeface="Arial" pitchFamily="34" charset="-122"/>
                <a:cs typeface="Arial" pitchFamily="34" charset="-120"/>
              </a:rPr>
              <a:t>The twelve control requirements</a:t>
            </a:r>
            <a:endParaRPr lang="en-US" sz="2800" dirty="0"/>
          </a:p>
        </p:txBody>
      </p:sp>
      <p:sp>
        <p:nvSpPr>
          <p:cNvPr id="5" name="Shape 3"/>
          <p:cNvSpPr/>
          <p:nvPr/>
        </p:nvSpPr>
        <p:spPr>
          <a:xfrm>
            <a:off x="640080" y="6382512"/>
            <a:ext cx="10908792" cy="0"/>
          </a:xfrm>
          <a:prstGeom prst="line">
            <a:avLst/>
          </a:prstGeom>
          <a:noFill/>
          <a:ln w="9525">
            <a:solidFill>
              <a:srgbClr val="D7D7D5"/>
            </a:solidFill>
            <a:prstDash val="solid"/>
          </a:ln>
        </p:spPr>
        <p:txBody>
          <a:bodyPr/>
          <a:lstStyle/>
          <a:p>
            <a:endParaRPr lang="de-DE"/>
          </a:p>
        </p:txBody>
      </p:sp>
      <p:sp>
        <p:nvSpPr>
          <p:cNvPr id="6" name="Text 4"/>
          <p:cNvSpPr/>
          <p:nvPr/>
        </p:nvSpPr>
        <p:spPr>
          <a:xfrm>
            <a:off x="640080" y="6437376"/>
            <a:ext cx="8229600" cy="274320"/>
          </a:xfrm>
          <a:prstGeom prst="rect">
            <a:avLst/>
          </a:prstGeom>
          <a:noFill/>
          <a:ln/>
        </p:spPr>
        <p:txBody>
          <a:bodyPr wrap="square" lIns="0" tIns="0" rIns="0" bIns="0" rtlCol="0" anchor="ctr"/>
          <a:lstStyle/>
          <a:p>
            <a:pPr marL="0" indent="0">
              <a:buNone/>
            </a:pPr>
            <a:r>
              <a:rPr lang="en-US" sz="900" dirty="0">
                <a:solidFill>
                  <a:srgbClr val="6E6E6C"/>
                </a:solidFill>
                <a:latin typeface="Arial" pitchFamily="34" charset="0"/>
                <a:ea typeface="Arial" pitchFamily="34" charset="-122"/>
                <a:cs typeface="Arial" pitchFamily="34" charset="-120"/>
              </a:rPr>
              <a:t>HTWG Konstanz  ·  System Architecture  ·  Group E</a:t>
            </a:r>
            <a:endParaRPr lang="en-US" sz="900" dirty="0"/>
          </a:p>
        </p:txBody>
      </p:sp>
      <p:sp>
        <p:nvSpPr>
          <p:cNvPr id="7" name="Text 5"/>
          <p:cNvSpPr/>
          <p:nvPr/>
        </p:nvSpPr>
        <p:spPr>
          <a:xfrm>
            <a:off x="10881360" y="6437376"/>
            <a:ext cx="667512" cy="274320"/>
          </a:xfrm>
          <a:prstGeom prst="rect">
            <a:avLst/>
          </a:prstGeom>
          <a:noFill/>
          <a:ln/>
        </p:spPr>
        <p:txBody>
          <a:bodyPr wrap="square" lIns="0" tIns="0" rIns="0" bIns="0" rtlCol="0" anchor="ctr"/>
          <a:lstStyle/>
          <a:p>
            <a:pPr marL="0" indent="0" algn="r">
              <a:buNone/>
            </a:pPr>
            <a:r>
              <a:rPr lang="en-US" sz="900" dirty="0">
                <a:solidFill>
                  <a:srgbClr val="6E6E6C"/>
                </a:solidFill>
                <a:latin typeface="Arial" pitchFamily="34" charset="0"/>
                <a:ea typeface="Arial" pitchFamily="34" charset="-122"/>
                <a:cs typeface="Arial" pitchFamily="34" charset="-120"/>
              </a:rPr>
              <a:t>7</a:t>
            </a:r>
            <a:endParaRPr lang="en-US" sz="900" dirty="0"/>
          </a:p>
        </p:txBody>
      </p:sp>
      <p:sp>
        <p:nvSpPr>
          <p:cNvPr id="9" name="Shape 6"/>
          <p:cNvSpPr/>
          <p:nvPr/>
        </p:nvSpPr>
        <p:spPr>
          <a:xfrm>
            <a:off x="640080" y="1737360"/>
            <a:ext cx="5349240" cy="658368"/>
          </a:xfrm>
          <a:prstGeom prst="rect">
            <a:avLst/>
          </a:prstGeom>
          <a:solidFill>
            <a:srgbClr val="F2F3F2"/>
          </a:solidFill>
          <a:ln w="12700">
            <a:solidFill>
              <a:srgbClr val="D7D7D5"/>
            </a:solidFill>
            <a:prstDash val="solid"/>
          </a:ln>
        </p:spPr>
        <p:txBody>
          <a:bodyPr/>
          <a:lstStyle/>
          <a:p>
            <a:endParaRPr lang="de-DE"/>
          </a:p>
        </p:txBody>
      </p:sp>
      <p:sp>
        <p:nvSpPr>
          <p:cNvPr id="10" name="Text 7"/>
          <p:cNvSpPr/>
          <p:nvPr/>
        </p:nvSpPr>
        <p:spPr>
          <a:xfrm>
            <a:off x="749808" y="1737360"/>
            <a:ext cx="548640" cy="658368"/>
          </a:xfrm>
          <a:prstGeom prst="rect">
            <a:avLst/>
          </a:prstGeom>
          <a:noFill/>
          <a:ln/>
        </p:spPr>
        <p:txBody>
          <a:bodyPr wrap="square" lIns="0" tIns="0" rIns="0" bIns="0" rtlCol="0" anchor="ctr"/>
          <a:lstStyle/>
          <a:p>
            <a:pPr marL="0" indent="0" algn="ctr">
              <a:buNone/>
            </a:pPr>
            <a:r>
              <a:rPr lang="en-US" sz="1600" b="1" dirty="0">
                <a:solidFill>
                  <a:srgbClr val="0B6E7A"/>
                </a:solidFill>
                <a:latin typeface="Arial" pitchFamily="34" charset="0"/>
                <a:ea typeface="Arial" pitchFamily="34" charset="-122"/>
                <a:cs typeface="Arial" pitchFamily="34" charset="-120"/>
              </a:rPr>
              <a:t>1</a:t>
            </a:r>
            <a:endParaRPr lang="en-US" sz="1600" dirty="0"/>
          </a:p>
        </p:txBody>
      </p:sp>
      <p:sp>
        <p:nvSpPr>
          <p:cNvPr id="11" name="Text 8"/>
          <p:cNvSpPr/>
          <p:nvPr/>
        </p:nvSpPr>
        <p:spPr>
          <a:xfrm>
            <a:off x="1353312" y="1737360"/>
            <a:ext cx="4526280" cy="658368"/>
          </a:xfrm>
          <a:prstGeom prst="rect">
            <a:avLst/>
          </a:prstGeom>
          <a:noFill/>
          <a:ln/>
        </p:spPr>
        <p:txBody>
          <a:bodyPr wrap="square" lIns="0" tIns="0" rIns="0" bIns="0" rtlCol="0" anchor="ctr"/>
          <a:lstStyle/>
          <a:p>
            <a:pPr marL="0" indent="0">
              <a:buNone/>
            </a:pPr>
            <a:r>
              <a:rPr lang="en-US" sz="1300" dirty="0">
                <a:solidFill>
                  <a:srgbClr val="333331"/>
                </a:solidFill>
                <a:latin typeface="Arial" pitchFamily="34" charset="0"/>
                <a:ea typeface="Arial" pitchFamily="34" charset="-122"/>
                <a:cs typeface="Arial" pitchFamily="34" charset="-120"/>
              </a:rPr>
              <a:t>Serve 4 levels</a:t>
            </a:r>
            <a:endParaRPr lang="en-US" sz="1300" dirty="0"/>
          </a:p>
        </p:txBody>
      </p:sp>
      <p:sp>
        <p:nvSpPr>
          <p:cNvPr id="12" name="Shape 9"/>
          <p:cNvSpPr/>
          <p:nvPr/>
        </p:nvSpPr>
        <p:spPr>
          <a:xfrm>
            <a:off x="6199632" y="1737360"/>
            <a:ext cx="5349240" cy="658368"/>
          </a:xfrm>
          <a:prstGeom prst="rect">
            <a:avLst/>
          </a:prstGeom>
          <a:solidFill>
            <a:srgbClr val="F2F3F2"/>
          </a:solidFill>
          <a:ln w="12700">
            <a:solidFill>
              <a:srgbClr val="D7D7D5"/>
            </a:solidFill>
            <a:prstDash val="solid"/>
          </a:ln>
        </p:spPr>
        <p:txBody>
          <a:bodyPr/>
          <a:lstStyle/>
          <a:p>
            <a:endParaRPr lang="de-DE"/>
          </a:p>
        </p:txBody>
      </p:sp>
      <p:sp>
        <p:nvSpPr>
          <p:cNvPr id="13" name="Text 10"/>
          <p:cNvSpPr/>
          <p:nvPr/>
        </p:nvSpPr>
        <p:spPr>
          <a:xfrm>
            <a:off x="6309360" y="1737360"/>
            <a:ext cx="548640" cy="658368"/>
          </a:xfrm>
          <a:prstGeom prst="rect">
            <a:avLst/>
          </a:prstGeom>
          <a:noFill/>
          <a:ln/>
        </p:spPr>
        <p:txBody>
          <a:bodyPr wrap="square" lIns="0" tIns="0" rIns="0" bIns="0" rtlCol="0" anchor="ctr"/>
          <a:lstStyle/>
          <a:p>
            <a:pPr marL="0" indent="0" algn="ctr">
              <a:buNone/>
            </a:pPr>
            <a:r>
              <a:rPr lang="en-US" sz="1600" b="1" dirty="0">
                <a:solidFill>
                  <a:srgbClr val="0B6E7A"/>
                </a:solidFill>
                <a:latin typeface="Arial" pitchFamily="34" charset="0"/>
                <a:ea typeface="Arial" pitchFamily="34" charset="-122"/>
                <a:cs typeface="Arial" pitchFamily="34" charset="-120"/>
              </a:rPr>
              <a:t>2</a:t>
            </a:r>
            <a:endParaRPr lang="en-US" sz="1600" dirty="0"/>
          </a:p>
        </p:txBody>
      </p:sp>
      <p:sp>
        <p:nvSpPr>
          <p:cNvPr id="14" name="Text 11"/>
          <p:cNvSpPr/>
          <p:nvPr/>
        </p:nvSpPr>
        <p:spPr>
          <a:xfrm>
            <a:off x="6912864" y="1737360"/>
            <a:ext cx="4526280" cy="658368"/>
          </a:xfrm>
          <a:prstGeom prst="rect">
            <a:avLst/>
          </a:prstGeom>
          <a:noFill/>
          <a:ln/>
        </p:spPr>
        <p:txBody>
          <a:bodyPr wrap="square" lIns="0" tIns="0" rIns="0" bIns="0" rtlCol="0" anchor="ctr"/>
          <a:lstStyle/>
          <a:p>
            <a:pPr marL="0" indent="0">
              <a:buNone/>
            </a:pPr>
            <a:r>
              <a:rPr lang="en-US" sz="1300" dirty="0">
                <a:solidFill>
                  <a:srgbClr val="333331"/>
                </a:solidFill>
                <a:latin typeface="Arial" pitchFamily="34" charset="0"/>
                <a:ea typeface="Arial" pitchFamily="34" charset="-122"/>
                <a:cs typeface="Arial" pitchFamily="34" charset="-120"/>
              </a:rPr>
              <a:t>Two speeds up/down + crawl + off</a:t>
            </a:r>
            <a:endParaRPr lang="en-US" sz="1300" dirty="0"/>
          </a:p>
        </p:txBody>
      </p:sp>
      <p:sp>
        <p:nvSpPr>
          <p:cNvPr id="15" name="Shape 12"/>
          <p:cNvSpPr/>
          <p:nvPr/>
        </p:nvSpPr>
        <p:spPr>
          <a:xfrm>
            <a:off x="640080" y="2505456"/>
            <a:ext cx="5349240" cy="658368"/>
          </a:xfrm>
          <a:prstGeom prst="rect">
            <a:avLst/>
          </a:prstGeom>
          <a:solidFill>
            <a:srgbClr val="F2F3F2"/>
          </a:solidFill>
          <a:ln w="12700">
            <a:solidFill>
              <a:srgbClr val="D7D7D5"/>
            </a:solidFill>
            <a:prstDash val="solid"/>
          </a:ln>
        </p:spPr>
        <p:txBody>
          <a:bodyPr/>
          <a:lstStyle/>
          <a:p>
            <a:endParaRPr lang="de-DE"/>
          </a:p>
        </p:txBody>
      </p:sp>
      <p:sp>
        <p:nvSpPr>
          <p:cNvPr id="16" name="Text 13"/>
          <p:cNvSpPr/>
          <p:nvPr/>
        </p:nvSpPr>
        <p:spPr>
          <a:xfrm>
            <a:off x="749808" y="2505456"/>
            <a:ext cx="548640" cy="658368"/>
          </a:xfrm>
          <a:prstGeom prst="rect">
            <a:avLst/>
          </a:prstGeom>
          <a:noFill/>
          <a:ln/>
        </p:spPr>
        <p:txBody>
          <a:bodyPr wrap="square" lIns="0" tIns="0" rIns="0" bIns="0" rtlCol="0" anchor="ctr"/>
          <a:lstStyle/>
          <a:p>
            <a:pPr marL="0" indent="0" algn="ctr">
              <a:buNone/>
            </a:pPr>
            <a:r>
              <a:rPr lang="en-US" sz="1600" b="1" dirty="0">
                <a:solidFill>
                  <a:srgbClr val="0B6E7A"/>
                </a:solidFill>
                <a:latin typeface="Arial" pitchFamily="34" charset="0"/>
                <a:ea typeface="Arial" pitchFamily="34" charset="-122"/>
                <a:cs typeface="Arial" pitchFamily="34" charset="-120"/>
              </a:rPr>
              <a:t>3</a:t>
            </a:r>
            <a:endParaRPr lang="en-US" sz="1600" dirty="0"/>
          </a:p>
        </p:txBody>
      </p:sp>
      <p:sp>
        <p:nvSpPr>
          <p:cNvPr id="17" name="Text 14"/>
          <p:cNvSpPr/>
          <p:nvPr/>
        </p:nvSpPr>
        <p:spPr>
          <a:xfrm>
            <a:off x="1353312" y="2505456"/>
            <a:ext cx="4526280" cy="658368"/>
          </a:xfrm>
          <a:prstGeom prst="rect">
            <a:avLst/>
          </a:prstGeom>
          <a:noFill/>
          <a:ln/>
        </p:spPr>
        <p:txBody>
          <a:bodyPr wrap="square" lIns="0" tIns="0" rIns="0" bIns="0" rtlCol="0" anchor="ctr"/>
          <a:lstStyle/>
          <a:p>
            <a:pPr marL="0" indent="0">
              <a:buNone/>
            </a:pPr>
            <a:r>
              <a:rPr lang="en-US" sz="1300" dirty="0">
                <a:solidFill>
                  <a:srgbClr val="333331"/>
                </a:solidFill>
                <a:latin typeface="Arial" pitchFamily="34" charset="0"/>
                <a:ea typeface="Arial" pitchFamily="34" charset="-122"/>
                <a:cs typeface="Arial" pitchFamily="34" charset="-120"/>
              </a:rPr>
              <a:t>Two approach sensors per level &amp; direction</a:t>
            </a:r>
            <a:endParaRPr lang="en-US" sz="1300" dirty="0"/>
          </a:p>
        </p:txBody>
      </p:sp>
      <p:sp>
        <p:nvSpPr>
          <p:cNvPr id="18" name="Shape 15"/>
          <p:cNvSpPr/>
          <p:nvPr/>
        </p:nvSpPr>
        <p:spPr>
          <a:xfrm>
            <a:off x="6199632" y="2505456"/>
            <a:ext cx="5349240" cy="658368"/>
          </a:xfrm>
          <a:prstGeom prst="rect">
            <a:avLst/>
          </a:prstGeom>
          <a:solidFill>
            <a:srgbClr val="F2F3F2"/>
          </a:solidFill>
          <a:ln w="12700">
            <a:solidFill>
              <a:srgbClr val="D7D7D5"/>
            </a:solidFill>
            <a:prstDash val="solid"/>
          </a:ln>
        </p:spPr>
        <p:txBody>
          <a:bodyPr/>
          <a:lstStyle/>
          <a:p>
            <a:endParaRPr lang="de-DE"/>
          </a:p>
        </p:txBody>
      </p:sp>
      <p:sp>
        <p:nvSpPr>
          <p:cNvPr id="19" name="Text 16"/>
          <p:cNvSpPr/>
          <p:nvPr/>
        </p:nvSpPr>
        <p:spPr>
          <a:xfrm>
            <a:off x="6309360" y="2505456"/>
            <a:ext cx="548640" cy="658368"/>
          </a:xfrm>
          <a:prstGeom prst="rect">
            <a:avLst/>
          </a:prstGeom>
          <a:noFill/>
          <a:ln/>
        </p:spPr>
        <p:txBody>
          <a:bodyPr wrap="square" lIns="0" tIns="0" rIns="0" bIns="0" rtlCol="0" anchor="ctr"/>
          <a:lstStyle/>
          <a:p>
            <a:pPr marL="0" indent="0" algn="ctr">
              <a:buNone/>
            </a:pPr>
            <a:r>
              <a:rPr lang="en-US" sz="1600" b="1" dirty="0">
                <a:solidFill>
                  <a:srgbClr val="0B6E7A"/>
                </a:solidFill>
                <a:latin typeface="Arial" pitchFamily="34" charset="0"/>
                <a:ea typeface="Arial" pitchFamily="34" charset="-122"/>
                <a:cs typeface="Arial" pitchFamily="34" charset="-120"/>
              </a:rPr>
              <a:t>4</a:t>
            </a:r>
            <a:endParaRPr lang="en-US" sz="1600" dirty="0"/>
          </a:p>
        </p:txBody>
      </p:sp>
      <p:sp>
        <p:nvSpPr>
          <p:cNvPr id="20" name="Text 17"/>
          <p:cNvSpPr/>
          <p:nvPr/>
        </p:nvSpPr>
        <p:spPr>
          <a:xfrm>
            <a:off x="6912864" y="2505456"/>
            <a:ext cx="4526280" cy="658368"/>
          </a:xfrm>
          <a:prstGeom prst="rect">
            <a:avLst/>
          </a:prstGeom>
          <a:noFill/>
          <a:ln/>
        </p:spPr>
        <p:txBody>
          <a:bodyPr wrap="square" lIns="0" tIns="0" rIns="0" bIns="0" rtlCol="0" anchor="ctr"/>
          <a:lstStyle/>
          <a:p>
            <a:pPr marL="0" indent="0">
              <a:buNone/>
            </a:pPr>
            <a:r>
              <a:rPr lang="en-US" sz="1300" dirty="0">
                <a:solidFill>
                  <a:srgbClr val="333331"/>
                </a:solidFill>
                <a:latin typeface="Arial" pitchFamily="34" charset="0"/>
                <a:ea typeface="Arial" pitchFamily="34" charset="-122"/>
                <a:cs typeface="Arial" pitchFamily="34" charset="-120"/>
              </a:rPr>
              <a:t>A sensor marks the safe door position</a:t>
            </a:r>
            <a:endParaRPr lang="en-US" sz="1300" dirty="0"/>
          </a:p>
        </p:txBody>
      </p:sp>
      <p:sp>
        <p:nvSpPr>
          <p:cNvPr id="21" name="Shape 18"/>
          <p:cNvSpPr/>
          <p:nvPr/>
        </p:nvSpPr>
        <p:spPr>
          <a:xfrm>
            <a:off x="640080" y="3273552"/>
            <a:ext cx="5349240" cy="658368"/>
          </a:xfrm>
          <a:prstGeom prst="rect">
            <a:avLst/>
          </a:prstGeom>
          <a:solidFill>
            <a:srgbClr val="F2F3F2"/>
          </a:solidFill>
          <a:ln w="12700">
            <a:solidFill>
              <a:srgbClr val="D7D7D5"/>
            </a:solidFill>
            <a:prstDash val="solid"/>
          </a:ln>
        </p:spPr>
        <p:txBody>
          <a:bodyPr/>
          <a:lstStyle/>
          <a:p>
            <a:endParaRPr lang="de-DE"/>
          </a:p>
        </p:txBody>
      </p:sp>
      <p:sp>
        <p:nvSpPr>
          <p:cNvPr id="22" name="Text 19"/>
          <p:cNvSpPr/>
          <p:nvPr/>
        </p:nvSpPr>
        <p:spPr>
          <a:xfrm>
            <a:off x="749808" y="3273552"/>
            <a:ext cx="548640" cy="658368"/>
          </a:xfrm>
          <a:prstGeom prst="rect">
            <a:avLst/>
          </a:prstGeom>
          <a:noFill/>
          <a:ln/>
        </p:spPr>
        <p:txBody>
          <a:bodyPr wrap="square" lIns="0" tIns="0" rIns="0" bIns="0" rtlCol="0" anchor="ctr"/>
          <a:lstStyle/>
          <a:p>
            <a:pPr marL="0" indent="0" algn="ctr">
              <a:buNone/>
            </a:pPr>
            <a:r>
              <a:rPr lang="en-US" sz="1600" b="1" dirty="0">
                <a:solidFill>
                  <a:srgbClr val="0B6E7A"/>
                </a:solidFill>
                <a:latin typeface="Arial" pitchFamily="34" charset="0"/>
                <a:ea typeface="Arial" pitchFamily="34" charset="-122"/>
                <a:cs typeface="Arial" pitchFamily="34" charset="-120"/>
              </a:rPr>
              <a:t>5</a:t>
            </a:r>
            <a:endParaRPr lang="en-US" sz="1600" dirty="0"/>
          </a:p>
        </p:txBody>
      </p:sp>
      <p:sp>
        <p:nvSpPr>
          <p:cNvPr id="23" name="Text 20"/>
          <p:cNvSpPr/>
          <p:nvPr/>
        </p:nvSpPr>
        <p:spPr>
          <a:xfrm>
            <a:off x="1353312" y="3273552"/>
            <a:ext cx="4526280" cy="658368"/>
          </a:xfrm>
          <a:prstGeom prst="rect">
            <a:avLst/>
          </a:prstGeom>
          <a:noFill/>
          <a:ln/>
        </p:spPr>
        <p:txBody>
          <a:bodyPr wrap="square" lIns="0" tIns="0" rIns="0" bIns="0" rtlCol="0" anchor="ctr"/>
          <a:lstStyle/>
          <a:p>
            <a:pPr marL="0" indent="0">
              <a:buNone/>
            </a:pPr>
            <a:r>
              <a:rPr lang="en-US" sz="1300" dirty="0">
                <a:solidFill>
                  <a:srgbClr val="333331"/>
                </a:solidFill>
                <a:latin typeface="Arial" pitchFamily="34" charset="0"/>
                <a:ea typeface="Arial" pitchFamily="34" charset="-122"/>
                <a:cs typeface="Arial" pitchFamily="34" charset="-120"/>
              </a:rPr>
              <a:t>Drive at highest speed, slow before stopping</a:t>
            </a:r>
            <a:endParaRPr lang="en-US" sz="1300" dirty="0"/>
          </a:p>
        </p:txBody>
      </p:sp>
      <p:sp>
        <p:nvSpPr>
          <p:cNvPr id="24" name="Shape 21"/>
          <p:cNvSpPr/>
          <p:nvPr/>
        </p:nvSpPr>
        <p:spPr>
          <a:xfrm>
            <a:off x="6199632" y="3273552"/>
            <a:ext cx="5349240" cy="658368"/>
          </a:xfrm>
          <a:prstGeom prst="rect">
            <a:avLst/>
          </a:prstGeom>
          <a:solidFill>
            <a:srgbClr val="F2F3F2"/>
          </a:solidFill>
          <a:ln w="12700">
            <a:solidFill>
              <a:srgbClr val="D7D7D5"/>
            </a:solidFill>
            <a:prstDash val="solid"/>
          </a:ln>
        </p:spPr>
        <p:txBody>
          <a:bodyPr/>
          <a:lstStyle/>
          <a:p>
            <a:endParaRPr lang="de-DE"/>
          </a:p>
        </p:txBody>
      </p:sp>
      <p:sp>
        <p:nvSpPr>
          <p:cNvPr id="25" name="Text 22"/>
          <p:cNvSpPr/>
          <p:nvPr/>
        </p:nvSpPr>
        <p:spPr>
          <a:xfrm>
            <a:off x="6309360" y="3273552"/>
            <a:ext cx="548640" cy="658368"/>
          </a:xfrm>
          <a:prstGeom prst="rect">
            <a:avLst/>
          </a:prstGeom>
          <a:noFill/>
          <a:ln/>
        </p:spPr>
        <p:txBody>
          <a:bodyPr wrap="square" lIns="0" tIns="0" rIns="0" bIns="0" rtlCol="0" anchor="ctr"/>
          <a:lstStyle/>
          <a:p>
            <a:pPr marL="0" indent="0" algn="ctr">
              <a:buNone/>
            </a:pPr>
            <a:r>
              <a:rPr lang="en-US" sz="1600" b="1" dirty="0">
                <a:solidFill>
                  <a:srgbClr val="0B6E7A"/>
                </a:solidFill>
                <a:latin typeface="Arial" pitchFamily="34" charset="0"/>
                <a:ea typeface="Arial" pitchFamily="34" charset="-122"/>
                <a:cs typeface="Arial" pitchFamily="34" charset="-120"/>
              </a:rPr>
              <a:t>6</a:t>
            </a:r>
            <a:endParaRPr lang="en-US" sz="1600" dirty="0"/>
          </a:p>
        </p:txBody>
      </p:sp>
      <p:sp>
        <p:nvSpPr>
          <p:cNvPr id="26" name="Text 23"/>
          <p:cNvSpPr/>
          <p:nvPr/>
        </p:nvSpPr>
        <p:spPr>
          <a:xfrm>
            <a:off x="6912864" y="3273552"/>
            <a:ext cx="4526280" cy="658368"/>
          </a:xfrm>
          <a:prstGeom prst="rect">
            <a:avLst/>
          </a:prstGeom>
          <a:noFill/>
          <a:ln/>
        </p:spPr>
        <p:txBody>
          <a:bodyPr wrap="square" lIns="0" tIns="0" rIns="0" bIns="0" rtlCol="0" anchor="ctr"/>
          <a:lstStyle/>
          <a:p>
            <a:pPr marL="0" indent="0">
              <a:buNone/>
            </a:pPr>
            <a:r>
              <a:rPr lang="en-US" sz="1300" dirty="0">
                <a:solidFill>
                  <a:srgbClr val="333331"/>
                </a:solidFill>
                <a:latin typeface="Arial" pitchFamily="34" charset="0"/>
                <a:ea typeface="Arial" pitchFamily="34" charset="-122"/>
                <a:cs typeface="Arial" pitchFamily="34" charset="-120"/>
              </a:rPr>
              <a:t>Hall call with direction; stop if same direction</a:t>
            </a:r>
            <a:endParaRPr lang="en-US" sz="1300" dirty="0"/>
          </a:p>
        </p:txBody>
      </p:sp>
      <p:sp>
        <p:nvSpPr>
          <p:cNvPr id="27" name="Shape 24"/>
          <p:cNvSpPr/>
          <p:nvPr/>
        </p:nvSpPr>
        <p:spPr>
          <a:xfrm>
            <a:off x="640080" y="4041648"/>
            <a:ext cx="5349240" cy="658368"/>
          </a:xfrm>
          <a:prstGeom prst="rect">
            <a:avLst/>
          </a:prstGeom>
          <a:solidFill>
            <a:srgbClr val="F2F3F2"/>
          </a:solidFill>
          <a:ln w="12700">
            <a:solidFill>
              <a:srgbClr val="D7D7D5"/>
            </a:solidFill>
            <a:prstDash val="solid"/>
          </a:ln>
        </p:spPr>
        <p:txBody>
          <a:bodyPr/>
          <a:lstStyle/>
          <a:p>
            <a:endParaRPr lang="de-DE"/>
          </a:p>
        </p:txBody>
      </p:sp>
      <p:sp>
        <p:nvSpPr>
          <p:cNvPr id="28" name="Text 25"/>
          <p:cNvSpPr/>
          <p:nvPr/>
        </p:nvSpPr>
        <p:spPr>
          <a:xfrm>
            <a:off x="749808" y="4041648"/>
            <a:ext cx="548640" cy="658368"/>
          </a:xfrm>
          <a:prstGeom prst="rect">
            <a:avLst/>
          </a:prstGeom>
          <a:noFill/>
          <a:ln/>
        </p:spPr>
        <p:txBody>
          <a:bodyPr wrap="square" lIns="0" tIns="0" rIns="0" bIns="0" rtlCol="0" anchor="ctr"/>
          <a:lstStyle/>
          <a:p>
            <a:pPr marL="0" indent="0" algn="ctr">
              <a:buNone/>
            </a:pPr>
            <a:r>
              <a:rPr lang="en-US" sz="1600" b="1" dirty="0">
                <a:solidFill>
                  <a:srgbClr val="0B6E7A"/>
                </a:solidFill>
                <a:latin typeface="Arial" pitchFamily="34" charset="0"/>
                <a:ea typeface="Arial" pitchFamily="34" charset="-122"/>
                <a:cs typeface="Arial" pitchFamily="34" charset="-120"/>
              </a:rPr>
              <a:t>7</a:t>
            </a:r>
            <a:endParaRPr lang="en-US" sz="1600" dirty="0"/>
          </a:p>
        </p:txBody>
      </p:sp>
      <p:sp>
        <p:nvSpPr>
          <p:cNvPr id="29" name="Text 26"/>
          <p:cNvSpPr/>
          <p:nvPr/>
        </p:nvSpPr>
        <p:spPr>
          <a:xfrm>
            <a:off x="1353312" y="4041648"/>
            <a:ext cx="4526280" cy="658368"/>
          </a:xfrm>
          <a:prstGeom prst="rect">
            <a:avLst/>
          </a:prstGeom>
          <a:noFill/>
          <a:ln/>
        </p:spPr>
        <p:txBody>
          <a:bodyPr wrap="square" lIns="0" tIns="0" rIns="0" bIns="0" rtlCol="0" anchor="ctr"/>
          <a:lstStyle/>
          <a:p>
            <a:pPr marL="0" indent="0">
              <a:buNone/>
            </a:pPr>
            <a:r>
              <a:rPr lang="en-US" sz="1300" dirty="0">
                <a:solidFill>
                  <a:srgbClr val="333331"/>
                </a:solidFill>
                <a:latin typeface="Arial" pitchFamily="34" charset="0"/>
                <a:ea typeface="Arial" pitchFamily="34" charset="-122"/>
                <a:cs typeface="Arial" pitchFamily="34" charset="-120"/>
              </a:rPr>
              <a:t>Cabin call selects the target level</a:t>
            </a:r>
            <a:endParaRPr lang="en-US" sz="1300" dirty="0"/>
          </a:p>
        </p:txBody>
      </p:sp>
      <p:sp>
        <p:nvSpPr>
          <p:cNvPr id="30" name="Shape 27"/>
          <p:cNvSpPr/>
          <p:nvPr/>
        </p:nvSpPr>
        <p:spPr>
          <a:xfrm>
            <a:off x="6199632" y="4041648"/>
            <a:ext cx="5349240" cy="658368"/>
          </a:xfrm>
          <a:prstGeom prst="rect">
            <a:avLst/>
          </a:prstGeom>
          <a:solidFill>
            <a:srgbClr val="F2F3F2"/>
          </a:solidFill>
          <a:ln w="12700">
            <a:solidFill>
              <a:srgbClr val="D7D7D5"/>
            </a:solidFill>
            <a:prstDash val="solid"/>
          </a:ln>
        </p:spPr>
        <p:txBody>
          <a:bodyPr/>
          <a:lstStyle/>
          <a:p>
            <a:endParaRPr lang="de-DE"/>
          </a:p>
        </p:txBody>
      </p:sp>
      <p:sp>
        <p:nvSpPr>
          <p:cNvPr id="31" name="Text 28"/>
          <p:cNvSpPr/>
          <p:nvPr/>
        </p:nvSpPr>
        <p:spPr>
          <a:xfrm>
            <a:off x="6309360" y="4041648"/>
            <a:ext cx="548640" cy="658368"/>
          </a:xfrm>
          <a:prstGeom prst="rect">
            <a:avLst/>
          </a:prstGeom>
          <a:noFill/>
          <a:ln/>
        </p:spPr>
        <p:txBody>
          <a:bodyPr wrap="square" lIns="0" tIns="0" rIns="0" bIns="0" rtlCol="0" anchor="ctr"/>
          <a:lstStyle/>
          <a:p>
            <a:pPr marL="0" indent="0" algn="ctr">
              <a:buNone/>
            </a:pPr>
            <a:r>
              <a:rPr lang="en-US" sz="1600" b="1" dirty="0">
                <a:solidFill>
                  <a:srgbClr val="0B6E7A"/>
                </a:solidFill>
                <a:latin typeface="Arial" pitchFamily="34" charset="0"/>
                <a:ea typeface="Arial" pitchFamily="34" charset="-122"/>
                <a:cs typeface="Arial" pitchFamily="34" charset="-120"/>
              </a:rPr>
              <a:t>8</a:t>
            </a:r>
            <a:endParaRPr lang="en-US" sz="1600" dirty="0"/>
          </a:p>
        </p:txBody>
      </p:sp>
      <p:sp>
        <p:nvSpPr>
          <p:cNvPr id="32" name="Text 29"/>
          <p:cNvSpPr/>
          <p:nvPr/>
        </p:nvSpPr>
        <p:spPr>
          <a:xfrm>
            <a:off x="6912864" y="4041648"/>
            <a:ext cx="4526280" cy="658368"/>
          </a:xfrm>
          <a:prstGeom prst="rect">
            <a:avLst/>
          </a:prstGeom>
          <a:noFill/>
          <a:ln/>
        </p:spPr>
        <p:txBody>
          <a:bodyPr wrap="square" lIns="0" tIns="0" rIns="0" bIns="0" rtlCol="0" anchor="ctr"/>
          <a:lstStyle/>
          <a:p>
            <a:pPr marL="0" indent="0">
              <a:buNone/>
            </a:pPr>
            <a:r>
              <a:rPr lang="en-US" sz="1300" dirty="0">
                <a:solidFill>
                  <a:srgbClr val="333331"/>
                </a:solidFill>
                <a:latin typeface="Arial" pitchFamily="34" charset="0"/>
                <a:ea typeface="Arial" pitchFamily="34" charset="-122"/>
                <a:cs typeface="Arial" pitchFamily="34" charset="-120"/>
              </a:rPr>
              <a:t>When idle, move toward the oldest request</a:t>
            </a:r>
            <a:endParaRPr lang="en-US" sz="1300" dirty="0"/>
          </a:p>
        </p:txBody>
      </p:sp>
      <p:sp>
        <p:nvSpPr>
          <p:cNvPr id="33" name="Shape 30"/>
          <p:cNvSpPr/>
          <p:nvPr/>
        </p:nvSpPr>
        <p:spPr>
          <a:xfrm>
            <a:off x="640080" y="4809744"/>
            <a:ext cx="5349240" cy="658368"/>
          </a:xfrm>
          <a:prstGeom prst="rect">
            <a:avLst/>
          </a:prstGeom>
          <a:solidFill>
            <a:srgbClr val="F2F3F2"/>
          </a:solidFill>
          <a:ln w="12700">
            <a:solidFill>
              <a:srgbClr val="D7D7D5"/>
            </a:solidFill>
            <a:prstDash val="solid"/>
          </a:ln>
        </p:spPr>
        <p:txBody>
          <a:bodyPr/>
          <a:lstStyle/>
          <a:p>
            <a:endParaRPr lang="de-DE"/>
          </a:p>
        </p:txBody>
      </p:sp>
      <p:sp>
        <p:nvSpPr>
          <p:cNvPr id="34" name="Text 31"/>
          <p:cNvSpPr/>
          <p:nvPr/>
        </p:nvSpPr>
        <p:spPr>
          <a:xfrm>
            <a:off x="749808" y="4809744"/>
            <a:ext cx="548640" cy="658368"/>
          </a:xfrm>
          <a:prstGeom prst="rect">
            <a:avLst/>
          </a:prstGeom>
          <a:noFill/>
          <a:ln/>
        </p:spPr>
        <p:txBody>
          <a:bodyPr wrap="square" lIns="0" tIns="0" rIns="0" bIns="0" rtlCol="0" anchor="ctr"/>
          <a:lstStyle/>
          <a:p>
            <a:pPr marL="0" indent="0" algn="ctr">
              <a:buNone/>
            </a:pPr>
            <a:r>
              <a:rPr lang="en-US" sz="1600" b="1" dirty="0">
                <a:solidFill>
                  <a:srgbClr val="0B6E7A"/>
                </a:solidFill>
                <a:latin typeface="Arial" pitchFamily="34" charset="0"/>
                <a:ea typeface="Arial" pitchFamily="34" charset="-122"/>
                <a:cs typeface="Arial" pitchFamily="34" charset="-120"/>
              </a:rPr>
              <a:t>9</a:t>
            </a:r>
            <a:endParaRPr lang="en-US" sz="1600" dirty="0"/>
          </a:p>
        </p:txBody>
      </p:sp>
      <p:sp>
        <p:nvSpPr>
          <p:cNvPr id="35" name="Text 32"/>
          <p:cNvSpPr/>
          <p:nvPr/>
        </p:nvSpPr>
        <p:spPr>
          <a:xfrm>
            <a:off x="1353312" y="4809744"/>
            <a:ext cx="4526280" cy="658368"/>
          </a:xfrm>
          <a:prstGeom prst="rect">
            <a:avLst/>
          </a:prstGeom>
          <a:noFill/>
          <a:ln/>
        </p:spPr>
        <p:txBody>
          <a:bodyPr wrap="square" lIns="0" tIns="0" rIns="0" bIns="0" rtlCol="0" anchor="ctr"/>
          <a:lstStyle/>
          <a:p>
            <a:pPr marL="0" indent="0">
              <a:buNone/>
            </a:pPr>
            <a:r>
              <a:rPr lang="en-US" sz="1300" dirty="0">
                <a:solidFill>
                  <a:srgbClr val="333331"/>
                </a:solidFill>
                <a:latin typeface="Arial" pitchFamily="34" charset="0"/>
                <a:ea typeface="Arial" pitchFamily="34" charset="-122"/>
                <a:cs typeface="Arial" pitchFamily="34" charset="-120"/>
              </a:rPr>
              <a:t>Keep direction while requests lie ahead</a:t>
            </a:r>
            <a:endParaRPr lang="en-US" sz="1300" dirty="0"/>
          </a:p>
        </p:txBody>
      </p:sp>
      <p:sp>
        <p:nvSpPr>
          <p:cNvPr id="36" name="Shape 33"/>
          <p:cNvSpPr/>
          <p:nvPr/>
        </p:nvSpPr>
        <p:spPr>
          <a:xfrm>
            <a:off x="6199632" y="4809744"/>
            <a:ext cx="5349240" cy="658368"/>
          </a:xfrm>
          <a:prstGeom prst="rect">
            <a:avLst/>
          </a:prstGeom>
          <a:solidFill>
            <a:srgbClr val="F2F3F2"/>
          </a:solidFill>
          <a:ln w="12700">
            <a:solidFill>
              <a:srgbClr val="D7D7D5"/>
            </a:solidFill>
            <a:prstDash val="solid"/>
          </a:ln>
        </p:spPr>
        <p:txBody>
          <a:bodyPr/>
          <a:lstStyle/>
          <a:p>
            <a:endParaRPr lang="de-DE"/>
          </a:p>
        </p:txBody>
      </p:sp>
      <p:sp>
        <p:nvSpPr>
          <p:cNvPr id="37" name="Text 34"/>
          <p:cNvSpPr/>
          <p:nvPr/>
        </p:nvSpPr>
        <p:spPr>
          <a:xfrm>
            <a:off x="6309360" y="4809744"/>
            <a:ext cx="548640" cy="658368"/>
          </a:xfrm>
          <a:prstGeom prst="rect">
            <a:avLst/>
          </a:prstGeom>
          <a:noFill/>
          <a:ln/>
        </p:spPr>
        <p:txBody>
          <a:bodyPr wrap="square" lIns="0" tIns="0" rIns="0" bIns="0" rtlCol="0" anchor="ctr"/>
          <a:lstStyle/>
          <a:p>
            <a:pPr marL="0" indent="0" algn="ctr">
              <a:buNone/>
            </a:pPr>
            <a:r>
              <a:rPr lang="en-US" sz="1600" b="1" dirty="0">
                <a:solidFill>
                  <a:srgbClr val="0B6E7A"/>
                </a:solidFill>
                <a:latin typeface="Arial" pitchFamily="34" charset="0"/>
                <a:ea typeface="Arial" pitchFamily="34" charset="-122"/>
                <a:cs typeface="Arial" pitchFamily="34" charset="-120"/>
              </a:rPr>
              <a:t>10</a:t>
            </a:r>
            <a:endParaRPr lang="en-US" sz="1600" dirty="0"/>
          </a:p>
        </p:txBody>
      </p:sp>
      <p:sp>
        <p:nvSpPr>
          <p:cNvPr id="38" name="Text 35"/>
          <p:cNvSpPr/>
          <p:nvPr/>
        </p:nvSpPr>
        <p:spPr>
          <a:xfrm>
            <a:off x="6912864" y="4809744"/>
            <a:ext cx="4526280" cy="658368"/>
          </a:xfrm>
          <a:prstGeom prst="rect">
            <a:avLst/>
          </a:prstGeom>
          <a:noFill/>
          <a:ln/>
        </p:spPr>
        <p:txBody>
          <a:bodyPr wrap="square" lIns="0" tIns="0" rIns="0" bIns="0" rtlCol="0" anchor="ctr"/>
          <a:lstStyle/>
          <a:p>
            <a:pPr marL="0" indent="0">
              <a:buNone/>
            </a:pPr>
            <a:r>
              <a:rPr lang="en-US" sz="1300" dirty="0">
                <a:solidFill>
                  <a:srgbClr val="333331"/>
                </a:solidFill>
                <a:latin typeface="Arial" pitchFamily="34" charset="0"/>
                <a:ea typeface="Arial" pitchFamily="34" charset="-122"/>
                <a:cs typeface="Arial" pitchFamily="34" charset="-120"/>
              </a:rPr>
              <a:t>Reverse when requests remain only behind</a:t>
            </a:r>
            <a:endParaRPr lang="en-US" sz="1300" dirty="0"/>
          </a:p>
        </p:txBody>
      </p:sp>
      <p:sp>
        <p:nvSpPr>
          <p:cNvPr id="39" name="Shape 36"/>
          <p:cNvSpPr/>
          <p:nvPr/>
        </p:nvSpPr>
        <p:spPr>
          <a:xfrm>
            <a:off x="640080" y="5577840"/>
            <a:ext cx="5349240" cy="658368"/>
          </a:xfrm>
          <a:prstGeom prst="rect">
            <a:avLst/>
          </a:prstGeom>
          <a:solidFill>
            <a:srgbClr val="F2F3F2"/>
          </a:solidFill>
          <a:ln w="12700">
            <a:solidFill>
              <a:srgbClr val="D7D7D5"/>
            </a:solidFill>
            <a:prstDash val="solid"/>
          </a:ln>
        </p:spPr>
        <p:txBody>
          <a:bodyPr/>
          <a:lstStyle/>
          <a:p>
            <a:endParaRPr lang="de-DE"/>
          </a:p>
        </p:txBody>
      </p:sp>
      <p:sp>
        <p:nvSpPr>
          <p:cNvPr id="40" name="Text 37"/>
          <p:cNvSpPr/>
          <p:nvPr/>
        </p:nvSpPr>
        <p:spPr>
          <a:xfrm>
            <a:off x="749808" y="5577840"/>
            <a:ext cx="548640" cy="658368"/>
          </a:xfrm>
          <a:prstGeom prst="rect">
            <a:avLst/>
          </a:prstGeom>
          <a:noFill/>
          <a:ln/>
        </p:spPr>
        <p:txBody>
          <a:bodyPr wrap="square" lIns="0" tIns="0" rIns="0" bIns="0" rtlCol="0" anchor="ctr"/>
          <a:lstStyle/>
          <a:p>
            <a:pPr marL="0" indent="0" algn="ctr">
              <a:buNone/>
            </a:pPr>
            <a:r>
              <a:rPr lang="en-US" sz="1600" b="1" dirty="0">
                <a:solidFill>
                  <a:srgbClr val="0B6E7A"/>
                </a:solidFill>
                <a:latin typeface="Arial" pitchFamily="34" charset="0"/>
                <a:ea typeface="Arial" pitchFamily="34" charset="-122"/>
                <a:cs typeface="Arial" pitchFamily="34" charset="-120"/>
              </a:rPr>
              <a:t>11</a:t>
            </a:r>
            <a:endParaRPr lang="en-US" sz="1600" dirty="0"/>
          </a:p>
        </p:txBody>
      </p:sp>
      <p:sp>
        <p:nvSpPr>
          <p:cNvPr id="41" name="Text 38"/>
          <p:cNvSpPr/>
          <p:nvPr/>
        </p:nvSpPr>
        <p:spPr>
          <a:xfrm>
            <a:off x="1353312" y="5577840"/>
            <a:ext cx="4526280" cy="658368"/>
          </a:xfrm>
          <a:prstGeom prst="rect">
            <a:avLst/>
          </a:prstGeom>
          <a:noFill/>
          <a:ln/>
        </p:spPr>
        <p:txBody>
          <a:bodyPr wrap="square" lIns="0" tIns="0" rIns="0" bIns="0" rtlCol="0" anchor="ctr"/>
          <a:lstStyle/>
          <a:p>
            <a:pPr marL="0" indent="0">
              <a:buNone/>
            </a:pPr>
            <a:r>
              <a:rPr lang="en-US" sz="1300" dirty="0">
                <a:solidFill>
                  <a:srgbClr val="333331"/>
                </a:solidFill>
                <a:latin typeface="Arial" pitchFamily="34" charset="0"/>
                <a:ea typeface="Arial" pitchFamily="34" charset="-122"/>
                <a:cs typeface="Arial" pitchFamily="34" charset="-120"/>
              </a:rPr>
              <a:t>Minimum dwell 6 s + door open/close time</a:t>
            </a:r>
            <a:endParaRPr lang="en-US" sz="1300" dirty="0"/>
          </a:p>
        </p:txBody>
      </p:sp>
      <p:sp>
        <p:nvSpPr>
          <p:cNvPr id="42" name="Shape 39"/>
          <p:cNvSpPr/>
          <p:nvPr/>
        </p:nvSpPr>
        <p:spPr>
          <a:xfrm>
            <a:off x="6199632" y="5577840"/>
            <a:ext cx="5349240" cy="658368"/>
          </a:xfrm>
          <a:prstGeom prst="rect">
            <a:avLst/>
          </a:prstGeom>
          <a:solidFill>
            <a:srgbClr val="F6ECE9"/>
          </a:solidFill>
          <a:ln w="12700">
            <a:solidFill>
              <a:srgbClr val="B23A2E"/>
            </a:solidFill>
            <a:prstDash val="solid"/>
          </a:ln>
        </p:spPr>
        <p:txBody>
          <a:bodyPr/>
          <a:lstStyle/>
          <a:p>
            <a:endParaRPr lang="de-DE"/>
          </a:p>
        </p:txBody>
      </p:sp>
      <p:sp>
        <p:nvSpPr>
          <p:cNvPr id="43" name="Text 40"/>
          <p:cNvSpPr/>
          <p:nvPr/>
        </p:nvSpPr>
        <p:spPr>
          <a:xfrm>
            <a:off x="6309360" y="5577840"/>
            <a:ext cx="548640" cy="658368"/>
          </a:xfrm>
          <a:prstGeom prst="rect">
            <a:avLst/>
          </a:prstGeom>
          <a:noFill/>
          <a:ln/>
        </p:spPr>
        <p:txBody>
          <a:bodyPr wrap="square" lIns="0" tIns="0" rIns="0" bIns="0" rtlCol="0" anchor="ctr"/>
          <a:lstStyle/>
          <a:p>
            <a:pPr marL="0" indent="0" algn="ctr">
              <a:buNone/>
            </a:pPr>
            <a:r>
              <a:rPr lang="en-US" sz="1600" b="1" dirty="0">
                <a:solidFill>
                  <a:srgbClr val="B23A2E"/>
                </a:solidFill>
                <a:latin typeface="Arial" pitchFamily="34" charset="0"/>
                <a:ea typeface="Arial" pitchFamily="34" charset="-122"/>
                <a:cs typeface="Arial" pitchFamily="34" charset="-120"/>
              </a:rPr>
              <a:t>12</a:t>
            </a:r>
            <a:endParaRPr lang="en-US" sz="1600" dirty="0"/>
          </a:p>
        </p:txBody>
      </p:sp>
      <p:sp>
        <p:nvSpPr>
          <p:cNvPr id="44" name="Text 41"/>
          <p:cNvSpPr/>
          <p:nvPr/>
        </p:nvSpPr>
        <p:spPr>
          <a:xfrm>
            <a:off x="6912864" y="5577840"/>
            <a:ext cx="4526280" cy="658368"/>
          </a:xfrm>
          <a:prstGeom prst="rect">
            <a:avLst/>
          </a:prstGeom>
          <a:noFill/>
          <a:ln/>
        </p:spPr>
        <p:txBody>
          <a:bodyPr wrap="square" lIns="0" tIns="0" rIns="0" bIns="0" rtlCol="0" anchor="ctr"/>
          <a:lstStyle/>
          <a:p>
            <a:pPr marL="0" indent="0">
              <a:buNone/>
            </a:pPr>
            <a:r>
              <a:rPr lang="en-US" sz="1300" dirty="0">
                <a:solidFill>
                  <a:srgbClr val="333331"/>
                </a:solidFill>
                <a:latin typeface="Arial" pitchFamily="34" charset="0"/>
                <a:ea typeface="Arial" pitchFamily="34" charset="-122"/>
                <a:cs typeface="Arial" pitchFamily="34" charset="-120"/>
              </a:rPr>
              <a:t>Emergency stop button; resume after reset</a:t>
            </a:r>
            <a:endParaRPr lang="en-US" sz="1300" dirty="0"/>
          </a:p>
        </p:txBody>
      </p:sp>
      <p:sp>
        <p:nvSpPr>
          <p:cNvPr id="45" name="Text 42"/>
          <p:cNvSpPr/>
          <p:nvPr/>
        </p:nvSpPr>
        <p:spPr>
          <a:xfrm>
            <a:off x="640080" y="6355080"/>
            <a:ext cx="10972800" cy="274320"/>
          </a:xfrm>
          <a:prstGeom prst="rect">
            <a:avLst/>
          </a:prstGeom>
          <a:noFill/>
          <a:ln/>
        </p:spPr>
        <p:txBody>
          <a:bodyPr wrap="square" lIns="0" tIns="0" rIns="0" bIns="0" rtlCol="0" anchor="ctr"/>
          <a:lstStyle/>
          <a:p>
            <a:pPr marL="0" indent="0">
              <a:buNone/>
            </a:pPr>
            <a:r>
              <a:rPr lang="en-US" sz="1150" i="1" dirty="0">
                <a:solidFill>
                  <a:srgbClr val="6E6E6C"/>
                </a:solidFill>
                <a:latin typeface="Arial" pitchFamily="34" charset="0"/>
                <a:ea typeface="Arial" pitchFamily="34" charset="-122"/>
                <a:cs typeface="Arial" pitchFamily="34" charset="-120"/>
              </a:rPr>
              <a:t>Together these define collective control (SCAN) — the focus of this part.</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40080" y="502920"/>
            <a:ext cx="9144000" cy="292608"/>
          </a:xfrm>
          <a:prstGeom prst="rect">
            <a:avLst/>
          </a:prstGeom>
          <a:noFill/>
          <a:ln/>
        </p:spPr>
        <p:txBody>
          <a:bodyPr wrap="square" lIns="0" tIns="0" rIns="0" bIns="0" rtlCol="0" anchor="ctr"/>
          <a:lstStyle/>
          <a:p>
            <a:pPr marL="0" indent="0">
              <a:buNone/>
            </a:pPr>
            <a:r>
              <a:rPr lang="en-US" sz="1200" b="1" kern="0" spc="200" dirty="0">
                <a:solidFill>
                  <a:srgbClr val="0B6E7A"/>
                </a:solidFill>
                <a:latin typeface="Arial" pitchFamily="34" charset="0"/>
                <a:ea typeface="Arial" pitchFamily="34" charset="-122"/>
                <a:cs typeface="Arial" pitchFamily="34" charset="-120"/>
              </a:rPr>
              <a:t>PART 2 · HARDWARE</a:t>
            </a:r>
            <a:endParaRPr lang="en-US" sz="1200" dirty="0"/>
          </a:p>
        </p:txBody>
      </p:sp>
      <p:sp>
        <p:nvSpPr>
          <p:cNvPr id="4" name="Text 2"/>
          <p:cNvSpPr/>
          <p:nvPr/>
        </p:nvSpPr>
        <p:spPr>
          <a:xfrm>
            <a:off x="640080" y="804672"/>
            <a:ext cx="10515600" cy="731520"/>
          </a:xfrm>
          <a:prstGeom prst="rect">
            <a:avLst/>
          </a:prstGeom>
          <a:noFill/>
          <a:ln/>
        </p:spPr>
        <p:txBody>
          <a:bodyPr wrap="square" lIns="0" tIns="0" rIns="0" bIns="0" rtlCol="0" anchor="ctr"/>
          <a:lstStyle/>
          <a:p>
            <a:pPr marL="0" indent="0">
              <a:buNone/>
            </a:pPr>
            <a:r>
              <a:rPr lang="en-US" sz="2800" b="1" dirty="0">
                <a:solidFill>
                  <a:srgbClr val="2D2D2B"/>
                </a:solidFill>
                <a:latin typeface="Arial" pitchFamily="34" charset="0"/>
                <a:ea typeface="Arial" pitchFamily="34" charset="-122"/>
                <a:cs typeface="Arial" pitchFamily="34" charset="-120"/>
              </a:rPr>
              <a:t>The elevator: 4 levels, 2 speeds, 5 sensors per level</a:t>
            </a:r>
            <a:endParaRPr lang="en-US" sz="2800" dirty="0"/>
          </a:p>
        </p:txBody>
      </p:sp>
      <p:sp>
        <p:nvSpPr>
          <p:cNvPr id="5" name="Shape 3"/>
          <p:cNvSpPr/>
          <p:nvPr/>
        </p:nvSpPr>
        <p:spPr>
          <a:xfrm>
            <a:off x="640080" y="6382512"/>
            <a:ext cx="10908792" cy="0"/>
          </a:xfrm>
          <a:prstGeom prst="line">
            <a:avLst/>
          </a:prstGeom>
          <a:noFill/>
          <a:ln w="9525">
            <a:solidFill>
              <a:srgbClr val="D7D7D5"/>
            </a:solidFill>
            <a:prstDash val="solid"/>
          </a:ln>
        </p:spPr>
        <p:txBody>
          <a:bodyPr/>
          <a:lstStyle/>
          <a:p>
            <a:endParaRPr lang="de-DE"/>
          </a:p>
        </p:txBody>
      </p:sp>
      <p:sp>
        <p:nvSpPr>
          <p:cNvPr id="6" name="Text 4"/>
          <p:cNvSpPr/>
          <p:nvPr/>
        </p:nvSpPr>
        <p:spPr>
          <a:xfrm>
            <a:off x="640080" y="6437376"/>
            <a:ext cx="8229600" cy="274320"/>
          </a:xfrm>
          <a:prstGeom prst="rect">
            <a:avLst/>
          </a:prstGeom>
          <a:noFill/>
          <a:ln/>
        </p:spPr>
        <p:txBody>
          <a:bodyPr wrap="square" lIns="0" tIns="0" rIns="0" bIns="0" rtlCol="0" anchor="ctr"/>
          <a:lstStyle/>
          <a:p>
            <a:pPr marL="0" indent="0">
              <a:buNone/>
            </a:pPr>
            <a:r>
              <a:rPr lang="en-US" sz="900" dirty="0">
                <a:solidFill>
                  <a:srgbClr val="6E6E6C"/>
                </a:solidFill>
                <a:latin typeface="Arial" pitchFamily="34" charset="0"/>
                <a:ea typeface="Arial" pitchFamily="34" charset="-122"/>
                <a:cs typeface="Arial" pitchFamily="34" charset="-120"/>
              </a:rPr>
              <a:t>HTWG Konstanz  ·  System Architecture  ·  Group E</a:t>
            </a:r>
            <a:endParaRPr lang="en-US" sz="900" dirty="0"/>
          </a:p>
        </p:txBody>
      </p:sp>
      <p:sp>
        <p:nvSpPr>
          <p:cNvPr id="7" name="Text 5"/>
          <p:cNvSpPr/>
          <p:nvPr/>
        </p:nvSpPr>
        <p:spPr>
          <a:xfrm>
            <a:off x="10881360" y="6437376"/>
            <a:ext cx="667512" cy="274320"/>
          </a:xfrm>
          <a:prstGeom prst="rect">
            <a:avLst/>
          </a:prstGeom>
          <a:noFill/>
          <a:ln/>
        </p:spPr>
        <p:txBody>
          <a:bodyPr wrap="square" lIns="0" tIns="0" rIns="0" bIns="0" rtlCol="0" anchor="ctr"/>
          <a:lstStyle/>
          <a:p>
            <a:pPr marL="0" indent="0" algn="r">
              <a:buNone/>
            </a:pPr>
            <a:r>
              <a:rPr lang="en-US" sz="900" dirty="0">
                <a:solidFill>
                  <a:srgbClr val="6E6E6C"/>
                </a:solidFill>
                <a:latin typeface="Arial" pitchFamily="34" charset="0"/>
                <a:ea typeface="Arial" pitchFamily="34" charset="-122"/>
                <a:cs typeface="Arial" pitchFamily="34" charset="-120"/>
              </a:rPr>
              <a:t>8</a:t>
            </a:r>
            <a:endParaRPr lang="en-US" sz="900" dirty="0"/>
          </a:p>
        </p:txBody>
      </p:sp>
      <p:sp>
        <p:nvSpPr>
          <p:cNvPr id="9" name="Shape 6"/>
          <p:cNvSpPr/>
          <p:nvPr/>
        </p:nvSpPr>
        <p:spPr>
          <a:xfrm>
            <a:off x="640080" y="1783080"/>
            <a:ext cx="4114800" cy="4206240"/>
          </a:xfrm>
          <a:prstGeom prst="rect">
            <a:avLst/>
          </a:prstGeom>
          <a:solidFill>
            <a:srgbClr val="F2F3F2"/>
          </a:solidFill>
          <a:ln w="15875">
            <a:solidFill>
              <a:srgbClr val="2D2D2B"/>
            </a:solidFill>
            <a:prstDash val="solid"/>
          </a:ln>
        </p:spPr>
        <p:txBody>
          <a:bodyPr/>
          <a:lstStyle/>
          <a:p>
            <a:endParaRPr lang="de-DE"/>
          </a:p>
        </p:txBody>
      </p:sp>
      <p:sp>
        <p:nvSpPr>
          <p:cNvPr id="10" name="Text 7"/>
          <p:cNvSpPr/>
          <p:nvPr/>
        </p:nvSpPr>
        <p:spPr>
          <a:xfrm>
            <a:off x="822960" y="1874520"/>
            <a:ext cx="1828800" cy="365760"/>
          </a:xfrm>
          <a:prstGeom prst="rect">
            <a:avLst/>
          </a:prstGeom>
          <a:noFill/>
          <a:ln/>
        </p:spPr>
        <p:txBody>
          <a:bodyPr wrap="square" lIns="0" tIns="0" rIns="0" bIns="0" rtlCol="0" anchor="ctr"/>
          <a:lstStyle/>
          <a:p>
            <a:pPr marL="0" indent="0">
              <a:buNone/>
            </a:pPr>
            <a:r>
              <a:rPr lang="en-US" sz="1400" b="1" dirty="0">
                <a:solidFill>
                  <a:srgbClr val="2D2D2B"/>
                </a:solidFill>
                <a:latin typeface="Arial" pitchFamily="34" charset="0"/>
                <a:ea typeface="Arial" pitchFamily="34" charset="-122"/>
                <a:cs typeface="Arial" pitchFamily="34" charset="-120"/>
              </a:rPr>
              <a:t>Level 4</a:t>
            </a:r>
            <a:endParaRPr lang="en-US" sz="1400" dirty="0"/>
          </a:p>
        </p:txBody>
      </p:sp>
      <p:sp>
        <p:nvSpPr>
          <p:cNvPr id="11" name="Shape 8"/>
          <p:cNvSpPr/>
          <p:nvPr/>
        </p:nvSpPr>
        <p:spPr>
          <a:xfrm>
            <a:off x="640080" y="2834640"/>
            <a:ext cx="4114800" cy="0"/>
          </a:xfrm>
          <a:prstGeom prst="line">
            <a:avLst/>
          </a:prstGeom>
          <a:noFill/>
          <a:ln w="12700">
            <a:solidFill>
              <a:srgbClr val="D7D7D5"/>
            </a:solidFill>
            <a:prstDash val="solid"/>
          </a:ln>
        </p:spPr>
        <p:txBody>
          <a:bodyPr/>
          <a:lstStyle/>
          <a:p>
            <a:endParaRPr lang="de-DE"/>
          </a:p>
        </p:txBody>
      </p:sp>
      <p:sp>
        <p:nvSpPr>
          <p:cNvPr id="12" name="Text 9"/>
          <p:cNvSpPr/>
          <p:nvPr/>
        </p:nvSpPr>
        <p:spPr>
          <a:xfrm>
            <a:off x="822960" y="2926080"/>
            <a:ext cx="1828800" cy="365760"/>
          </a:xfrm>
          <a:prstGeom prst="rect">
            <a:avLst/>
          </a:prstGeom>
          <a:noFill/>
          <a:ln/>
        </p:spPr>
        <p:txBody>
          <a:bodyPr wrap="square" lIns="0" tIns="0" rIns="0" bIns="0" rtlCol="0" anchor="ctr"/>
          <a:lstStyle/>
          <a:p>
            <a:pPr marL="0" indent="0">
              <a:buNone/>
            </a:pPr>
            <a:r>
              <a:rPr lang="en-US" sz="1400" b="1" dirty="0">
                <a:solidFill>
                  <a:srgbClr val="2D2D2B"/>
                </a:solidFill>
                <a:latin typeface="Arial" pitchFamily="34" charset="0"/>
                <a:ea typeface="Arial" pitchFamily="34" charset="-122"/>
                <a:cs typeface="Arial" pitchFamily="34" charset="-120"/>
              </a:rPr>
              <a:t>Level 3</a:t>
            </a:r>
            <a:endParaRPr lang="en-US" sz="1400" dirty="0"/>
          </a:p>
        </p:txBody>
      </p:sp>
      <p:sp>
        <p:nvSpPr>
          <p:cNvPr id="13" name="Shape 10"/>
          <p:cNvSpPr/>
          <p:nvPr/>
        </p:nvSpPr>
        <p:spPr>
          <a:xfrm>
            <a:off x="640080" y="3886200"/>
            <a:ext cx="4114800" cy="0"/>
          </a:xfrm>
          <a:prstGeom prst="line">
            <a:avLst/>
          </a:prstGeom>
          <a:noFill/>
          <a:ln w="12700">
            <a:solidFill>
              <a:srgbClr val="D7D7D5"/>
            </a:solidFill>
            <a:prstDash val="solid"/>
          </a:ln>
        </p:spPr>
        <p:txBody>
          <a:bodyPr/>
          <a:lstStyle/>
          <a:p>
            <a:endParaRPr lang="de-DE"/>
          </a:p>
        </p:txBody>
      </p:sp>
      <p:sp>
        <p:nvSpPr>
          <p:cNvPr id="14" name="Text 11"/>
          <p:cNvSpPr/>
          <p:nvPr/>
        </p:nvSpPr>
        <p:spPr>
          <a:xfrm>
            <a:off x="822960" y="3977640"/>
            <a:ext cx="1828800" cy="365760"/>
          </a:xfrm>
          <a:prstGeom prst="rect">
            <a:avLst/>
          </a:prstGeom>
          <a:noFill/>
          <a:ln/>
        </p:spPr>
        <p:txBody>
          <a:bodyPr wrap="square" lIns="0" tIns="0" rIns="0" bIns="0" rtlCol="0" anchor="ctr"/>
          <a:lstStyle/>
          <a:p>
            <a:pPr marL="0" indent="0">
              <a:buNone/>
            </a:pPr>
            <a:r>
              <a:rPr lang="en-US" sz="1400" b="1" dirty="0">
                <a:solidFill>
                  <a:srgbClr val="2D2D2B"/>
                </a:solidFill>
                <a:latin typeface="Arial" pitchFamily="34" charset="0"/>
                <a:ea typeface="Arial" pitchFamily="34" charset="-122"/>
                <a:cs typeface="Arial" pitchFamily="34" charset="-120"/>
              </a:rPr>
              <a:t>Level 2</a:t>
            </a:r>
            <a:endParaRPr lang="en-US" sz="1400" dirty="0"/>
          </a:p>
        </p:txBody>
      </p:sp>
      <p:sp>
        <p:nvSpPr>
          <p:cNvPr id="15" name="Shape 12"/>
          <p:cNvSpPr/>
          <p:nvPr/>
        </p:nvSpPr>
        <p:spPr>
          <a:xfrm>
            <a:off x="640080" y="4937760"/>
            <a:ext cx="4114800" cy="0"/>
          </a:xfrm>
          <a:prstGeom prst="line">
            <a:avLst/>
          </a:prstGeom>
          <a:noFill/>
          <a:ln w="12700">
            <a:solidFill>
              <a:srgbClr val="D7D7D5"/>
            </a:solidFill>
            <a:prstDash val="solid"/>
          </a:ln>
        </p:spPr>
        <p:txBody>
          <a:bodyPr/>
          <a:lstStyle/>
          <a:p>
            <a:endParaRPr lang="de-DE"/>
          </a:p>
        </p:txBody>
      </p:sp>
      <p:sp>
        <p:nvSpPr>
          <p:cNvPr id="16" name="Text 13"/>
          <p:cNvSpPr/>
          <p:nvPr/>
        </p:nvSpPr>
        <p:spPr>
          <a:xfrm>
            <a:off x="822960" y="5029200"/>
            <a:ext cx="1828800" cy="365760"/>
          </a:xfrm>
          <a:prstGeom prst="rect">
            <a:avLst/>
          </a:prstGeom>
          <a:noFill/>
          <a:ln/>
        </p:spPr>
        <p:txBody>
          <a:bodyPr wrap="square" lIns="0" tIns="0" rIns="0" bIns="0" rtlCol="0" anchor="ctr"/>
          <a:lstStyle/>
          <a:p>
            <a:pPr marL="0" indent="0">
              <a:buNone/>
            </a:pPr>
            <a:r>
              <a:rPr lang="en-US" sz="1400" b="1" dirty="0">
                <a:solidFill>
                  <a:srgbClr val="2D2D2B"/>
                </a:solidFill>
                <a:latin typeface="Arial" pitchFamily="34" charset="0"/>
                <a:ea typeface="Arial" pitchFamily="34" charset="-122"/>
                <a:cs typeface="Arial" pitchFamily="34" charset="-120"/>
              </a:rPr>
              <a:t>Level 1</a:t>
            </a:r>
            <a:endParaRPr lang="en-US" sz="1400" dirty="0"/>
          </a:p>
        </p:txBody>
      </p:sp>
      <p:sp>
        <p:nvSpPr>
          <p:cNvPr id="17" name="Shape 14"/>
          <p:cNvSpPr/>
          <p:nvPr/>
        </p:nvSpPr>
        <p:spPr>
          <a:xfrm>
            <a:off x="3108960" y="4050792"/>
            <a:ext cx="1463040" cy="731520"/>
          </a:xfrm>
          <a:prstGeom prst="rect">
            <a:avLst/>
          </a:prstGeom>
          <a:solidFill>
            <a:srgbClr val="0B6E7A"/>
          </a:solidFill>
          <a:ln/>
        </p:spPr>
        <p:txBody>
          <a:bodyPr/>
          <a:lstStyle/>
          <a:p>
            <a:endParaRPr lang="de-DE"/>
          </a:p>
        </p:txBody>
      </p:sp>
      <p:sp>
        <p:nvSpPr>
          <p:cNvPr id="18" name="Text 15"/>
          <p:cNvSpPr/>
          <p:nvPr/>
        </p:nvSpPr>
        <p:spPr>
          <a:xfrm>
            <a:off x="3108960" y="4050792"/>
            <a:ext cx="1463040" cy="7315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CABIN</a:t>
            </a:r>
            <a:endParaRPr lang="en-US" sz="1200" dirty="0"/>
          </a:p>
        </p:txBody>
      </p:sp>
      <p:sp>
        <p:nvSpPr>
          <p:cNvPr id="19" name="Shape 16"/>
          <p:cNvSpPr/>
          <p:nvPr/>
        </p:nvSpPr>
        <p:spPr>
          <a:xfrm>
            <a:off x="5349240" y="1783080"/>
            <a:ext cx="6199632" cy="1600200"/>
          </a:xfrm>
          <a:prstGeom prst="rect">
            <a:avLst/>
          </a:prstGeom>
          <a:solidFill>
            <a:srgbClr val="F2F3F2"/>
          </a:solidFill>
          <a:ln w="12700">
            <a:solidFill>
              <a:srgbClr val="D7D7D5"/>
            </a:solidFill>
            <a:prstDash val="solid"/>
          </a:ln>
        </p:spPr>
        <p:txBody>
          <a:bodyPr/>
          <a:lstStyle/>
          <a:p>
            <a:endParaRPr lang="de-DE"/>
          </a:p>
        </p:txBody>
      </p:sp>
      <p:sp>
        <p:nvSpPr>
          <p:cNvPr id="20" name="Text 17"/>
          <p:cNvSpPr/>
          <p:nvPr/>
        </p:nvSpPr>
        <p:spPr>
          <a:xfrm>
            <a:off x="5577840" y="1947672"/>
            <a:ext cx="5760720" cy="365760"/>
          </a:xfrm>
          <a:prstGeom prst="rect">
            <a:avLst/>
          </a:prstGeom>
          <a:noFill/>
          <a:ln/>
        </p:spPr>
        <p:txBody>
          <a:bodyPr wrap="square" lIns="0" tIns="0" rIns="0" bIns="0" rtlCol="0" anchor="ctr"/>
          <a:lstStyle/>
          <a:p>
            <a:pPr marL="0" indent="0">
              <a:buNone/>
            </a:pPr>
            <a:r>
              <a:rPr lang="en-US" sz="1500" b="1" dirty="0">
                <a:solidFill>
                  <a:srgbClr val="2D2D2B"/>
                </a:solidFill>
                <a:latin typeface="Arial" pitchFamily="34" charset="0"/>
                <a:ea typeface="Arial" pitchFamily="34" charset="-122"/>
                <a:cs typeface="Arial" pitchFamily="34" charset="-120"/>
              </a:rPr>
              <a:t>Travel &amp; speeds</a:t>
            </a:r>
            <a:endParaRPr lang="en-US" sz="1500" dirty="0"/>
          </a:p>
        </p:txBody>
      </p:sp>
      <p:sp>
        <p:nvSpPr>
          <p:cNvPr id="21" name="Text 18"/>
          <p:cNvSpPr/>
          <p:nvPr/>
        </p:nvSpPr>
        <p:spPr>
          <a:xfrm>
            <a:off x="5577840" y="2331720"/>
            <a:ext cx="5760720" cy="10058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333331"/>
                </a:solidFill>
                <a:latin typeface="Arial" pitchFamily="34" charset="0"/>
                <a:ea typeface="Arial" pitchFamily="34" charset="-122"/>
                <a:cs typeface="Arial" pitchFamily="34" charset="-120"/>
              </a:rPr>
              <a:t>Level height 3.5 m · two drive speeds per direction.</a:t>
            </a:r>
            <a:endParaRPr lang="en-US" sz="1300" dirty="0"/>
          </a:p>
          <a:p>
            <a:pPr marL="177800" indent="-177800">
              <a:spcAft>
                <a:spcPts val="600"/>
              </a:spcAft>
              <a:buSzPct val="100000"/>
              <a:buChar char="•"/>
            </a:pPr>
            <a:r>
              <a:rPr lang="en-US" sz="1300" dirty="0">
                <a:solidFill>
                  <a:srgbClr val="333331"/>
                </a:solidFill>
                <a:latin typeface="Arial" pitchFamily="34" charset="0"/>
                <a:ea typeface="Arial" pitchFamily="34" charset="-122"/>
                <a:cs typeface="Arial" pitchFamily="34" charset="-120"/>
              </a:rPr>
              <a:t>v2 ≈ 1 m/s (fast) · v1 ≈ 0.1 m/s (slow) · crawl −5…5 cm/s.</a:t>
            </a:r>
            <a:endParaRPr lang="en-US" sz="1300" dirty="0"/>
          </a:p>
          <a:p>
            <a:pPr marL="177800" indent="-177800">
              <a:spcAft>
                <a:spcPts val="600"/>
              </a:spcAft>
              <a:buSzPct val="100000"/>
              <a:buChar char="•"/>
            </a:pPr>
            <a:r>
              <a:rPr lang="en-US" sz="1300" dirty="0">
                <a:solidFill>
                  <a:srgbClr val="333331"/>
                </a:solidFill>
                <a:latin typeface="Arial" pitchFamily="34" charset="0"/>
                <a:ea typeface="Arial" pitchFamily="34" charset="-122"/>
                <a:cs typeface="Arial" pitchFamily="34" charset="-120"/>
              </a:rPr>
              <a:t>Always drive at the highest safe speed, slow before stopping.</a:t>
            </a:r>
            <a:endParaRPr lang="en-US" sz="1300" dirty="0"/>
          </a:p>
        </p:txBody>
      </p:sp>
      <p:sp>
        <p:nvSpPr>
          <p:cNvPr id="22" name="Shape 19"/>
          <p:cNvSpPr/>
          <p:nvPr/>
        </p:nvSpPr>
        <p:spPr>
          <a:xfrm>
            <a:off x="5349240" y="3520440"/>
            <a:ext cx="6199632" cy="2286000"/>
          </a:xfrm>
          <a:prstGeom prst="rect">
            <a:avLst/>
          </a:prstGeom>
          <a:solidFill>
            <a:srgbClr val="F2F3F2"/>
          </a:solidFill>
          <a:ln w="12700">
            <a:solidFill>
              <a:srgbClr val="D7D7D5"/>
            </a:solidFill>
            <a:prstDash val="solid"/>
          </a:ln>
        </p:spPr>
        <p:txBody>
          <a:bodyPr/>
          <a:lstStyle/>
          <a:p>
            <a:endParaRPr lang="de-DE"/>
          </a:p>
        </p:txBody>
      </p:sp>
      <p:sp>
        <p:nvSpPr>
          <p:cNvPr id="23" name="Text 20"/>
          <p:cNvSpPr/>
          <p:nvPr/>
        </p:nvSpPr>
        <p:spPr>
          <a:xfrm>
            <a:off x="5577840" y="3685032"/>
            <a:ext cx="5760720" cy="365760"/>
          </a:xfrm>
          <a:prstGeom prst="rect">
            <a:avLst/>
          </a:prstGeom>
          <a:noFill/>
          <a:ln/>
        </p:spPr>
        <p:txBody>
          <a:bodyPr wrap="square" lIns="0" tIns="0" rIns="0" bIns="0" rtlCol="0" anchor="ctr"/>
          <a:lstStyle/>
          <a:p>
            <a:pPr marL="0" indent="0">
              <a:buNone/>
            </a:pPr>
            <a:r>
              <a:rPr lang="en-US" sz="1500" b="1" dirty="0">
                <a:solidFill>
                  <a:srgbClr val="2D2D2B"/>
                </a:solidFill>
                <a:latin typeface="Arial" pitchFamily="34" charset="0"/>
                <a:ea typeface="Arial" pitchFamily="34" charset="-122"/>
                <a:cs typeface="Arial" pitchFamily="34" charset="-120"/>
              </a:rPr>
              <a:t>Five sensors around every level</a:t>
            </a:r>
            <a:endParaRPr lang="en-US" sz="1500" dirty="0"/>
          </a:p>
        </p:txBody>
      </p:sp>
      <p:sp>
        <p:nvSpPr>
          <p:cNvPr id="24" name="Text 21"/>
          <p:cNvSpPr/>
          <p:nvPr/>
        </p:nvSpPr>
        <p:spPr>
          <a:xfrm>
            <a:off x="5577840" y="4096512"/>
            <a:ext cx="5852160" cy="1554480"/>
          </a:xfrm>
          <a:prstGeom prst="rect">
            <a:avLst/>
          </a:prstGeom>
          <a:noFill/>
          <a:ln/>
        </p:spPr>
        <p:txBody>
          <a:bodyPr wrap="square" lIns="0" tIns="0" rIns="0" bIns="0" rtlCol="0" anchor="ctr"/>
          <a:lstStyle/>
          <a:p>
            <a:pPr marL="0" indent="0">
              <a:spcAft>
                <a:spcPts val="500"/>
              </a:spcAft>
              <a:buNone/>
            </a:pPr>
            <a:r>
              <a:rPr lang="en-US" sz="1100" dirty="0">
                <a:solidFill>
                  <a:srgbClr val="333331"/>
                </a:solidFill>
                <a:latin typeface="Consolas" pitchFamily="34" charset="0"/>
                <a:ea typeface="Consolas" pitchFamily="34" charset="-122"/>
                <a:cs typeface="Consolas" pitchFamily="34" charset="-120"/>
              </a:rPr>
              <a:t>approach lower (al)   −1.5 m    start slowing when going UP</a:t>
            </a:r>
            <a:endParaRPr lang="en-US" sz="1100" dirty="0"/>
          </a:p>
          <a:p>
            <a:pPr marL="0" indent="0">
              <a:spcAft>
                <a:spcPts val="500"/>
              </a:spcAft>
              <a:buNone/>
            </a:pPr>
            <a:r>
              <a:rPr lang="en-US" sz="1100" dirty="0">
                <a:solidFill>
                  <a:srgbClr val="333331"/>
                </a:solidFill>
                <a:latin typeface="Consolas" pitchFamily="34" charset="0"/>
                <a:ea typeface="Consolas" pitchFamily="34" charset="-122"/>
                <a:cs typeface="Consolas" pitchFamily="34" charset="-120"/>
              </a:rPr>
              <a:t>safety lower (sl)     −50 mm    switch to crawl when going UP</a:t>
            </a:r>
            <a:endParaRPr lang="en-US" sz="1100" dirty="0"/>
          </a:p>
          <a:p>
            <a:pPr marL="0" indent="0">
              <a:spcAft>
                <a:spcPts val="500"/>
              </a:spcAft>
              <a:buNone/>
            </a:pPr>
            <a:r>
              <a:rPr lang="en-US" sz="1100" dirty="0">
                <a:solidFill>
                  <a:srgbClr val="333331"/>
                </a:solidFill>
                <a:latin typeface="Consolas" pitchFamily="34" charset="0"/>
                <a:ea typeface="Consolas" pitchFamily="34" charset="-122"/>
                <a:cs typeface="Consolas" pitchFamily="34" charset="-120"/>
              </a:rPr>
              <a:t>reached (r)            0 mm     door-safe STOP position</a:t>
            </a:r>
            <a:endParaRPr lang="en-US" sz="1100" dirty="0"/>
          </a:p>
          <a:p>
            <a:pPr marL="0" indent="0">
              <a:spcAft>
                <a:spcPts val="500"/>
              </a:spcAft>
              <a:buNone/>
            </a:pPr>
            <a:r>
              <a:rPr lang="en-US" sz="1100" dirty="0">
                <a:solidFill>
                  <a:srgbClr val="333331"/>
                </a:solidFill>
                <a:latin typeface="Consolas" pitchFamily="34" charset="0"/>
                <a:ea typeface="Consolas" pitchFamily="34" charset="-122"/>
                <a:cs typeface="Consolas" pitchFamily="34" charset="-120"/>
              </a:rPr>
              <a:t>safety upper (su)     +50 mm    switch to crawl when going DOWN</a:t>
            </a:r>
            <a:endParaRPr lang="en-US" sz="1100" dirty="0"/>
          </a:p>
          <a:p>
            <a:pPr marL="0" indent="0">
              <a:buNone/>
            </a:pPr>
            <a:r>
              <a:rPr lang="en-US" sz="1100" dirty="0">
                <a:solidFill>
                  <a:srgbClr val="333331"/>
                </a:solidFill>
                <a:latin typeface="Consolas" pitchFamily="34" charset="0"/>
                <a:ea typeface="Consolas" pitchFamily="34" charset="-122"/>
                <a:cs typeface="Consolas" pitchFamily="34" charset="-120"/>
              </a:rPr>
              <a:t>approach upper (au)   +1.5 m    start slowing when going DOWN</a:t>
            </a:r>
            <a:endParaRPr lang="en-US" sz="1100" dirty="0"/>
          </a:p>
        </p:txBody>
      </p:sp>
      <p:sp>
        <p:nvSpPr>
          <p:cNvPr id="25" name="Text 22"/>
          <p:cNvSpPr/>
          <p:nvPr/>
        </p:nvSpPr>
        <p:spPr>
          <a:xfrm>
            <a:off x="5349240" y="5943600"/>
            <a:ext cx="6199632" cy="365760"/>
          </a:xfrm>
          <a:prstGeom prst="rect">
            <a:avLst/>
          </a:prstGeom>
          <a:noFill/>
          <a:ln/>
        </p:spPr>
        <p:txBody>
          <a:bodyPr wrap="square" lIns="0" tIns="0" rIns="0" bIns="0" rtlCol="0" anchor="ctr"/>
          <a:lstStyle/>
          <a:p>
            <a:pPr marL="0" indent="0">
              <a:buNone/>
            </a:pPr>
            <a:r>
              <a:rPr lang="en-US" sz="1150" i="1" dirty="0">
                <a:solidFill>
                  <a:srgbClr val="6E6E6C"/>
                </a:solidFill>
                <a:latin typeface="Arial" pitchFamily="34" charset="0"/>
                <a:ea typeface="Arial" pitchFamily="34" charset="-122"/>
                <a:cs typeface="Arial" pitchFamily="34" charset="-120"/>
              </a:rPr>
              <a:t>Level 1 has no 'al'; Level 4 has no 'au' — terminal levels are approached from one side only.</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40080" y="502920"/>
            <a:ext cx="9144000" cy="292608"/>
          </a:xfrm>
          <a:prstGeom prst="rect">
            <a:avLst/>
          </a:prstGeom>
          <a:noFill/>
          <a:ln/>
        </p:spPr>
        <p:txBody>
          <a:bodyPr wrap="square" lIns="0" tIns="0" rIns="0" bIns="0" rtlCol="0" anchor="ctr"/>
          <a:lstStyle/>
          <a:p>
            <a:pPr marL="0" indent="0">
              <a:buNone/>
            </a:pPr>
            <a:r>
              <a:rPr lang="en-US" sz="1200" b="1" kern="0" spc="200" dirty="0">
                <a:solidFill>
                  <a:srgbClr val="0B6E7A"/>
                </a:solidFill>
                <a:latin typeface="Arial" pitchFamily="34" charset="0"/>
                <a:ea typeface="Arial" pitchFamily="34" charset="-122"/>
                <a:cs typeface="Arial" pitchFamily="34" charset="-120"/>
              </a:rPr>
              <a:t>PART 2 · ARCHITECTURE</a:t>
            </a:r>
            <a:endParaRPr lang="en-US" sz="1200" dirty="0"/>
          </a:p>
        </p:txBody>
      </p:sp>
      <p:sp>
        <p:nvSpPr>
          <p:cNvPr id="4" name="Text 2"/>
          <p:cNvSpPr/>
          <p:nvPr/>
        </p:nvSpPr>
        <p:spPr>
          <a:xfrm>
            <a:off x="640080" y="804672"/>
            <a:ext cx="10515600" cy="731520"/>
          </a:xfrm>
          <a:prstGeom prst="rect">
            <a:avLst/>
          </a:prstGeom>
          <a:noFill/>
          <a:ln/>
        </p:spPr>
        <p:txBody>
          <a:bodyPr wrap="square" lIns="0" tIns="0" rIns="0" bIns="0" rtlCol="0" anchor="ctr"/>
          <a:lstStyle/>
          <a:p>
            <a:pPr marL="0" indent="0">
              <a:buNone/>
            </a:pPr>
            <a:r>
              <a:rPr lang="en-US" sz="2800" b="1" dirty="0">
                <a:solidFill>
                  <a:srgbClr val="2D2D2B"/>
                </a:solidFill>
                <a:latin typeface="Arial" pitchFamily="34" charset="0"/>
                <a:ea typeface="Arial" pitchFamily="34" charset="-122"/>
                <a:cs typeface="Arial" pitchFamily="34" charset="-120"/>
              </a:rPr>
              <a:t>Hexagonal architecture (Ports &amp; Adapters)</a:t>
            </a:r>
            <a:endParaRPr lang="en-US" sz="2800" dirty="0"/>
          </a:p>
        </p:txBody>
      </p:sp>
      <p:sp>
        <p:nvSpPr>
          <p:cNvPr id="5" name="Shape 3"/>
          <p:cNvSpPr/>
          <p:nvPr/>
        </p:nvSpPr>
        <p:spPr>
          <a:xfrm>
            <a:off x="640080" y="6382512"/>
            <a:ext cx="10908792" cy="0"/>
          </a:xfrm>
          <a:prstGeom prst="line">
            <a:avLst/>
          </a:prstGeom>
          <a:noFill/>
          <a:ln w="9525">
            <a:solidFill>
              <a:srgbClr val="D7D7D5"/>
            </a:solidFill>
            <a:prstDash val="solid"/>
          </a:ln>
        </p:spPr>
        <p:txBody>
          <a:bodyPr/>
          <a:lstStyle/>
          <a:p>
            <a:endParaRPr lang="de-DE"/>
          </a:p>
        </p:txBody>
      </p:sp>
      <p:sp>
        <p:nvSpPr>
          <p:cNvPr id="6" name="Text 4"/>
          <p:cNvSpPr/>
          <p:nvPr/>
        </p:nvSpPr>
        <p:spPr>
          <a:xfrm>
            <a:off x="640080" y="6437376"/>
            <a:ext cx="8229600" cy="274320"/>
          </a:xfrm>
          <a:prstGeom prst="rect">
            <a:avLst/>
          </a:prstGeom>
          <a:noFill/>
          <a:ln/>
        </p:spPr>
        <p:txBody>
          <a:bodyPr wrap="square" lIns="0" tIns="0" rIns="0" bIns="0" rtlCol="0" anchor="ctr"/>
          <a:lstStyle/>
          <a:p>
            <a:pPr marL="0" indent="0">
              <a:buNone/>
            </a:pPr>
            <a:r>
              <a:rPr lang="en-US" sz="900" dirty="0">
                <a:solidFill>
                  <a:srgbClr val="6E6E6C"/>
                </a:solidFill>
                <a:latin typeface="Arial" pitchFamily="34" charset="0"/>
                <a:ea typeface="Arial" pitchFamily="34" charset="-122"/>
                <a:cs typeface="Arial" pitchFamily="34" charset="-120"/>
              </a:rPr>
              <a:t>HTWG Konstanz  ·  System Architecture  ·  Group E</a:t>
            </a:r>
            <a:endParaRPr lang="en-US" sz="900" dirty="0"/>
          </a:p>
        </p:txBody>
      </p:sp>
      <p:sp>
        <p:nvSpPr>
          <p:cNvPr id="7" name="Text 5"/>
          <p:cNvSpPr/>
          <p:nvPr/>
        </p:nvSpPr>
        <p:spPr>
          <a:xfrm>
            <a:off x="10881360" y="6437376"/>
            <a:ext cx="667512" cy="274320"/>
          </a:xfrm>
          <a:prstGeom prst="rect">
            <a:avLst/>
          </a:prstGeom>
          <a:noFill/>
          <a:ln/>
        </p:spPr>
        <p:txBody>
          <a:bodyPr wrap="square" lIns="0" tIns="0" rIns="0" bIns="0" rtlCol="0" anchor="ctr"/>
          <a:lstStyle/>
          <a:p>
            <a:pPr marL="0" indent="0" algn="r">
              <a:buNone/>
            </a:pPr>
            <a:r>
              <a:rPr lang="en-US" sz="900" dirty="0">
                <a:solidFill>
                  <a:srgbClr val="6E6E6C"/>
                </a:solidFill>
                <a:latin typeface="Arial" pitchFamily="34" charset="0"/>
                <a:ea typeface="Arial" pitchFamily="34" charset="-122"/>
                <a:cs typeface="Arial" pitchFamily="34" charset="-120"/>
              </a:rPr>
              <a:t>9</a:t>
            </a:r>
            <a:endParaRPr lang="en-US" sz="900" dirty="0"/>
          </a:p>
        </p:txBody>
      </p:sp>
      <p:sp>
        <p:nvSpPr>
          <p:cNvPr id="9" name="Text 6"/>
          <p:cNvSpPr/>
          <p:nvPr/>
        </p:nvSpPr>
        <p:spPr>
          <a:xfrm>
            <a:off x="640080" y="1572768"/>
            <a:ext cx="10972800" cy="502920"/>
          </a:xfrm>
          <a:prstGeom prst="rect">
            <a:avLst/>
          </a:prstGeom>
          <a:noFill/>
          <a:ln/>
        </p:spPr>
        <p:txBody>
          <a:bodyPr wrap="square" lIns="0" tIns="0" rIns="0" bIns="0" rtlCol="0" anchor="ctr"/>
          <a:lstStyle/>
          <a:p>
            <a:pPr marL="0" indent="0">
              <a:buNone/>
            </a:pPr>
            <a:r>
              <a:rPr lang="en-US" sz="1450" dirty="0">
                <a:solidFill>
                  <a:srgbClr val="6E6E6C"/>
                </a:solidFill>
                <a:latin typeface="Arial" pitchFamily="34" charset="0"/>
                <a:ea typeface="Arial" pitchFamily="34" charset="-122"/>
                <a:cs typeface="Arial" pitchFamily="34" charset="-120"/>
              </a:rPr>
              <a:t>The control logic knows nothing about Modbus or MQTT. It talks only to ports (interfaces); adapters on the edge do the I/O.</a:t>
            </a:r>
            <a:endParaRPr lang="en-US" sz="1450" dirty="0"/>
          </a:p>
        </p:txBody>
      </p:sp>
      <p:sp>
        <p:nvSpPr>
          <p:cNvPr id="10" name="Shape 7"/>
          <p:cNvSpPr/>
          <p:nvPr/>
        </p:nvSpPr>
        <p:spPr>
          <a:xfrm>
            <a:off x="4892040" y="2788920"/>
            <a:ext cx="2423160" cy="1554480"/>
          </a:xfrm>
          <a:prstGeom prst="rect">
            <a:avLst/>
          </a:prstGeom>
          <a:solidFill>
            <a:srgbClr val="0B6E7A"/>
          </a:solidFill>
          <a:ln/>
        </p:spPr>
        <p:txBody>
          <a:bodyPr/>
          <a:lstStyle/>
          <a:p>
            <a:endParaRPr lang="de-DE"/>
          </a:p>
        </p:txBody>
      </p:sp>
      <p:sp>
        <p:nvSpPr>
          <p:cNvPr id="11" name="Text 8"/>
          <p:cNvSpPr/>
          <p:nvPr/>
        </p:nvSpPr>
        <p:spPr>
          <a:xfrm>
            <a:off x="4892040" y="2788920"/>
            <a:ext cx="2423160" cy="155448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DOMAIN
</a:t>
            </a:r>
            <a:r>
              <a:rPr lang="en-US" sz="1200" dirty="0">
                <a:solidFill>
                  <a:srgbClr val="DCEFF1"/>
                </a:solidFill>
                <a:latin typeface="Arial" pitchFamily="34" charset="0"/>
                <a:ea typeface="Arial" pitchFamily="34" charset="-122"/>
                <a:cs typeface="Arial" pitchFamily="34" charset="-120"/>
              </a:rPr>
              <a:t>pure control logic</a:t>
            </a:r>
            <a:endParaRPr lang="en-US" sz="1600" dirty="0"/>
          </a:p>
        </p:txBody>
      </p:sp>
      <p:sp>
        <p:nvSpPr>
          <p:cNvPr id="12" name="Shape 9"/>
          <p:cNvSpPr/>
          <p:nvPr/>
        </p:nvSpPr>
        <p:spPr>
          <a:xfrm>
            <a:off x="914400" y="2743200"/>
            <a:ext cx="1920240" cy="685800"/>
          </a:xfrm>
          <a:prstGeom prst="rect">
            <a:avLst/>
          </a:prstGeom>
          <a:solidFill>
            <a:srgbClr val="F2F3F2"/>
          </a:solidFill>
          <a:ln w="12700">
            <a:solidFill>
              <a:srgbClr val="2D2D2B"/>
            </a:solidFill>
            <a:prstDash val="solid"/>
          </a:ln>
        </p:spPr>
        <p:txBody>
          <a:bodyPr/>
          <a:lstStyle/>
          <a:p>
            <a:endParaRPr lang="de-DE"/>
          </a:p>
        </p:txBody>
      </p:sp>
      <p:sp>
        <p:nvSpPr>
          <p:cNvPr id="13" name="Text 10"/>
          <p:cNvSpPr/>
          <p:nvPr/>
        </p:nvSpPr>
        <p:spPr>
          <a:xfrm>
            <a:off x="914400" y="2743200"/>
            <a:ext cx="1920240" cy="685800"/>
          </a:xfrm>
          <a:prstGeom prst="rect">
            <a:avLst/>
          </a:prstGeom>
          <a:noFill/>
          <a:ln/>
        </p:spPr>
        <p:txBody>
          <a:bodyPr wrap="square" lIns="0" tIns="0" rIns="0" bIns="0" rtlCol="0" anchor="ctr"/>
          <a:lstStyle/>
          <a:p>
            <a:pPr marL="0" indent="0" algn="ctr">
              <a:buNone/>
            </a:pPr>
            <a:r>
              <a:rPr lang="en-US" sz="1400" b="1" dirty="0">
                <a:solidFill>
                  <a:srgbClr val="333331"/>
                </a:solidFill>
                <a:latin typeface="Arial" pitchFamily="34" charset="0"/>
                <a:ea typeface="Arial" pitchFamily="34" charset="-122"/>
                <a:cs typeface="Arial" pitchFamily="34" charset="-120"/>
              </a:rPr>
              <a:t>HMI</a:t>
            </a:r>
            <a:endParaRPr lang="en-US" sz="1400" dirty="0"/>
          </a:p>
        </p:txBody>
      </p:sp>
      <p:sp>
        <p:nvSpPr>
          <p:cNvPr id="14" name="Text 11"/>
          <p:cNvSpPr/>
          <p:nvPr/>
        </p:nvSpPr>
        <p:spPr>
          <a:xfrm>
            <a:off x="2834640" y="2697480"/>
            <a:ext cx="1828800" cy="777240"/>
          </a:xfrm>
          <a:prstGeom prst="rect">
            <a:avLst/>
          </a:prstGeom>
          <a:noFill/>
          <a:ln/>
        </p:spPr>
        <p:txBody>
          <a:bodyPr wrap="square" lIns="0" tIns="0" rIns="0" bIns="0" rtlCol="0" anchor="ctr"/>
          <a:lstStyle/>
          <a:p>
            <a:pPr marL="0" indent="0" algn="ctr">
              <a:buNone/>
            </a:pPr>
            <a:r>
              <a:rPr lang="en-US" sz="2200" b="1" dirty="0">
                <a:solidFill>
                  <a:srgbClr val="2D2D2B"/>
                </a:solidFill>
                <a:latin typeface="Arial" pitchFamily="34" charset="0"/>
                <a:ea typeface="Arial" pitchFamily="34" charset="-122"/>
                <a:cs typeface="Arial" pitchFamily="34" charset="-120"/>
              </a:rPr>
              <a:t>›</a:t>
            </a:r>
            <a:endParaRPr lang="en-US" sz="2200" dirty="0"/>
          </a:p>
        </p:txBody>
      </p:sp>
      <p:sp>
        <p:nvSpPr>
          <p:cNvPr id="15" name="Shape 12"/>
          <p:cNvSpPr/>
          <p:nvPr/>
        </p:nvSpPr>
        <p:spPr>
          <a:xfrm>
            <a:off x="914400" y="3611880"/>
            <a:ext cx="1920240" cy="685800"/>
          </a:xfrm>
          <a:prstGeom prst="rect">
            <a:avLst/>
          </a:prstGeom>
          <a:solidFill>
            <a:srgbClr val="F2F3F2"/>
          </a:solidFill>
          <a:ln w="12700">
            <a:solidFill>
              <a:srgbClr val="2D2D2B"/>
            </a:solidFill>
            <a:prstDash val="solid"/>
          </a:ln>
        </p:spPr>
        <p:txBody>
          <a:bodyPr/>
          <a:lstStyle/>
          <a:p>
            <a:endParaRPr lang="de-DE"/>
          </a:p>
        </p:txBody>
      </p:sp>
      <p:sp>
        <p:nvSpPr>
          <p:cNvPr id="16" name="Text 13"/>
          <p:cNvSpPr/>
          <p:nvPr/>
        </p:nvSpPr>
        <p:spPr>
          <a:xfrm>
            <a:off x="914400" y="3611880"/>
            <a:ext cx="1920240" cy="685800"/>
          </a:xfrm>
          <a:prstGeom prst="rect">
            <a:avLst/>
          </a:prstGeom>
          <a:noFill/>
          <a:ln/>
        </p:spPr>
        <p:txBody>
          <a:bodyPr wrap="square" lIns="0" tIns="0" rIns="0" bIns="0" rtlCol="0" anchor="ctr"/>
          <a:lstStyle/>
          <a:p>
            <a:pPr marL="0" indent="0" algn="ctr">
              <a:buNone/>
            </a:pPr>
            <a:r>
              <a:rPr lang="en-US" sz="1400" b="1" dirty="0">
                <a:solidFill>
                  <a:srgbClr val="333331"/>
                </a:solidFill>
                <a:latin typeface="Arial" pitchFamily="34" charset="0"/>
                <a:ea typeface="Arial" pitchFamily="34" charset="-122"/>
                <a:cs typeface="Arial" pitchFamily="34" charset="-120"/>
              </a:rPr>
              <a:t>Tests</a:t>
            </a:r>
            <a:endParaRPr lang="en-US" sz="1400" dirty="0"/>
          </a:p>
        </p:txBody>
      </p:sp>
      <p:sp>
        <p:nvSpPr>
          <p:cNvPr id="17" name="Text 14"/>
          <p:cNvSpPr/>
          <p:nvPr/>
        </p:nvSpPr>
        <p:spPr>
          <a:xfrm>
            <a:off x="2834640" y="3566160"/>
            <a:ext cx="1828800" cy="777240"/>
          </a:xfrm>
          <a:prstGeom prst="rect">
            <a:avLst/>
          </a:prstGeom>
          <a:noFill/>
          <a:ln/>
        </p:spPr>
        <p:txBody>
          <a:bodyPr wrap="square" lIns="0" tIns="0" rIns="0" bIns="0" rtlCol="0" anchor="ctr"/>
          <a:lstStyle/>
          <a:p>
            <a:pPr marL="0" indent="0" algn="ctr">
              <a:buNone/>
            </a:pPr>
            <a:r>
              <a:rPr lang="en-US" sz="2200" b="1" dirty="0">
                <a:solidFill>
                  <a:srgbClr val="2D2D2B"/>
                </a:solidFill>
                <a:latin typeface="Arial" pitchFamily="34" charset="0"/>
                <a:ea typeface="Arial" pitchFamily="34" charset="-122"/>
                <a:cs typeface="Arial" pitchFamily="34" charset="-120"/>
              </a:rPr>
              <a:t>›</a:t>
            </a:r>
            <a:endParaRPr lang="en-US" sz="2200" dirty="0"/>
          </a:p>
        </p:txBody>
      </p:sp>
      <p:sp>
        <p:nvSpPr>
          <p:cNvPr id="18" name="Text 15"/>
          <p:cNvSpPr/>
          <p:nvPr/>
        </p:nvSpPr>
        <p:spPr>
          <a:xfrm>
            <a:off x="2651760" y="4434840"/>
            <a:ext cx="2331720" cy="457200"/>
          </a:xfrm>
          <a:prstGeom prst="rect">
            <a:avLst/>
          </a:prstGeom>
          <a:noFill/>
          <a:ln/>
        </p:spPr>
        <p:txBody>
          <a:bodyPr wrap="square" lIns="0" tIns="0" rIns="0" bIns="0" rtlCol="0" anchor="ctr"/>
          <a:lstStyle/>
          <a:p>
            <a:pPr marL="0" indent="0" algn="ctr">
              <a:buNone/>
            </a:pPr>
            <a:r>
              <a:rPr lang="en-US" sz="1050" i="1" dirty="0">
                <a:solidFill>
                  <a:srgbClr val="6E6E6C"/>
                </a:solidFill>
                <a:latin typeface="Arial" pitchFamily="34" charset="0"/>
                <a:ea typeface="Arial" pitchFamily="34" charset="-122"/>
                <a:cs typeface="Arial" pitchFamily="34" charset="-120"/>
              </a:rPr>
              <a:t>driving port — OperatorPanel</a:t>
            </a:r>
            <a:endParaRPr lang="en-US" sz="1050" dirty="0"/>
          </a:p>
        </p:txBody>
      </p:sp>
      <p:sp>
        <p:nvSpPr>
          <p:cNvPr id="19" name="Text 16"/>
          <p:cNvSpPr/>
          <p:nvPr/>
        </p:nvSpPr>
        <p:spPr>
          <a:xfrm>
            <a:off x="7315200" y="2697480"/>
            <a:ext cx="1828800" cy="777240"/>
          </a:xfrm>
          <a:prstGeom prst="rect">
            <a:avLst/>
          </a:prstGeom>
          <a:noFill/>
          <a:ln/>
        </p:spPr>
        <p:txBody>
          <a:bodyPr wrap="square" lIns="0" tIns="0" rIns="0" bIns="0" rtlCol="0" anchor="ctr"/>
          <a:lstStyle/>
          <a:p>
            <a:pPr marL="0" indent="0" algn="ctr">
              <a:buNone/>
            </a:pPr>
            <a:r>
              <a:rPr lang="en-US" sz="2200" b="1" dirty="0">
                <a:solidFill>
                  <a:srgbClr val="2D2D2B"/>
                </a:solidFill>
                <a:latin typeface="Arial" pitchFamily="34" charset="0"/>
                <a:ea typeface="Arial" pitchFamily="34" charset="-122"/>
                <a:cs typeface="Arial" pitchFamily="34" charset="-120"/>
              </a:rPr>
              <a:t>›</a:t>
            </a:r>
            <a:endParaRPr lang="en-US" sz="2200" dirty="0"/>
          </a:p>
        </p:txBody>
      </p:sp>
      <p:sp>
        <p:nvSpPr>
          <p:cNvPr id="20" name="Shape 17"/>
          <p:cNvSpPr/>
          <p:nvPr/>
        </p:nvSpPr>
        <p:spPr>
          <a:xfrm>
            <a:off x="9326880" y="2743200"/>
            <a:ext cx="2221992" cy="685800"/>
          </a:xfrm>
          <a:prstGeom prst="rect">
            <a:avLst/>
          </a:prstGeom>
          <a:solidFill>
            <a:srgbClr val="F2F3F2"/>
          </a:solidFill>
          <a:ln w="12700">
            <a:solidFill>
              <a:srgbClr val="2D2D2B"/>
            </a:solidFill>
            <a:prstDash val="solid"/>
          </a:ln>
        </p:spPr>
        <p:txBody>
          <a:bodyPr/>
          <a:lstStyle/>
          <a:p>
            <a:endParaRPr lang="de-DE"/>
          </a:p>
        </p:txBody>
      </p:sp>
      <p:sp>
        <p:nvSpPr>
          <p:cNvPr id="21" name="Text 18"/>
          <p:cNvSpPr/>
          <p:nvPr/>
        </p:nvSpPr>
        <p:spPr>
          <a:xfrm>
            <a:off x="9326880" y="2743200"/>
            <a:ext cx="2221992" cy="685800"/>
          </a:xfrm>
          <a:prstGeom prst="rect">
            <a:avLst/>
          </a:prstGeom>
          <a:noFill/>
          <a:ln/>
        </p:spPr>
        <p:txBody>
          <a:bodyPr wrap="square" lIns="0" tIns="0" rIns="0" bIns="0" rtlCol="0" anchor="ctr"/>
          <a:lstStyle/>
          <a:p>
            <a:pPr marL="0" indent="0" algn="ctr">
              <a:buNone/>
            </a:pPr>
            <a:r>
              <a:rPr lang="en-US" sz="1250" b="1" dirty="0">
                <a:solidFill>
                  <a:srgbClr val="333331"/>
                </a:solidFill>
                <a:latin typeface="Arial" pitchFamily="34" charset="0"/>
                <a:ea typeface="Arial" pitchFamily="34" charset="-122"/>
                <a:cs typeface="Arial" pitchFamily="34" charset="-120"/>
              </a:rPr>
              <a:t>PLC (Modbus)</a:t>
            </a:r>
            <a:endParaRPr lang="en-US" sz="1250" dirty="0"/>
          </a:p>
        </p:txBody>
      </p:sp>
      <p:sp>
        <p:nvSpPr>
          <p:cNvPr id="22" name="Text 19"/>
          <p:cNvSpPr/>
          <p:nvPr/>
        </p:nvSpPr>
        <p:spPr>
          <a:xfrm>
            <a:off x="7315200" y="3566160"/>
            <a:ext cx="1828800" cy="777240"/>
          </a:xfrm>
          <a:prstGeom prst="rect">
            <a:avLst/>
          </a:prstGeom>
          <a:noFill/>
          <a:ln/>
        </p:spPr>
        <p:txBody>
          <a:bodyPr wrap="square" lIns="0" tIns="0" rIns="0" bIns="0" rtlCol="0" anchor="ctr"/>
          <a:lstStyle/>
          <a:p>
            <a:pPr marL="0" indent="0" algn="ctr">
              <a:buNone/>
            </a:pPr>
            <a:r>
              <a:rPr lang="en-US" sz="2200" b="1" dirty="0">
                <a:solidFill>
                  <a:srgbClr val="2D2D2B"/>
                </a:solidFill>
                <a:latin typeface="Arial" pitchFamily="34" charset="0"/>
                <a:ea typeface="Arial" pitchFamily="34" charset="-122"/>
                <a:cs typeface="Arial" pitchFamily="34" charset="-120"/>
              </a:rPr>
              <a:t>›</a:t>
            </a:r>
            <a:endParaRPr lang="en-US" sz="2200" dirty="0"/>
          </a:p>
        </p:txBody>
      </p:sp>
      <p:sp>
        <p:nvSpPr>
          <p:cNvPr id="23" name="Shape 20"/>
          <p:cNvSpPr/>
          <p:nvPr/>
        </p:nvSpPr>
        <p:spPr>
          <a:xfrm>
            <a:off x="9326880" y="3611880"/>
            <a:ext cx="2221992" cy="685800"/>
          </a:xfrm>
          <a:prstGeom prst="rect">
            <a:avLst/>
          </a:prstGeom>
          <a:solidFill>
            <a:srgbClr val="F2F3F2"/>
          </a:solidFill>
          <a:ln w="12700">
            <a:solidFill>
              <a:srgbClr val="2D2D2B"/>
            </a:solidFill>
            <a:prstDash val="solid"/>
          </a:ln>
        </p:spPr>
        <p:txBody>
          <a:bodyPr/>
          <a:lstStyle/>
          <a:p>
            <a:endParaRPr lang="de-DE"/>
          </a:p>
        </p:txBody>
      </p:sp>
      <p:sp>
        <p:nvSpPr>
          <p:cNvPr id="24" name="Text 21"/>
          <p:cNvSpPr/>
          <p:nvPr/>
        </p:nvSpPr>
        <p:spPr>
          <a:xfrm>
            <a:off x="9326880" y="3611880"/>
            <a:ext cx="2221992" cy="685800"/>
          </a:xfrm>
          <a:prstGeom prst="rect">
            <a:avLst/>
          </a:prstGeom>
          <a:noFill/>
          <a:ln/>
        </p:spPr>
        <p:txBody>
          <a:bodyPr wrap="square" lIns="0" tIns="0" rIns="0" bIns="0" rtlCol="0" anchor="ctr"/>
          <a:lstStyle/>
          <a:p>
            <a:pPr marL="0" indent="0" algn="ctr">
              <a:buNone/>
            </a:pPr>
            <a:r>
              <a:rPr lang="en-US" sz="1250" b="1" dirty="0">
                <a:solidFill>
                  <a:srgbClr val="333331"/>
                </a:solidFill>
                <a:latin typeface="Arial" pitchFamily="34" charset="0"/>
                <a:ea typeface="Arial" pitchFamily="34" charset="-122"/>
                <a:cs typeface="Arial" pitchFamily="34" charset="-120"/>
              </a:rPr>
              <a:t>HMI sink (MQTT)</a:t>
            </a:r>
            <a:endParaRPr lang="en-US" sz="1250" dirty="0"/>
          </a:p>
        </p:txBody>
      </p:sp>
      <p:sp>
        <p:nvSpPr>
          <p:cNvPr id="25" name="Text 22"/>
          <p:cNvSpPr/>
          <p:nvPr/>
        </p:nvSpPr>
        <p:spPr>
          <a:xfrm>
            <a:off x="7315200" y="4434840"/>
            <a:ext cx="4206240" cy="457200"/>
          </a:xfrm>
          <a:prstGeom prst="rect">
            <a:avLst/>
          </a:prstGeom>
          <a:noFill/>
          <a:ln/>
        </p:spPr>
        <p:txBody>
          <a:bodyPr wrap="square" lIns="0" tIns="0" rIns="0" bIns="0" rtlCol="0" anchor="ctr"/>
          <a:lstStyle/>
          <a:p>
            <a:pPr marL="0" indent="0" algn="ctr">
              <a:buNone/>
            </a:pPr>
            <a:r>
              <a:rPr lang="en-US" sz="1050" i="1" dirty="0">
                <a:solidFill>
                  <a:srgbClr val="6E6E6C"/>
                </a:solidFill>
                <a:latin typeface="Arial" pitchFamily="34" charset="0"/>
                <a:ea typeface="Arial" pitchFamily="34" charset="-122"/>
                <a:cs typeface="Arial" pitchFamily="34" charset="-120"/>
              </a:rPr>
              <a:t>driven ports — PlcGateway · HmiGateway</a:t>
            </a:r>
            <a:endParaRPr lang="en-US" sz="1050" dirty="0"/>
          </a:p>
        </p:txBody>
      </p:sp>
      <p:sp>
        <p:nvSpPr>
          <p:cNvPr id="26" name="Shape 23"/>
          <p:cNvSpPr/>
          <p:nvPr/>
        </p:nvSpPr>
        <p:spPr>
          <a:xfrm>
            <a:off x="640080" y="5074920"/>
            <a:ext cx="10908792" cy="1143000"/>
          </a:xfrm>
          <a:prstGeom prst="rect">
            <a:avLst/>
          </a:prstGeom>
          <a:solidFill>
            <a:srgbClr val="F2F3F2"/>
          </a:solidFill>
          <a:ln w="12700">
            <a:solidFill>
              <a:srgbClr val="D7D7D5"/>
            </a:solidFill>
            <a:prstDash val="solid"/>
          </a:ln>
        </p:spPr>
        <p:txBody>
          <a:bodyPr/>
          <a:lstStyle/>
          <a:p>
            <a:endParaRPr lang="de-DE"/>
          </a:p>
        </p:txBody>
      </p:sp>
      <p:sp>
        <p:nvSpPr>
          <p:cNvPr id="27" name="Text 24"/>
          <p:cNvSpPr/>
          <p:nvPr/>
        </p:nvSpPr>
        <p:spPr>
          <a:xfrm>
            <a:off x="914400" y="5074920"/>
            <a:ext cx="10360152" cy="1143000"/>
          </a:xfrm>
          <a:prstGeom prst="rect">
            <a:avLst/>
          </a:prstGeom>
          <a:noFill/>
          <a:ln/>
        </p:spPr>
        <p:txBody>
          <a:bodyPr wrap="square" lIns="0" tIns="0" rIns="0" bIns="0" rtlCol="0" anchor="ctr"/>
          <a:lstStyle/>
          <a:p>
            <a:pPr marL="0" indent="0">
              <a:buNone/>
            </a:pPr>
            <a:r>
              <a:rPr lang="en-US" sz="1400" b="1" dirty="0">
                <a:solidFill>
                  <a:srgbClr val="0B6E7A"/>
                </a:solidFill>
                <a:latin typeface="Arial" pitchFamily="34" charset="0"/>
                <a:ea typeface="Arial" pitchFamily="34" charset="-122"/>
                <a:cs typeface="Arial" pitchFamily="34" charset="-120"/>
              </a:rPr>
              <a:t>Why it fits:  </a:t>
            </a:r>
            <a:r>
              <a:rPr lang="en-US" sz="1400" dirty="0">
                <a:solidFill>
                  <a:srgbClr val="333331"/>
                </a:solidFill>
                <a:latin typeface="Arial" pitchFamily="34" charset="0"/>
                <a:ea typeface="Arial" pitchFamily="34" charset="-122"/>
                <a:cs typeface="Arial" pitchFamily="34" charset="-120"/>
              </a:rPr>
              <a:t>the assignment asks for components with well-defined interfaces that can be driven from the HMI or from tests. We can swap MQTT for any transport, or the simulation for the real PLC, without touching the logic.</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40080" y="502920"/>
            <a:ext cx="9144000" cy="292608"/>
          </a:xfrm>
          <a:prstGeom prst="rect">
            <a:avLst/>
          </a:prstGeom>
          <a:noFill/>
          <a:ln/>
        </p:spPr>
        <p:txBody>
          <a:bodyPr wrap="square" lIns="0" tIns="0" rIns="0" bIns="0" rtlCol="0" anchor="ctr"/>
          <a:lstStyle/>
          <a:p>
            <a:pPr marL="0" indent="0">
              <a:buNone/>
            </a:pPr>
            <a:r>
              <a:rPr lang="en-US" sz="1200" b="1" kern="0" spc="200" dirty="0">
                <a:solidFill>
                  <a:srgbClr val="0B6E7A"/>
                </a:solidFill>
                <a:latin typeface="Arial" pitchFamily="34" charset="0"/>
                <a:ea typeface="Arial" pitchFamily="34" charset="-122"/>
                <a:cs typeface="Arial" pitchFamily="34" charset="-120"/>
              </a:rPr>
              <a:t>PART 2 · ALGORITHM</a:t>
            </a:r>
            <a:endParaRPr lang="en-US" sz="1200" dirty="0"/>
          </a:p>
        </p:txBody>
      </p:sp>
      <p:sp>
        <p:nvSpPr>
          <p:cNvPr id="4" name="Text 2"/>
          <p:cNvSpPr/>
          <p:nvPr/>
        </p:nvSpPr>
        <p:spPr>
          <a:xfrm>
            <a:off x="640080" y="804672"/>
            <a:ext cx="10515600" cy="731520"/>
          </a:xfrm>
          <a:prstGeom prst="rect">
            <a:avLst/>
          </a:prstGeom>
          <a:noFill/>
          <a:ln/>
        </p:spPr>
        <p:txBody>
          <a:bodyPr wrap="square" lIns="0" tIns="0" rIns="0" bIns="0" rtlCol="0" anchor="ctr"/>
          <a:lstStyle/>
          <a:p>
            <a:pPr marL="0" indent="0">
              <a:buNone/>
            </a:pPr>
            <a:r>
              <a:rPr lang="en-US" sz="2800" b="1" dirty="0">
                <a:solidFill>
                  <a:srgbClr val="2D2D2B"/>
                </a:solidFill>
                <a:latin typeface="Arial" pitchFamily="34" charset="0"/>
                <a:ea typeface="Arial" pitchFamily="34" charset="-122"/>
                <a:cs typeface="Arial" pitchFamily="34" charset="-120"/>
              </a:rPr>
              <a:t>Collective control: the SCAN principle</a:t>
            </a:r>
            <a:endParaRPr lang="en-US" sz="2800" dirty="0"/>
          </a:p>
        </p:txBody>
      </p:sp>
      <p:sp>
        <p:nvSpPr>
          <p:cNvPr id="5" name="Shape 3"/>
          <p:cNvSpPr/>
          <p:nvPr/>
        </p:nvSpPr>
        <p:spPr>
          <a:xfrm>
            <a:off x="640080" y="6382512"/>
            <a:ext cx="10908792" cy="0"/>
          </a:xfrm>
          <a:prstGeom prst="line">
            <a:avLst/>
          </a:prstGeom>
          <a:noFill/>
          <a:ln w="9525">
            <a:solidFill>
              <a:srgbClr val="D7D7D5"/>
            </a:solidFill>
            <a:prstDash val="solid"/>
          </a:ln>
        </p:spPr>
        <p:txBody>
          <a:bodyPr/>
          <a:lstStyle/>
          <a:p>
            <a:endParaRPr lang="de-DE"/>
          </a:p>
        </p:txBody>
      </p:sp>
      <p:sp>
        <p:nvSpPr>
          <p:cNvPr id="6" name="Text 4"/>
          <p:cNvSpPr/>
          <p:nvPr/>
        </p:nvSpPr>
        <p:spPr>
          <a:xfrm>
            <a:off x="640080" y="6437376"/>
            <a:ext cx="8229600" cy="274320"/>
          </a:xfrm>
          <a:prstGeom prst="rect">
            <a:avLst/>
          </a:prstGeom>
          <a:noFill/>
          <a:ln/>
        </p:spPr>
        <p:txBody>
          <a:bodyPr wrap="square" lIns="0" tIns="0" rIns="0" bIns="0" rtlCol="0" anchor="ctr"/>
          <a:lstStyle/>
          <a:p>
            <a:pPr marL="0" indent="0">
              <a:buNone/>
            </a:pPr>
            <a:r>
              <a:rPr lang="en-US" sz="900" dirty="0">
                <a:solidFill>
                  <a:srgbClr val="6E6E6C"/>
                </a:solidFill>
                <a:latin typeface="Arial" pitchFamily="34" charset="0"/>
                <a:ea typeface="Arial" pitchFamily="34" charset="-122"/>
                <a:cs typeface="Arial" pitchFamily="34" charset="-120"/>
              </a:rPr>
              <a:t>HTWG Konstanz  ·  System Architecture  ·  Group E</a:t>
            </a:r>
            <a:endParaRPr lang="en-US" sz="900" dirty="0"/>
          </a:p>
        </p:txBody>
      </p:sp>
      <p:sp>
        <p:nvSpPr>
          <p:cNvPr id="7" name="Text 5"/>
          <p:cNvSpPr/>
          <p:nvPr/>
        </p:nvSpPr>
        <p:spPr>
          <a:xfrm>
            <a:off x="10881360" y="6437376"/>
            <a:ext cx="667512" cy="274320"/>
          </a:xfrm>
          <a:prstGeom prst="rect">
            <a:avLst/>
          </a:prstGeom>
          <a:noFill/>
          <a:ln/>
        </p:spPr>
        <p:txBody>
          <a:bodyPr wrap="square" lIns="0" tIns="0" rIns="0" bIns="0" rtlCol="0" anchor="ctr"/>
          <a:lstStyle/>
          <a:p>
            <a:pPr marL="0" indent="0" algn="r">
              <a:buNone/>
            </a:pPr>
            <a:r>
              <a:rPr lang="en-US" sz="900" dirty="0">
                <a:solidFill>
                  <a:srgbClr val="6E6E6C"/>
                </a:solidFill>
                <a:latin typeface="Arial" pitchFamily="34" charset="0"/>
                <a:ea typeface="Arial" pitchFamily="34" charset="-122"/>
                <a:cs typeface="Arial" pitchFamily="34" charset="-120"/>
              </a:rPr>
              <a:t>10</a:t>
            </a:r>
            <a:endParaRPr lang="en-US" sz="900" dirty="0"/>
          </a:p>
        </p:txBody>
      </p:sp>
      <p:sp>
        <p:nvSpPr>
          <p:cNvPr id="9" name="Shape 6"/>
          <p:cNvSpPr/>
          <p:nvPr/>
        </p:nvSpPr>
        <p:spPr>
          <a:xfrm>
            <a:off x="640080" y="1737360"/>
            <a:ext cx="5349240" cy="2194560"/>
          </a:xfrm>
          <a:prstGeom prst="rect">
            <a:avLst/>
          </a:prstGeom>
          <a:solidFill>
            <a:srgbClr val="F2F3F2"/>
          </a:solidFill>
          <a:ln w="12700">
            <a:solidFill>
              <a:srgbClr val="D7D7D5"/>
            </a:solidFill>
            <a:prstDash val="solid"/>
          </a:ln>
        </p:spPr>
        <p:txBody>
          <a:bodyPr/>
          <a:lstStyle/>
          <a:p>
            <a:endParaRPr lang="de-DE"/>
          </a:p>
        </p:txBody>
      </p:sp>
      <p:sp>
        <p:nvSpPr>
          <p:cNvPr id="10" name="Text 7"/>
          <p:cNvSpPr/>
          <p:nvPr/>
        </p:nvSpPr>
        <p:spPr>
          <a:xfrm>
            <a:off x="868680" y="1901952"/>
            <a:ext cx="4937760" cy="365760"/>
          </a:xfrm>
          <a:prstGeom prst="rect">
            <a:avLst/>
          </a:prstGeom>
          <a:noFill/>
          <a:ln/>
        </p:spPr>
        <p:txBody>
          <a:bodyPr wrap="square" lIns="0" tIns="0" rIns="0" bIns="0" rtlCol="0" anchor="ctr"/>
          <a:lstStyle/>
          <a:p>
            <a:pPr marL="0" indent="0">
              <a:buNone/>
            </a:pPr>
            <a:r>
              <a:rPr lang="en-US" sz="1500" b="1" dirty="0">
                <a:solidFill>
                  <a:srgbClr val="2D2D2B"/>
                </a:solidFill>
                <a:latin typeface="Arial" pitchFamily="34" charset="0"/>
                <a:ea typeface="Arial" pitchFamily="34" charset="-122"/>
                <a:cs typeface="Arial" pitchFamily="34" charset="-120"/>
              </a:rPr>
              <a:t>Keep sweeping in one direction</a:t>
            </a:r>
            <a:endParaRPr lang="en-US" sz="1500" dirty="0"/>
          </a:p>
        </p:txBody>
      </p:sp>
      <p:sp>
        <p:nvSpPr>
          <p:cNvPr id="11" name="Text 8"/>
          <p:cNvSpPr/>
          <p:nvPr/>
        </p:nvSpPr>
        <p:spPr>
          <a:xfrm>
            <a:off x="868680" y="2304288"/>
            <a:ext cx="4937760" cy="14630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333331"/>
                </a:solidFill>
                <a:latin typeface="Arial" pitchFamily="34" charset="0"/>
                <a:ea typeface="Arial" pitchFamily="34" charset="-122"/>
                <a:cs typeface="Arial" pitchFamily="34" charset="-120"/>
              </a:rPr>
              <a:t>Serve every request in the current direction on the way.</a:t>
            </a:r>
            <a:endParaRPr lang="en-US" sz="1300" dirty="0"/>
          </a:p>
          <a:p>
            <a:pPr marL="177800" indent="-177800">
              <a:spcAft>
                <a:spcPts val="600"/>
              </a:spcAft>
              <a:buSzPct val="100000"/>
              <a:buChar char="•"/>
            </a:pPr>
            <a:r>
              <a:rPr lang="en-US" sz="1300" dirty="0">
                <a:solidFill>
                  <a:srgbClr val="333331"/>
                </a:solidFill>
                <a:latin typeface="Arial" pitchFamily="34" charset="0"/>
                <a:ea typeface="Arial" pitchFamily="34" charset="-122"/>
                <a:cs typeface="Arial" pitchFamily="34" charset="-120"/>
              </a:rPr>
              <a:t>Stop for a cabin call, or a hall call wanting the same direction.</a:t>
            </a:r>
            <a:endParaRPr lang="en-US" sz="1300" dirty="0"/>
          </a:p>
          <a:p>
            <a:pPr marL="177800" indent="-177800">
              <a:spcAft>
                <a:spcPts val="600"/>
              </a:spcAft>
              <a:buSzPct val="100000"/>
              <a:buChar char="•"/>
            </a:pPr>
            <a:r>
              <a:rPr lang="en-US" sz="1300" dirty="0">
                <a:solidFill>
                  <a:srgbClr val="333331"/>
                </a:solidFill>
                <a:latin typeface="Arial" pitchFamily="34" charset="0"/>
                <a:ea typeface="Arial" pitchFamily="34" charset="-122"/>
                <a:cs typeface="Arial" pitchFamily="34" charset="-120"/>
              </a:rPr>
              <a:t>Continue while a request lies ahead and we are not at a terminal.</a:t>
            </a:r>
            <a:endParaRPr lang="en-US" sz="1300" dirty="0"/>
          </a:p>
        </p:txBody>
      </p:sp>
      <p:sp>
        <p:nvSpPr>
          <p:cNvPr id="12" name="Shape 9"/>
          <p:cNvSpPr/>
          <p:nvPr/>
        </p:nvSpPr>
        <p:spPr>
          <a:xfrm>
            <a:off x="6199632" y="1737360"/>
            <a:ext cx="5349240" cy="2194560"/>
          </a:xfrm>
          <a:prstGeom prst="rect">
            <a:avLst/>
          </a:prstGeom>
          <a:solidFill>
            <a:srgbClr val="F2F3F2"/>
          </a:solidFill>
          <a:ln w="12700">
            <a:solidFill>
              <a:srgbClr val="D7D7D5"/>
            </a:solidFill>
            <a:prstDash val="solid"/>
          </a:ln>
        </p:spPr>
        <p:txBody>
          <a:bodyPr/>
          <a:lstStyle/>
          <a:p>
            <a:endParaRPr lang="de-DE"/>
          </a:p>
        </p:txBody>
      </p:sp>
      <p:sp>
        <p:nvSpPr>
          <p:cNvPr id="13" name="Text 10"/>
          <p:cNvSpPr/>
          <p:nvPr/>
        </p:nvSpPr>
        <p:spPr>
          <a:xfrm>
            <a:off x="6428232" y="1901952"/>
            <a:ext cx="4937760" cy="365760"/>
          </a:xfrm>
          <a:prstGeom prst="rect">
            <a:avLst/>
          </a:prstGeom>
          <a:noFill/>
          <a:ln/>
        </p:spPr>
        <p:txBody>
          <a:bodyPr wrap="square" lIns="0" tIns="0" rIns="0" bIns="0" rtlCol="0" anchor="ctr"/>
          <a:lstStyle/>
          <a:p>
            <a:pPr marL="0" indent="0">
              <a:buNone/>
            </a:pPr>
            <a:r>
              <a:rPr lang="en-US" sz="1500" b="1" dirty="0">
                <a:solidFill>
                  <a:srgbClr val="2D2D2B"/>
                </a:solidFill>
                <a:latin typeface="Arial" pitchFamily="34" charset="0"/>
                <a:ea typeface="Arial" pitchFamily="34" charset="-122"/>
                <a:cs typeface="Arial" pitchFamily="34" charset="-120"/>
              </a:rPr>
              <a:t>Then reverse</a:t>
            </a:r>
            <a:endParaRPr lang="en-US" sz="1500" dirty="0"/>
          </a:p>
        </p:txBody>
      </p:sp>
      <p:sp>
        <p:nvSpPr>
          <p:cNvPr id="14" name="Text 11"/>
          <p:cNvSpPr/>
          <p:nvPr/>
        </p:nvSpPr>
        <p:spPr>
          <a:xfrm>
            <a:off x="6428232" y="2304288"/>
            <a:ext cx="4937760" cy="14630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333331"/>
                </a:solidFill>
                <a:latin typeface="Arial" pitchFamily="34" charset="0"/>
                <a:ea typeface="Arial" pitchFamily="34" charset="-122"/>
                <a:cs typeface="Arial" pitchFamily="34" charset="-120"/>
              </a:rPr>
              <a:t>No requests ahead but some behind → reverse direction.</a:t>
            </a:r>
            <a:endParaRPr lang="en-US" sz="1300" dirty="0"/>
          </a:p>
          <a:p>
            <a:pPr marL="177800" indent="-177800">
              <a:spcAft>
                <a:spcPts val="600"/>
              </a:spcAft>
              <a:buSzPct val="100000"/>
              <a:buChar char="•"/>
            </a:pPr>
            <a:r>
              <a:rPr lang="en-US" sz="1300" dirty="0">
                <a:solidFill>
                  <a:srgbClr val="333331"/>
                </a:solidFill>
                <a:latin typeface="Arial" pitchFamily="34" charset="0"/>
                <a:ea typeface="Arial" pitchFamily="34" charset="-122"/>
                <a:cs typeface="Arial" pitchFamily="34" charset="-120"/>
              </a:rPr>
              <a:t>When idle, head toward the oldest pending request first.</a:t>
            </a:r>
            <a:endParaRPr lang="en-US" sz="1300" dirty="0"/>
          </a:p>
          <a:p>
            <a:pPr marL="177800" indent="-177800">
              <a:spcAft>
                <a:spcPts val="600"/>
              </a:spcAft>
              <a:buSzPct val="100000"/>
              <a:buChar char="•"/>
            </a:pPr>
            <a:r>
              <a:rPr lang="en-US" sz="1300" dirty="0">
                <a:solidFill>
                  <a:srgbClr val="333331"/>
                </a:solidFill>
                <a:latin typeface="Arial" pitchFamily="34" charset="0"/>
                <a:ea typeface="Arial" pitchFamily="34" charset="-122"/>
                <a:cs typeface="Arial" pitchFamily="34" charset="-120"/>
              </a:rPr>
              <a:t>Requests are tracked with timestamps in RequestStore.</a:t>
            </a:r>
            <a:endParaRPr lang="en-US" sz="1300" dirty="0"/>
          </a:p>
        </p:txBody>
      </p:sp>
      <p:sp>
        <p:nvSpPr>
          <p:cNvPr id="15" name="Shape 12"/>
          <p:cNvSpPr/>
          <p:nvPr/>
        </p:nvSpPr>
        <p:spPr>
          <a:xfrm>
            <a:off x="640080" y="4160520"/>
            <a:ext cx="10908792" cy="2057400"/>
          </a:xfrm>
          <a:prstGeom prst="rect">
            <a:avLst/>
          </a:prstGeom>
          <a:solidFill>
            <a:srgbClr val="F2F3F2"/>
          </a:solidFill>
          <a:ln w="12700">
            <a:solidFill>
              <a:srgbClr val="D7D7D5"/>
            </a:solidFill>
            <a:prstDash val="solid"/>
          </a:ln>
        </p:spPr>
        <p:txBody>
          <a:bodyPr/>
          <a:lstStyle/>
          <a:p>
            <a:endParaRPr lang="de-DE"/>
          </a:p>
        </p:txBody>
      </p:sp>
      <p:sp>
        <p:nvSpPr>
          <p:cNvPr id="16" name="Text 13"/>
          <p:cNvSpPr/>
          <p:nvPr/>
        </p:nvSpPr>
        <p:spPr>
          <a:xfrm>
            <a:off x="914400" y="4297680"/>
            <a:ext cx="5486400" cy="365760"/>
          </a:xfrm>
          <a:prstGeom prst="rect">
            <a:avLst/>
          </a:prstGeom>
          <a:noFill/>
          <a:ln/>
        </p:spPr>
        <p:txBody>
          <a:bodyPr wrap="square" lIns="0" tIns="0" rIns="0" bIns="0" rtlCol="0" anchor="ctr"/>
          <a:lstStyle/>
          <a:p>
            <a:pPr marL="0" indent="0">
              <a:buNone/>
            </a:pPr>
            <a:r>
              <a:rPr lang="en-US" sz="1400" b="1" dirty="0">
                <a:solidFill>
                  <a:srgbClr val="2D2D2B"/>
                </a:solidFill>
                <a:latin typeface="Arial" pitchFamily="34" charset="0"/>
                <a:ea typeface="Arial" pitchFamily="34" charset="-122"/>
                <a:cs typeface="Arial" pitchFamily="34" charset="-120"/>
              </a:rPr>
              <a:t>Example sweep</a:t>
            </a:r>
            <a:endParaRPr lang="en-US" sz="1400" dirty="0"/>
          </a:p>
        </p:txBody>
      </p:sp>
      <p:sp>
        <p:nvSpPr>
          <p:cNvPr id="17" name="Shape 14"/>
          <p:cNvSpPr/>
          <p:nvPr/>
        </p:nvSpPr>
        <p:spPr>
          <a:xfrm>
            <a:off x="914400" y="4892040"/>
            <a:ext cx="868680" cy="868680"/>
          </a:xfrm>
          <a:prstGeom prst="ellipse">
            <a:avLst/>
          </a:prstGeom>
          <a:solidFill>
            <a:srgbClr val="0B6E7A"/>
          </a:solidFill>
          <a:ln/>
        </p:spPr>
        <p:txBody>
          <a:bodyPr/>
          <a:lstStyle/>
          <a:p>
            <a:endParaRPr lang="de-DE"/>
          </a:p>
        </p:txBody>
      </p:sp>
      <p:sp>
        <p:nvSpPr>
          <p:cNvPr id="18" name="Text 15"/>
          <p:cNvSpPr/>
          <p:nvPr/>
        </p:nvSpPr>
        <p:spPr>
          <a:xfrm>
            <a:off x="914400" y="4892040"/>
            <a:ext cx="868680" cy="86868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L1</a:t>
            </a:r>
            <a:endParaRPr lang="en-US" sz="1300" dirty="0"/>
          </a:p>
        </p:txBody>
      </p:sp>
      <p:sp>
        <p:nvSpPr>
          <p:cNvPr id="19" name="Text 16"/>
          <p:cNvSpPr/>
          <p:nvPr/>
        </p:nvSpPr>
        <p:spPr>
          <a:xfrm>
            <a:off x="1783080" y="4892040"/>
            <a:ext cx="914400" cy="868680"/>
          </a:xfrm>
          <a:prstGeom prst="rect">
            <a:avLst/>
          </a:prstGeom>
          <a:noFill/>
          <a:ln/>
        </p:spPr>
        <p:txBody>
          <a:bodyPr wrap="square" lIns="0" tIns="0" rIns="0" bIns="0" rtlCol="0" anchor="ctr"/>
          <a:lstStyle/>
          <a:p>
            <a:pPr marL="0" indent="0" algn="ctr">
              <a:buNone/>
            </a:pPr>
            <a:r>
              <a:rPr lang="en-US" sz="2000" b="1" dirty="0">
                <a:solidFill>
                  <a:srgbClr val="6E6E6C"/>
                </a:solidFill>
                <a:latin typeface="Arial" pitchFamily="34" charset="0"/>
                <a:ea typeface="Arial" pitchFamily="34" charset="-122"/>
                <a:cs typeface="Arial" pitchFamily="34" charset="-120"/>
              </a:rPr>
              <a:t>›</a:t>
            </a:r>
            <a:endParaRPr lang="en-US" sz="2000" dirty="0"/>
          </a:p>
        </p:txBody>
      </p:sp>
      <p:sp>
        <p:nvSpPr>
          <p:cNvPr id="20" name="Shape 17"/>
          <p:cNvSpPr/>
          <p:nvPr/>
        </p:nvSpPr>
        <p:spPr>
          <a:xfrm>
            <a:off x="2697480" y="4892040"/>
            <a:ext cx="868680" cy="868680"/>
          </a:xfrm>
          <a:prstGeom prst="ellipse">
            <a:avLst/>
          </a:prstGeom>
          <a:solidFill>
            <a:srgbClr val="0B6E7A"/>
          </a:solidFill>
          <a:ln/>
        </p:spPr>
        <p:txBody>
          <a:bodyPr/>
          <a:lstStyle/>
          <a:p>
            <a:endParaRPr lang="de-DE"/>
          </a:p>
        </p:txBody>
      </p:sp>
      <p:sp>
        <p:nvSpPr>
          <p:cNvPr id="21" name="Text 18"/>
          <p:cNvSpPr/>
          <p:nvPr/>
        </p:nvSpPr>
        <p:spPr>
          <a:xfrm>
            <a:off x="2697480" y="4892040"/>
            <a:ext cx="868680" cy="86868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L2 ↑</a:t>
            </a:r>
            <a:endParaRPr lang="en-US" sz="1300" dirty="0"/>
          </a:p>
        </p:txBody>
      </p:sp>
      <p:sp>
        <p:nvSpPr>
          <p:cNvPr id="22" name="Text 19"/>
          <p:cNvSpPr/>
          <p:nvPr/>
        </p:nvSpPr>
        <p:spPr>
          <a:xfrm>
            <a:off x="3566160" y="4892040"/>
            <a:ext cx="914400" cy="868680"/>
          </a:xfrm>
          <a:prstGeom prst="rect">
            <a:avLst/>
          </a:prstGeom>
          <a:noFill/>
          <a:ln/>
        </p:spPr>
        <p:txBody>
          <a:bodyPr wrap="square" lIns="0" tIns="0" rIns="0" bIns="0" rtlCol="0" anchor="ctr"/>
          <a:lstStyle/>
          <a:p>
            <a:pPr marL="0" indent="0" algn="ctr">
              <a:buNone/>
            </a:pPr>
            <a:r>
              <a:rPr lang="en-US" sz="2000" b="1" dirty="0">
                <a:solidFill>
                  <a:srgbClr val="6E6E6C"/>
                </a:solidFill>
                <a:latin typeface="Arial" pitchFamily="34" charset="0"/>
                <a:ea typeface="Arial" pitchFamily="34" charset="-122"/>
                <a:cs typeface="Arial" pitchFamily="34" charset="-120"/>
              </a:rPr>
              <a:t>›</a:t>
            </a:r>
            <a:endParaRPr lang="en-US" sz="2000" dirty="0"/>
          </a:p>
        </p:txBody>
      </p:sp>
      <p:sp>
        <p:nvSpPr>
          <p:cNvPr id="23" name="Shape 20"/>
          <p:cNvSpPr/>
          <p:nvPr/>
        </p:nvSpPr>
        <p:spPr>
          <a:xfrm>
            <a:off x="4480560" y="4892040"/>
            <a:ext cx="868680" cy="868680"/>
          </a:xfrm>
          <a:prstGeom prst="ellipse">
            <a:avLst/>
          </a:prstGeom>
          <a:solidFill>
            <a:srgbClr val="0B6E7A"/>
          </a:solidFill>
          <a:ln/>
        </p:spPr>
        <p:txBody>
          <a:bodyPr/>
          <a:lstStyle/>
          <a:p>
            <a:endParaRPr lang="de-DE"/>
          </a:p>
        </p:txBody>
      </p:sp>
      <p:sp>
        <p:nvSpPr>
          <p:cNvPr id="24" name="Text 21"/>
          <p:cNvSpPr/>
          <p:nvPr/>
        </p:nvSpPr>
        <p:spPr>
          <a:xfrm>
            <a:off x="4480560" y="4892040"/>
            <a:ext cx="868680" cy="86868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L3 ↑</a:t>
            </a:r>
            <a:endParaRPr lang="en-US" sz="1300" dirty="0"/>
          </a:p>
        </p:txBody>
      </p:sp>
      <p:sp>
        <p:nvSpPr>
          <p:cNvPr id="25" name="Text 22"/>
          <p:cNvSpPr/>
          <p:nvPr/>
        </p:nvSpPr>
        <p:spPr>
          <a:xfrm>
            <a:off x="5349240" y="4892040"/>
            <a:ext cx="914400" cy="868680"/>
          </a:xfrm>
          <a:prstGeom prst="rect">
            <a:avLst/>
          </a:prstGeom>
          <a:noFill/>
          <a:ln/>
        </p:spPr>
        <p:txBody>
          <a:bodyPr wrap="square" lIns="0" tIns="0" rIns="0" bIns="0" rtlCol="0" anchor="ctr"/>
          <a:lstStyle/>
          <a:p>
            <a:pPr marL="0" indent="0" algn="ctr">
              <a:buNone/>
            </a:pPr>
            <a:r>
              <a:rPr lang="en-US" sz="2000" b="1" dirty="0">
                <a:solidFill>
                  <a:srgbClr val="6E6E6C"/>
                </a:solidFill>
                <a:latin typeface="Arial" pitchFamily="34" charset="0"/>
                <a:ea typeface="Arial" pitchFamily="34" charset="-122"/>
                <a:cs typeface="Arial" pitchFamily="34" charset="-120"/>
              </a:rPr>
              <a:t>›</a:t>
            </a:r>
            <a:endParaRPr lang="en-US" sz="2000" dirty="0"/>
          </a:p>
        </p:txBody>
      </p:sp>
      <p:sp>
        <p:nvSpPr>
          <p:cNvPr id="26" name="Shape 23"/>
          <p:cNvSpPr/>
          <p:nvPr/>
        </p:nvSpPr>
        <p:spPr>
          <a:xfrm>
            <a:off x="6263640" y="4892040"/>
            <a:ext cx="868680" cy="868680"/>
          </a:xfrm>
          <a:prstGeom prst="ellipse">
            <a:avLst/>
          </a:prstGeom>
          <a:solidFill>
            <a:srgbClr val="2D2D2B"/>
          </a:solidFill>
          <a:ln/>
        </p:spPr>
        <p:txBody>
          <a:bodyPr/>
          <a:lstStyle/>
          <a:p>
            <a:endParaRPr lang="de-DE"/>
          </a:p>
        </p:txBody>
      </p:sp>
      <p:sp>
        <p:nvSpPr>
          <p:cNvPr id="27" name="Text 24"/>
          <p:cNvSpPr/>
          <p:nvPr/>
        </p:nvSpPr>
        <p:spPr>
          <a:xfrm>
            <a:off x="6263640" y="4892040"/>
            <a:ext cx="868680" cy="86868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L4</a:t>
            </a:r>
            <a:endParaRPr lang="en-US" sz="1300" dirty="0"/>
          </a:p>
        </p:txBody>
      </p:sp>
      <p:sp>
        <p:nvSpPr>
          <p:cNvPr id="28" name="Text 25"/>
          <p:cNvSpPr/>
          <p:nvPr/>
        </p:nvSpPr>
        <p:spPr>
          <a:xfrm>
            <a:off x="7132320" y="4892040"/>
            <a:ext cx="914400" cy="868680"/>
          </a:xfrm>
          <a:prstGeom prst="rect">
            <a:avLst/>
          </a:prstGeom>
          <a:noFill/>
          <a:ln/>
        </p:spPr>
        <p:txBody>
          <a:bodyPr wrap="square" lIns="0" tIns="0" rIns="0" bIns="0" rtlCol="0" anchor="ctr"/>
          <a:lstStyle/>
          <a:p>
            <a:pPr marL="0" indent="0" algn="ctr">
              <a:buNone/>
            </a:pPr>
            <a:r>
              <a:rPr lang="en-US" sz="2000" b="1" dirty="0">
                <a:solidFill>
                  <a:srgbClr val="6E6E6C"/>
                </a:solidFill>
                <a:latin typeface="Arial" pitchFamily="34" charset="0"/>
                <a:ea typeface="Arial" pitchFamily="34" charset="-122"/>
                <a:cs typeface="Arial" pitchFamily="34" charset="-120"/>
              </a:rPr>
              <a:t>›</a:t>
            </a:r>
            <a:endParaRPr lang="en-US" sz="2000" dirty="0"/>
          </a:p>
        </p:txBody>
      </p:sp>
      <p:sp>
        <p:nvSpPr>
          <p:cNvPr id="29" name="Shape 26"/>
          <p:cNvSpPr/>
          <p:nvPr/>
        </p:nvSpPr>
        <p:spPr>
          <a:xfrm>
            <a:off x="8046720" y="4892040"/>
            <a:ext cx="868680" cy="868680"/>
          </a:xfrm>
          <a:prstGeom prst="ellipse">
            <a:avLst/>
          </a:prstGeom>
          <a:solidFill>
            <a:srgbClr val="0B6E7A"/>
          </a:solidFill>
          <a:ln/>
        </p:spPr>
        <p:txBody>
          <a:bodyPr/>
          <a:lstStyle/>
          <a:p>
            <a:endParaRPr lang="de-DE"/>
          </a:p>
        </p:txBody>
      </p:sp>
      <p:sp>
        <p:nvSpPr>
          <p:cNvPr id="30" name="Text 27"/>
          <p:cNvSpPr/>
          <p:nvPr/>
        </p:nvSpPr>
        <p:spPr>
          <a:xfrm>
            <a:off x="8046720" y="4892040"/>
            <a:ext cx="868680" cy="86868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L3 ↓</a:t>
            </a:r>
            <a:endParaRPr lang="en-US" sz="1300" dirty="0"/>
          </a:p>
        </p:txBody>
      </p:sp>
      <p:sp>
        <p:nvSpPr>
          <p:cNvPr id="31" name="Text 28"/>
          <p:cNvSpPr/>
          <p:nvPr/>
        </p:nvSpPr>
        <p:spPr>
          <a:xfrm>
            <a:off x="8915400" y="4892040"/>
            <a:ext cx="914400" cy="868680"/>
          </a:xfrm>
          <a:prstGeom prst="rect">
            <a:avLst/>
          </a:prstGeom>
          <a:noFill/>
          <a:ln/>
        </p:spPr>
        <p:txBody>
          <a:bodyPr wrap="square" lIns="0" tIns="0" rIns="0" bIns="0" rtlCol="0" anchor="ctr"/>
          <a:lstStyle/>
          <a:p>
            <a:pPr marL="0" indent="0" algn="ctr">
              <a:buNone/>
            </a:pPr>
            <a:r>
              <a:rPr lang="en-US" sz="2000" b="1" dirty="0">
                <a:solidFill>
                  <a:srgbClr val="6E6E6C"/>
                </a:solidFill>
                <a:latin typeface="Arial" pitchFamily="34" charset="0"/>
                <a:ea typeface="Arial" pitchFamily="34" charset="-122"/>
                <a:cs typeface="Arial" pitchFamily="34" charset="-120"/>
              </a:rPr>
              <a:t>›</a:t>
            </a:r>
            <a:endParaRPr lang="en-US" sz="2000" dirty="0"/>
          </a:p>
        </p:txBody>
      </p:sp>
      <p:sp>
        <p:nvSpPr>
          <p:cNvPr id="32" name="Shape 29"/>
          <p:cNvSpPr/>
          <p:nvPr/>
        </p:nvSpPr>
        <p:spPr>
          <a:xfrm>
            <a:off x="9829800" y="4892040"/>
            <a:ext cx="868680" cy="868680"/>
          </a:xfrm>
          <a:prstGeom prst="ellipse">
            <a:avLst/>
          </a:prstGeom>
          <a:solidFill>
            <a:srgbClr val="0B6E7A"/>
          </a:solidFill>
          <a:ln/>
        </p:spPr>
        <p:txBody>
          <a:bodyPr/>
          <a:lstStyle/>
          <a:p>
            <a:endParaRPr lang="de-DE"/>
          </a:p>
        </p:txBody>
      </p:sp>
      <p:sp>
        <p:nvSpPr>
          <p:cNvPr id="33" name="Text 30"/>
          <p:cNvSpPr/>
          <p:nvPr/>
        </p:nvSpPr>
        <p:spPr>
          <a:xfrm>
            <a:off x="9829800" y="4892040"/>
            <a:ext cx="868680" cy="86868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L1</a:t>
            </a:r>
            <a:endParaRPr lang="en-US" sz="1300" dirty="0"/>
          </a:p>
        </p:txBody>
      </p:sp>
      <p:sp>
        <p:nvSpPr>
          <p:cNvPr id="34" name="Text 31"/>
          <p:cNvSpPr/>
          <p:nvPr/>
        </p:nvSpPr>
        <p:spPr>
          <a:xfrm>
            <a:off x="914400" y="5852160"/>
            <a:ext cx="10058400" cy="320040"/>
          </a:xfrm>
          <a:prstGeom prst="rect">
            <a:avLst/>
          </a:prstGeom>
          <a:noFill/>
          <a:ln/>
        </p:spPr>
        <p:txBody>
          <a:bodyPr wrap="square" lIns="0" tIns="0" rIns="0" bIns="0" rtlCol="0" anchor="ctr"/>
          <a:lstStyle/>
          <a:p>
            <a:pPr marL="0" indent="0">
              <a:buNone/>
            </a:pPr>
            <a:r>
              <a:rPr lang="en-US" sz="1150" i="1" dirty="0">
                <a:solidFill>
                  <a:srgbClr val="6E6E6C"/>
                </a:solidFill>
                <a:latin typeface="Arial" pitchFamily="34" charset="0"/>
                <a:ea typeface="Arial" pitchFamily="34" charset="-122"/>
                <a:cs typeface="Arial" pitchFamily="34" charset="-120"/>
              </a:rPr>
              <a:t>Up-sweep serves L2 and L3, turns at the top (L4), then the down-sweep serves L3 — never zig-zagging.</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40080" y="502920"/>
            <a:ext cx="9144000" cy="292608"/>
          </a:xfrm>
          <a:prstGeom prst="rect">
            <a:avLst/>
          </a:prstGeom>
          <a:noFill/>
          <a:ln/>
        </p:spPr>
        <p:txBody>
          <a:bodyPr wrap="square" lIns="0" tIns="0" rIns="0" bIns="0" rtlCol="0" anchor="ctr"/>
          <a:lstStyle/>
          <a:p>
            <a:pPr marL="0" indent="0">
              <a:buNone/>
            </a:pPr>
            <a:r>
              <a:rPr lang="en-US" sz="1200" b="1" kern="0" spc="200" dirty="0">
                <a:solidFill>
                  <a:srgbClr val="0B6E7A"/>
                </a:solidFill>
                <a:latin typeface="Arial" pitchFamily="34" charset="0"/>
                <a:ea typeface="Arial" pitchFamily="34" charset="-122"/>
                <a:cs typeface="Arial" pitchFamily="34" charset="-120"/>
              </a:rPr>
              <a:t>PART 2 · DECELERATION</a:t>
            </a:r>
            <a:endParaRPr lang="en-US" sz="1200" dirty="0"/>
          </a:p>
        </p:txBody>
      </p:sp>
      <p:sp>
        <p:nvSpPr>
          <p:cNvPr id="4" name="Text 2"/>
          <p:cNvSpPr/>
          <p:nvPr/>
        </p:nvSpPr>
        <p:spPr>
          <a:xfrm>
            <a:off x="640080" y="804672"/>
            <a:ext cx="10515600" cy="731520"/>
          </a:xfrm>
          <a:prstGeom prst="rect">
            <a:avLst/>
          </a:prstGeom>
          <a:noFill/>
          <a:ln/>
        </p:spPr>
        <p:txBody>
          <a:bodyPr wrap="square" lIns="0" tIns="0" rIns="0" bIns="0" rtlCol="0" anchor="ctr"/>
          <a:lstStyle/>
          <a:p>
            <a:pPr marL="0" indent="0">
              <a:buNone/>
            </a:pPr>
            <a:r>
              <a:rPr lang="en-US" sz="2800" b="1" dirty="0">
                <a:solidFill>
                  <a:srgbClr val="2D2D2B"/>
                </a:solidFill>
                <a:latin typeface="Arial" pitchFamily="34" charset="0"/>
                <a:ea typeface="Arial" pitchFamily="34" charset="-122"/>
                <a:cs typeface="Arial" pitchFamily="34" charset="-120"/>
              </a:rPr>
              <a:t>Stopping precisely: approach → safety → reached</a:t>
            </a:r>
            <a:endParaRPr lang="en-US" sz="2800" dirty="0"/>
          </a:p>
        </p:txBody>
      </p:sp>
      <p:sp>
        <p:nvSpPr>
          <p:cNvPr id="5" name="Shape 3"/>
          <p:cNvSpPr/>
          <p:nvPr/>
        </p:nvSpPr>
        <p:spPr>
          <a:xfrm>
            <a:off x="640080" y="6382512"/>
            <a:ext cx="10908792" cy="0"/>
          </a:xfrm>
          <a:prstGeom prst="line">
            <a:avLst/>
          </a:prstGeom>
          <a:noFill/>
          <a:ln w="9525">
            <a:solidFill>
              <a:srgbClr val="D7D7D5"/>
            </a:solidFill>
            <a:prstDash val="solid"/>
          </a:ln>
        </p:spPr>
        <p:txBody>
          <a:bodyPr/>
          <a:lstStyle/>
          <a:p>
            <a:endParaRPr lang="de-DE"/>
          </a:p>
        </p:txBody>
      </p:sp>
      <p:sp>
        <p:nvSpPr>
          <p:cNvPr id="6" name="Text 4"/>
          <p:cNvSpPr/>
          <p:nvPr/>
        </p:nvSpPr>
        <p:spPr>
          <a:xfrm>
            <a:off x="640080" y="6437376"/>
            <a:ext cx="8229600" cy="274320"/>
          </a:xfrm>
          <a:prstGeom prst="rect">
            <a:avLst/>
          </a:prstGeom>
          <a:noFill/>
          <a:ln/>
        </p:spPr>
        <p:txBody>
          <a:bodyPr wrap="square" lIns="0" tIns="0" rIns="0" bIns="0" rtlCol="0" anchor="ctr"/>
          <a:lstStyle/>
          <a:p>
            <a:pPr marL="0" indent="0">
              <a:buNone/>
            </a:pPr>
            <a:r>
              <a:rPr lang="en-US" sz="900" dirty="0">
                <a:solidFill>
                  <a:srgbClr val="6E6E6C"/>
                </a:solidFill>
                <a:latin typeface="Arial" pitchFamily="34" charset="0"/>
                <a:ea typeface="Arial" pitchFamily="34" charset="-122"/>
                <a:cs typeface="Arial" pitchFamily="34" charset="-120"/>
              </a:rPr>
              <a:t>HTWG Konstanz  ·  System Architecture  ·  Group E</a:t>
            </a:r>
            <a:endParaRPr lang="en-US" sz="900" dirty="0"/>
          </a:p>
        </p:txBody>
      </p:sp>
      <p:sp>
        <p:nvSpPr>
          <p:cNvPr id="7" name="Text 5"/>
          <p:cNvSpPr/>
          <p:nvPr/>
        </p:nvSpPr>
        <p:spPr>
          <a:xfrm>
            <a:off x="10881360" y="6437376"/>
            <a:ext cx="667512" cy="274320"/>
          </a:xfrm>
          <a:prstGeom prst="rect">
            <a:avLst/>
          </a:prstGeom>
          <a:noFill/>
          <a:ln/>
        </p:spPr>
        <p:txBody>
          <a:bodyPr wrap="square" lIns="0" tIns="0" rIns="0" bIns="0" rtlCol="0" anchor="ctr"/>
          <a:lstStyle/>
          <a:p>
            <a:pPr marL="0" indent="0" algn="r">
              <a:buNone/>
            </a:pPr>
            <a:r>
              <a:rPr lang="en-US" sz="900" dirty="0">
                <a:solidFill>
                  <a:srgbClr val="6E6E6C"/>
                </a:solidFill>
                <a:latin typeface="Arial" pitchFamily="34" charset="0"/>
                <a:ea typeface="Arial" pitchFamily="34" charset="-122"/>
                <a:cs typeface="Arial" pitchFamily="34" charset="-120"/>
              </a:rPr>
              <a:t>11</a:t>
            </a:r>
            <a:endParaRPr lang="en-US" sz="900" dirty="0"/>
          </a:p>
        </p:txBody>
      </p:sp>
      <p:sp>
        <p:nvSpPr>
          <p:cNvPr id="9" name="Text 6"/>
          <p:cNvSpPr/>
          <p:nvPr/>
        </p:nvSpPr>
        <p:spPr>
          <a:xfrm>
            <a:off x="640080" y="1572768"/>
            <a:ext cx="10972800" cy="502920"/>
          </a:xfrm>
          <a:prstGeom prst="rect">
            <a:avLst/>
          </a:prstGeom>
          <a:noFill/>
          <a:ln/>
        </p:spPr>
        <p:txBody>
          <a:bodyPr wrap="square" lIns="0" tIns="0" rIns="0" bIns="0" rtlCol="0" anchor="ctr"/>
          <a:lstStyle/>
          <a:p>
            <a:pPr marL="0" indent="0">
              <a:buNone/>
            </a:pPr>
            <a:r>
              <a:rPr lang="en-US" sz="1450" dirty="0">
                <a:solidFill>
                  <a:srgbClr val="6E6E6C"/>
                </a:solidFill>
                <a:latin typeface="Arial" pitchFamily="34" charset="0"/>
                <a:ea typeface="Arial" pitchFamily="34" charset="-122"/>
                <a:cs typeface="Arial" pitchFamily="34" charset="-120"/>
              </a:rPr>
              <a:t>Going UP to a target level, three sensors fire in sequence and step the speed down so the cabin halts at the door-safe position.</a:t>
            </a:r>
            <a:endParaRPr lang="en-US" sz="1450" dirty="0"/>
          </a:p>
        </p:txBody>
      </p:sp>
      <p:sp>
        <p:nvSpPr>
          <p:cNvPr id="10" name="Shape 7"/>
          <p:cNvSpPr/>
          <p:nvPr/>
        </p:nvSpPr>
        <p:spPr>
          <a:xfrm>
            <a:off x="640080" y="2331720"/>
            <a:ext cx="3383280" cy="2240280"/>
          </a:xfrm>
          <a:prstGeom prst="rect">
            <a:avLst/>
          </a:prstGeom>
          <a:solidFill>
            <a:srgbClr val="F2F3F2"/>
          </a:solidFill>
          <a:ln w="12700">
            <a:solidFill>
              <a:srgbClr val="D7D7D5"/>
            </a:solidFill>
            <a:prstDash val="solid"/>
          </a:ln>
        </p:spPr>
        <p:txBody>
          <a:bodyPr/>
          <a:lstStyle/>
          <a:p>
            <a:endParaRPr lang="de-DE"/>
          </a:p>
        </p:txBody>
      </p:sp>
      <p:sp>
        <p:nvSpPr>
          <p:cNvPr id="11" name="Text 8"/>
          <p:cNvSpPr/>
          <p:nvPr/>
        </p:nvSpPr>
        <p:spPr>
          <a:xfrm>
            <a:off x="640080" y="2542032"/>
            <a:ext cx="3383280" cy="502920"/>
          </a:xfrm>
          <a:prstGeom prst="rect">
            <a:avLst/>
          </a:prstGeom>
          <a:noFill/>
          <a:ln/>
        </p:spPr>
        <p:txBody>
          <a:bodyPr wrap="square" lIns="0" tIns="0" rIns="0" bIns="0" rtlCol="0" anchor="ctr"/>
          <a:lstStyle/>
          <a:p>
            <a:pPr marL="0" indent="0" algn="ctr">
              <a:buNone/>
            </a:pPr>
            <a:r>
              <a:rPr lang="en-US" sz="2600" b="1" dirty="0">
                <a:solidFill>
                  <a:srgbClr val="2D2D2B"/>
                </a:solidFill>
                <a:latin typeface="Arial" pitchFamily="34" charset="0"/>
                <a:ea typeface="Arial" pitchFamily="34" charset="-122"/>
                <a:cs typeface="Arial" pitchFamily="34" charset="-120"/>
              </a:rPr>
              <a:t>−1.5 m</a:t>
            </a:r>
            <a:endParaRPr lang="en-US" sz="2600" dirty="0"/>
          </a:p>
        </p:txBody>
      </p:sp>
      <p:sp>
        <p:nvSpPr>
          <p:cNvPr id="12" name="Text 9"/>
          <p:cNvSpPr/>
          <p:nvPr/>
        </p:nvSpPr>
        <p:spPr>
          <a:xfrm>
            <a:off x="640080" y="3072384"/>
            <a:ext cx="3383280" cy="365760"/>
          </a:xfrm>
          <a:prstGeom prst="rect">
            <a:avLst/>
          </a:prstGeom>
          <a:noFill/>
          <a:ln/>
        </p:spPr>
        <p:txBody>
          <a:bodyPr wrap="square" lIns="0" tIns="0" rIns="0" bIns="0" rtlCol="0" anchor="ctr"/>
          <a:lstStyle/>
          <a:p>
            <a:pPr marL="0" indent="0" algn="ctr">
              <a:buNone/>
            </a:pPr>
            <a:r>
              <a:rPr lang="en-US" sz="1500" b="1" dirty="0">
                <a:solidFill>
                  <a:srgbClr val="333331"/>
                </a:solidFill>
                <a:latin typeface="Arial" pitchFamily="34" charset="0"/>
                <a:ea typeface="Arial" pitchFamily="34" charset="-122"/>
                <a:cs typeface="Arial" pitchFamily="34" charset="-120"/>
              </a:rPr>
              <a:t>approach lower</a:t>
            </a:r>
            <a:endParaRPr lang="en-US" sz="1500" dirty="0"/>
          </a:p>
        </p:txBody>
      </p:sp>
      <p:sp>
        <p:nvSpPr>
          <p:cNvPr id="13" name="Shape 10"/>
          <p:cNvSpPr/>
          <p:nvPr/>
        </p:nvSpPr>
        <p:spPr>
          <a:xfrm>
            <a:off x="1097280" y="3520440"/>
            <a:ext cx="2468880" cy="457200"/>
          </a:xfrm>
          <a:prstGeom prst="rect">
            <a:avLst/>
          </a:prstGeom>
          <a:solidFill>
            <a:srgbClr val="2D2D2B"/>
          </a:solidFill>
          <a:ln/>
        </p:spPr>
        <p:txBody>
          <a:bodyPr/>
          <a:lstStyle/>
          <a:p>
            <a:endParaRPr lang="de-DE"/>
          </a:p>
        </p:txBody>
      </p:sp>
      <p:sp>
        <p:nvSpPr>
          <p:cNvPr id="14" name="Text 11"/>
          <p:cNvSpPr/>
          <p:nvPr/>
        </p:nvSpPr>
        <p:spPr>
          <a:xfrm>
            <a:off x="1097280" y="3520440"/>
            <a:ext cx="246888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V2 → V1</a:t>
            </a:r>
            <a:endParaRPr lang="en-US" sz="1300" dirty="0"/>
          </a:p>
        </p:txBody>
      </p:sp>
      <p:sp>
        <p:nvSpPr>
          <p:cNvPr id="15" name="Text 12"/>
          <p:cNvSpPr/>
          <p:nvPr/>
        </p:nvSpPr>
        <p:spPr>
          <a:xfrm>
            <a:off x="640080" y="4069080"/>
            <a:ext cx="3383280" cy="365760"/>
          </a:xfrm>
          <a:prstGeom prst="rect">
            <a:avLst/>
          </a:prstGeom>
          <a:noFill/>
          <a:ln/>
        </p:spPr>
        <p:txBody>
          <a:bodyPr wrap="square" lIns="0" tIns="0" rIns="0" bIns="0" rtlCol="0" anchor="ctr"/>
          <a:lstStyle/>
          <a:p>
            <a:pPr marL="0" indent="0" algn="ctr">
              <a:buNone/>
            </a:pPr>
            <a:r>
              <a:rPr lang="en-US" sz="1200" i="1" dirty="0">
                <a:solidFill>
                  <a:srgbClr val="6E6E6C"/>
                </a:solidFill>
                <a:latin typeface="Arial" pitchFamily="34" charset="0"/>
                <a:ea typeface="Arial" pitchFamily="34" charset="-122"/>
                <a:cs typeface="Arial" pitchFamily="34" charset="-120"/>
              </a:rPr>
              <a:t>start slowing</a:t>
            </a:r>
            <a:endParaRPr lang="en-US" sz="1200" dirty="0"/>
          </a:p>
        </p:txBody>
      </p:sp>
      <p:sp>
        <p:nvSpPr>
          <p:cNvPr id="16" name="Text 13"/>
          <p:cNvSpPr/>
          <p:nvPr/>
        </p:nvSpPr>
        <p:spPr>
          <a:xfrm>
            <a:off x="4023360" y="2331720"/>
            <a:ext cx="365760" cy="2240280"/>
          </a:xfrm>
          <a:prstGeom prst="rect">
            <a:avLst/>
          </a:prstGeom>
          <a:noFill/>
          <a:ln/>
        </p:spPr>
        <p:txBody>
          <a:bodyPr wrap="square" lIns="0" tIns="0" rIns="0" bIns="0" rtlCol="0" anchor="ctr"/>
          <a:lstStyle/>
          <a:p>
            <a:pPr marL="0" indent="0" algn="ctr">
              <a:buNone/>
            </a:pPr>
            <a:r>
              <a:rPr lang="en-US" sz="2600" b="1" dirty="0">
                <a:solidFill>
                  <a:srgbClr val="2D2D2B"/>
                </a:solidFill>
                <a:latin typeface="Arial" pitchFamily="34" charset="0"/>
                <a:ea typeface="Arial" pitchFamily="34" charset="-122"/>
                <a:cs typeface="Arial" pitchFamily="34" charset="-120"/>
              </a:rPr>
              <a:t>›</a:t>
            </a:r>
            <a:endParaRPr lang="en-US" sz="2600" dirty="0"/>
          </a:p>
        </p:txBody>
      </p:sp>
      <p:sp>
        <p:nvSpPr>
          <p:cNvPr id="17" name="Shape 14"/>
          <p:cNvSpPr/>
          <p:nvPr/>
        </p:nvSpPr>
        <p:spPr>
          <a:xfrm>
            <a:off x="4389120" y="2331720"/>
            <a:ext cx="3383280" cy="2240280"/>
          </a:xfrm>
          <a:prstGeom prst="rect">
            <a:avLst/>
          </a:prstGeom>
          <a:solidFill>
            <a:srgbClr val="F2F3F2"/>
          </a:solidFill>
          <a:ln w="12700">
            <a:solidFill>
              <a:srgbClr val="D7D7D5"/>
            </a:solidFill>
            <a:prstDash val="solid"/>
          </a:ln>
        </p:spPr>
        <p:txBody>
          <a:bodyPr/>
          <a:lstStyle/>
          <a:p>
            <a:endParaRPr lang="de-DE"/>
          </a:p>
        </p:txBody>
      </p:sp>
      <p:sp>
        <p:nvSpPr>
          <p:cNvPr id="18" name="Text 15"/>
          <p:cNvSpPr/>
          <p:nvPr/>
        </p:nvSpPr>
        <p:spPr>
          <a:xfrm>
            <a:off x="4389120" y="2542032"/>
            <a:ext cx="3383280" cy="502920"/>
          </a:xfrm>
          <a:prstGeom prst="rect">
            <a:avLst/>
          </a:prstGeom>
          <a:noFill/>
          <a:ln/>
        </p:spPr>
        <p:txBody>
          <a:bodyPr wrap="square" lIns="0" tIns="0" rIns="0" bIns="0" rtlCol="0" anchor="ctr"/>
          <a:lstStyle/>
          <a:p>
            <a:pPr marL="0" indent="0" algn="ctr">
              <a:buNone/>
            </a:pPr>
            <a:r>
              <a:rPr lang="en-US" sz="2600" b="1" dirty="0">
                <a:solidFill>
                  <a:srgbClr val="2D2D2B"/>
                </a:solidFill>
                <a:latin typeface="Arial" pitchFamily="34" charset="0"/>
                <a:ea typeface="Arial" pitchFamily="34" charset="-122"/>
                <a:cs typeface="Arial" pitchFamily="34" charset="-120"/>
              </a:rPr>
              <a:t>−50 mm</a:t>
            </a:r>
            <a:endParaRPr lang="en-US" sz="2600" dirty="0"/>
          </a:p>
        </p:txBody>
      </p:sp>
      <p:sp>
        <p:nvSpPr>
          <p:cNvPr id="19" name="Text 16"/>
          <p:cNvSpPr/>
          <p:nvPr/>
        </p:nvSpPr>
        <p:spPr>
          <a:xfrm>
            <a:off x="4389120" y="3072384"/>
            <a:ext cx="3383280" cy="365760"/>
          </a:xfrm>
          <a:prstGeom prst="rect">
            <a:avLst/>
          </a:prstGeom>
          <a:noFill/>
          <a:ln/>
        </p:spPr>
        <p:txBody>
          <a:bodyPr wrap="square" lIns="0" tIns="0" rIns="0" bIns="0" rtlCol="0" anchor="ctr"/>
          <a:lstStyle/>
          <a:p>
            <a:pPr marL="0" indent="0" algn="ctr">
              <a:buNone/>
            </a:pPr>
            <a:r>
              <a:rPr lang="en-US" sz="1500" b="1" dirty="0">
                <a:solidFill>
                  <a:srgbClr val="333331"/>
                </a:solidFill>
                <a:latin typeface="Arial" pitchFamily="34" charset="0"/>
                <a:ea typeface="Arial" pitchFamily="34" charset="-122"/>
                <a:cs typeface="Arial" pitchFamily="34" charset="-120"/>
              </a:rPr>
              <a:t>safety lower</a:t>
            </a:r>
            <a:endParaRPr lang="en-US" sz="1500" dirty="0"/>
          </a:p>
        </p:txBody>
      </p:sp>
      <p:sp>
        <p:nvSpPr>
          <p:cNvPr id="20" name="Shape 17"/>
          <p:cNvSpPr/>
          <p:nvPr/>
        </p:nvSpPr>
        <p:spPr>
          <a:xfrm>
            <a:off x="4846320" y="3520440"/>
            <a:ext cx="2468880" cy="457200"/>
          </a:xfrm>
          <a:prstGeom prst="rect">
            <a:avLst/>
          </a:prstGeom>
          <a:solidFill>
            <a:srgbClr val="2D2D2B"/>
          </a:solidFill>
          <a:ln/>
        </p:spPr>
        <p:txBody>
          <a:bodyPr/>
          <a:lstStyle/>
          <a:p>
            <a:endParaRPr lang="de-DE"/>
          </a:p>
        </p:txBody>
      </p:sp>
      <p:sp>
        <p:nvSpPr>
          <p:cNvPr id="21" name="Text 18"/>
          <p:cNvSpPr/>
          <p:nvPr/>
        </p:nvSpPr>
        <p:spPr>
          <a:xfrm>
            <a:off x="4846320" y="3520440"/>
            <a:ext cx="246888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V1 → CRAWL</a:t>
            </a:r>
            <a:endParaRPr lang="en-US" sz="1300" dirty="0"/>
          </a:p>
        </p:txBody>
      </p:sp>
      <p:sp>
        <p:nvSpPr>
          <p:cNvPr id="22" name="Text 19"/>
          <p:cNvSpPr/>
          <p:nvPr/>
        </p:nvSpPr>
        <p:spPr>
          <a:xfrm>
            <a:off x="4389120" y="4069080"/>
            <a:ext cx="3383280" cy="365760"/>
          </a:xfrm>
          <a:prstGeom prst="rect">
            <a:avLst/>
          </a:prstGeom>
          <a:noFill/>
          <a:ln/>
        </p:spPr>
        <p:txBody>
          <a:bodyPr wrap="square" lIns="0" tIns="0" rIns="0" bIns="0" rtlCol="0" anchor="ctr"/>
          <a:lstStyle/>
          <a:p>
            <a:pPr marL="0" indent="0" algn="ctr">
              <a:buNone/>
            </a:pPr>
            <a:r>
              <a:rPr lang="en-US" sz="1200" i="1" dirty="0">
                <a:solidFill>
                  <a:srgbClr val="6E6E6C"/>
                </a:solidFill>
                <a:latin typeface="Arial" pitchFamily="34" charset="0"/>
                <a:ea typeface="Arial" pitchFamily="34" charset="-122"/>
                <a:cs typeface="Arial" pitchFamily="34" charset="-120"/>
              </a:rPr>
              <a:t>creep in slowly</a:t>
            </a:r>
            <a:endParaRPr lang="en-US" sz="1200" dirty="0"/>
          </a:p>
        </p:txBody>
      </p:sp>
      <p:sp>
        <p:nvSpPr>
          <p:cNvPr id="23" name="Text 20"/>
          <p:cNvSpPr/>
          <p:nvPr/>
        </p:nvSpPr>
        <p:spPr>
          <a:xfrm>
            <a:off x="7772400" y="2331720"/>
            <a:ext cx="365760" cy="2240280"/>
          </a:xfrm>
          <a:prstGeom prst="rect">
            <a:avLst/>
          </a:prstGeom>
          <a:noFill/>
          <a:ln/>
        </p:spPr>
        <p:txBody>
          <a:bodyPr wrap="square" lIns="0" tIns="0" rIns="0" bIns="0" rtlCol="0" anchor="ctr"/>
          <a:lstStyle/>
          <a:p>
            <a:pPr marL="0" indent="0" algn="ctr">
              <a:buNone/>
            </a:pPr>
            <a:r>
              <a:rPr lang="en-US" sz="2600" b="1" dirty="0">
                <a:solidFill>
                  <a:srgbClr val="2D2D2B"/>
                </a:solidFill>
                <a:latin typeface="Arial" pitchFamily="34" charset="0"/>
                <a:ea typeface="Arial" pitchFamily="34" charset="-122"/>
                <a:cs typeface="Arial" pitchFamily="34" charset="-120"/>
              </a:rPr>
              <a:t>›</a:t>
            </a:r>
            <a:endParaRPr lang="en-US" sz="2600" dirty="0"/>
          </a:p>
        </p:txBody>
      </p:sp>
      <p:sp>
        <p:nvSpPr>
          <p:cNvPr id="24" name="Shape 21"/>
          <p:cNvSpPr/>
          <p:nvPr/>
        </p:nvSpPr>
        <p:spPr>
          <a:xfrm>
            <a:off x="8138160" y="2331720"/>
            <a:ext cx="3383280" cy="2240280"/>
          </a:xfrm>
          <a:prstGeom prst="rect">
            <a:avLst/>
          </a:prstGeom>
          <a:solidFill>
            <a:srgbClr val="EAF0EF"/>
          </a:solidFill>
          <a:ln w="19050">
            <a:solidFill>
              <a:srgbClr val="0B6E7A"/>
            </a:solidFill>
            <a:prstDash val="solid"/>
          </a:ln>
        </p:spPr>
        <p:txBody>
          <a:bodyPr/>
          <a:lstStyle/>
          <a:p>
            <a:endParaRPr lang="de-DE"/>
          </a:p>
        </p:txBody>
      </p:sp>
      <p:sp>
        <p:nvSpPr>
          <p:cNvPr id="25" name="Text 22"/>
          <p:cNvSpPr/>
          <p:nvPr/>
        </p:nvSpPr>
        <p:spPr>
          <a:xfrm>
            <a:off x="8138160" y="2542032"/>
            <a:ext cx="3383280" cy="502920"/>
          </a:xfrm>
          <a:prstGeom prst="rect">
            <a:avLst/>
          </a:prstGeom>
          <a:noFill/>
          <a:ln/>
        </p:spPr>
        <p:txBody>
          <a:bodyPr wrap="square" lIns="0" tIns="0" rIns="0" bIns="0" rtlCol="0" anchor="ctr"/>
          <a:lstStyle/>
          <a:p>
            <a:pPr marL="0" indent="0" algn="ctr">
              <a:buNone/>
            </a:pPr>
            <a:r>
              <a:rPr lang="en-US" sz="2600" b="1" dirty="0">
                <a:solidFill>
                  <a:srgbClr val="0B6E7A"/>
                </a:solidFill>
                <a:latin typeface="Arial" pitchFamily="34" charset="0"/>
                <a:ea typeface="Arial" pitchFamily="34" charset="-122"/>
                <a:cs typeface="Arial" pitchFamily="34" charset="-120"/>
              </a:rPr>
              <a:t>0 mm</a:t>
            </a:r>
            <a:endParaRPr lang="en-US" sz="2600" dirty="0"/>
          </a:p>
        </p:txBody>
      </p:sp>
      <p:sp>
        <p:nvSpPr>
          <p:cNvPr id="26" name="Text 23"/>
          <p:cNvSpPr/>
          <p:nvPr/>
        </p:nvSpPr>
        <p:spPr>
          <a:xfrm>
            <a:off x="8138160" y="3072384"/>
            <a:ext cx="3383280" cy="365760"/>
          </a:xfrm>
          <a:prstGeom prst="rect">
            <a:avLst/>
          </a:prstGeom>
          <a:noFill/>
          <a:ln/>
        </p:spPr>
        <p:txBody>
          <a:bodyPr wrap="square" lIns="0" tIns="0" rIns="0" bIns="0" rtlCol="0" anchor="ctr"/>
          <a:lstStyle/>
          <a:p>
            <a:pPr marL="0" indent="0" algn="ctr">
              <a:buNone/>
            </a:pPr>
            <a:r>
              <a:rPr lang="en-US" sz="1500" b="1" dirty="0">
                <a:solidFill>
                  <a:srgbClr val="333331"/>
                </a:solidFill>
                <a:latin typeface="Arial" pitchFamily="34" charset="0"/>
                <a:ea typeface="Arial" pitchFamily="34" charset="-122"/>
                <a:cs typeface="Arial" pitchFamily="34" charset="-120"/>
              </a:rPr>
              <a:t>reached</a:t>
            </a:r>
            <a:endParaRPr lang="en-US" sz="1500" dirty="0"/>
          </a:p>
        </p:txBody>
      </p:sp>
      <p:sp>
        <p:nvSpPr>
          <p:cNvPr id="27" name="Shape 24"/>
          <p:cNvSpPr/>
          <p:nvPr/>
        </p:nvSpPr>
        <p:spPr>
          <a:xfrm>
            <a:off x="8595360" y="3520440"/>
            <a:ext cx="2468880" cy="457200"/>
          </a:xfrm>
          <a:prstGeom prst="rect">
            <a:avLst/>
          </a:prstGeom>
          <a:solidFill>
            <a:srgbClr val="2D2D2B"/>
          </a:solidFill>
          <a:ln/>
        </p:spPr>
        <p:txBody>
          <a:bodyPr/>
          <a:lstStyle/>
          <a:p>
            <a:endParaRPr lang="de-DE"/>
          </a:p>
        </p:txBody>
      </p:sp>
      <p:sp>
        <p:nvSpPr>
          <p:cNvPr id="28" name="Text 25"/>
          <p:cNvSpPr/>
          <p:nvPr/>
        </p:nvSpPr>
        <p:spPr>
          <a:xfrm>
            <a:off x="8595360" y="3520440"/>
            <a:ext cx="246888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CRAWL → STOP</a:t>
            </a:r>
            <a:endParaRPr lang="en-US" sz="1300" dirty="0"/>
          </a:p>
        </p:txBody>
      </p:sp>
      <p:sp>
        <p:nvSpPr>
          <p:cNvPr id="29" name="Text 26"/>
          <p:cNvSpPr/>
          <p:nvPr/>
        </p:nvSpPr>
        <p:spPr>
          <a:xfrm>
            <a:off x="8138160" y="4069080"/>
            <a:ext cx="3383280" cy="365760"/>
          </a:xfrm>
          <a:prstGeom prst="rect">
            <a:avLst/>
          </a:prstGeom>
          <a:noFill/>
          <a:ln/>
        </p:spPr>
        <p:txBody>
          <a:bodyPr wrap="square" lIns="0" tIns="0" rIns="0" bIns="0" rtlCol="0" anchor="ctr"/>
          <a:lstStyle/>
          <a:p>
            <a:pPr marL="0" indent="0" algn="ctr">
              <a:buNone/>
            </a:pPr>
            <a:r>
              <a:rPr lang="en-US" sz="1200" i="1" dirty="0">
                <a:solidFill>
                  <a:srgbClr val="6E6E6C"/>
                </a:solidFill>
                <a:latin typeface="Arial" pitchFamily="34" charset="0"/>
                <a:ea typeface="Arial" pitchFamily="34" charset="-122"/>
                <a:cs typeface="Arial" pitchFamily="34" charset="-120"/>
              </a:rPr>
              <a:t>door-safe stop</a:t>
            </a:r>
            <a:endParaRPr lang="en-US" sz="1200" dirty="0"/>
          </a:p>
        </p:txBody>
      </p:sp>
      <p:sp>
        <p:nvSpPr>
          <p:cNvPr id="30" name="Shape 27"/>
          <p:cNvSpPr/>
          <p:nvPr/>
        </p:nvSpPr>
        <p:spPr>
          <a:xfrm>
            <a:off x="640080" y="4892040"/>
            <a:ext cx="10908792" cy="1325880"/>
          </a:xfrm>
          <a:prstGeom prst="rect">
            <a:avLst/>
          </a:prstGeom>
          <a:solidFill>
            <a:srgbClr val="F2F3F2"/>
          </a:solidFill>
          <a:ln w="12700">
            <a:solidFill>
              <a:srgbClr val="D7D7D5"/>
            </a:solidFill>
            <a:prstDash val="solid"/>
          </a:ln>
        </p:spPr>
        <p:txBody>
          <a:bodyPr/>
          <a:lstStyle/>
          <a:p>
            <a:endParaRPr lang="de-DE"/>
          </a:p>
        </p:txBody>
      </p:sp>
      <p:sp>
        <p:nvSpPr>
          <p:cNvPr id="31" name="Text 28"/>
          <p:cNvSpPr/>
          <p:nvPr/>
        </p:nvSpPr>
        <p:spPr>
          <a:xfrm>
            <a:off x="914400" y="4892040"/>
            <a:ext cx="10360152" cy="1325880"/>
          </a:xfrm>
          <a:prstGeom prst="rect">
            <a:avLst/>
          </a:prstGeom>
          <a:noFill/>
          <a:ln/>
        </p:spPr>
        <p:txBody>
          <a:bodyPr wrap="square" lIns="0" tIns="0" rIns="0" bIns="0" rtlCol="0" anchor="ctr"/>
          <a:lstStyle/>
          <a:p>
            <a:pPr marL="0" indent="0">
              <a:buNone/>
            </a:pPr>
            <a:r>
              <a:rPr lang="en-US" sz="1400" b="1" dirty="0">
                <a:solidFill>
                  <a:srgbClr val="0B6E7A"/>
                </a:solidFill>
                <a:latin typeface="Arial" pitchFamily="34" charset="0"/>
                <a:ea typeface="Arial" pitchFamily="34" charset="-122"/>
                <a:cs typeface="Arial" pitchFamily="34" charset="-120"/>
              </a:rPr>
              <a:t>Going DOWN is the mirror image:  </a:t>
            </a:r>
            <a:r>
              <a:rPr lang="en-US" sz="1400" dirty="0">
                <a:solidFill>
                  <a:srgbClr val="333331"/>
                </a:solidFill>
                <a:latin typeface="Arial" pitchFamily="34" charset="0"/>
                <a:ea typeface="Arial" pitchFamily="34" charset="-122"/>
                <a:cs typeface="Arial" pitchFamily="34" charset="-120"/>
              </a:rPr>
              <a:t>approach upper (au) → V1, safety upper (su) → CRAWL, reached (r) → STOP. The cabin then honours the minimum dwell of 6 s plus door open/close time before departing.</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40080" y="502920"/>
            <a:ext cx="9144000" cy="292608"/>
          </a:xfrm>
          <a:prstGeom prst="rect">
            <a:avLst/>
          </a:prstGeom>
          <a:noFill/>
          <a:ln/>
        </p:spPr>
        <p:txBody>
          <a:bodyPr wrap="square" lIns="0" tIns="0" rIns="0" bIns="0" rtlCol="0" anchor="ctr"/>
          <a:lstStyle/>
          <a:p>
            <a:pPr marL="0" indent="0">
              <a:buNone/>
            </a:pPr>
            <a:r>
              <a:rPr lang="en-US" sz="1200" b="1" kern="0" spc="200" dirty="0">
                <a:solidFill>
                  <a:srgbClr val="0B6E7A"/>
                </a:solidFill>
                <a:latin typeface="Arial" pitchFamily="34" charset="0"/>
                <a:ea typeface="Arial" pitchFamily="34" charset="-122"/>
                <a:cs typeface="Arial" pitchFamily="34" charset="-120"/>
              </a:rPr>
              <a:t>PART 2 · STATE MACHINE</a:t>
            </a:r>
            <a:endParaRPr lang="en-US" sz="1200" dirty="0"/>
          </a:p>
        </p:txBody>
      </p:sp>
      <p:sp>
        <p:nvSpPr>
          <p:cNvPr id="4" name="Text 2"/>
          <p:cNvSpPr/>
          <p:nvPr/>
        </p:nvSpPr>
        <p:spPr>
          <a:xfrm>
            <a:off x="640080" y="804672"/>
            <a:ext cx="10515600" cy="731520"/>
          </a:xfrm>
          <a:prstGeom prst="rect">
            <a:avLst/>
          </a:prstGeom>
          <a:noFill/>
          <a:ln/>
        </p:spPr>
        <p:txBody>
          <a:bodyPr wrap="square" lIns="0" tIns="0" rIns="0" bIns="0" rtlCol="0" anchor="ctr"/>
          <a:lstStyle/>
          <a:p>
            <a:pPr marL="0" indent="0">
              <a:buNone/>
            </a:pPr>
            <a:r>
              <a:rPr lang="en-US" sz="2800" b="1" dirty="0">
                <a:solidFill>
                  <a:srgbClr val="2D2D2B"/>
                </a:solidFill>
                <a:latin typeface="Arial" pitchFamily="34" charset="0"/>
                <a:ea typeface="Arial" pitchFamily="34" charset="-122"/>
                <a:cs typeface="Arial" pitchFamily="34" charset="-120"/>
              </a:rPr>
              <a:t>The controller as a finite state machine</a:t>
            </a:r>
            <a:endParaRPr lang="en-US" sz="2800" dirty="0"/>
          </a:p>
        </p:txBody>
      </p:sp>
      <p:sp>
        <p:nvSpPr>
          <p:cNvPr id="5" name="Shape 3"/>
          <p:cNvSpPr/>
          <p:nvPr/>
        </p:nvSpPr>
        <p:spPr>
          <a:xfrm>
            <a:off x="640080" y="6382512"/>
            <a:ext cx="10908792" cy="0"/>
          </a:xfrm>
          <a:prstGeom prst="line">
            <a:avLst/>
          </a:prstGeom>
          <a:noFill/>
          <a:ln w="9525">
            <a:solidFill>
              <a:srgbClr val="D7D7D5"/>
            </a:solidFill>
            <a:prstDash val="solid"/>
          </a:ln>
        </p:spPr>
        <p:txBody>
          <a:bodyPr/>
          <a:lstStyle/>
          <a:p>
            <a:endParaRPr lang="de-DE"/>
          </a:p>
        </p:txBody>
      </p:sp>
      <p:sp>
        <p:nvSpPr>
          <p:cNvPr id="6" name="Text 4"/>
          <p:cNvSpPr/>
          <p:nvPr/>
        </p:nvSpPr>
        <p:spPr>
          <a:xfrm>
            <a:off x="640080" y="6437376"/>
            <a:ext cx="8229600" cy="274320"/>
          </a:xfrm>
          <a:prstGeom prst="rect">
            <a:avLst/>
          </a:prstGeom>
          <a:noFill/>
          <a:ln/>
        </p:spPr>
        <p:txBody>
          <a:bodyPr wrap="square" lIns="0" tIns="0" rIns="0" bIns="0" rtlCol="0" anchor="ctr"/>
          <a:lstStyle/>
          <a:p>
            <a:pPr marL="0" indent="0">
              <a:buNone/>
            </a:pPr>
            <a:r>
              <a:rPr lang="en-US" sz="900" dirty="0">
                <a:solidFill>
                  <a:srgbClr val="6E6E6C"/>
                </a:solidFill>
                <a:latin typeface="Arial" pitchFamily="34" charset="0"/>
                <a:ea typeface="Arial" pitchFamily="34" charset="-122"/>
                <a:cs typeface="Arial" pitchFamily="34" charset="-120"/>
              </a:rPr>
              <a:t>HTWG Konstanz  ·  System Architecture  ·  Group E</a:t>
            </a:r>
            <a:endParaRPr lang="en-US" sz="900" dirty="0"/>
          </a:p>
        </p:txBody>
      </p:sp>
      <p:sp>
        <p:nvSpPr>
          <p:cNvPr id="7" name="Text 5"/>
          <p:cNvSpPr/>
          <p:nvPr/>
        </p:nvSpPr>
        <p:spPr>
          <a:xfrm>
            <a:off x="10881360" y="6437376"/>
            <a:ext cx="667512" cy="274320"/>
          </a:xfrm>
          <a:prstGeom prst="rect">
            <a:avLst/>
          </a:prstGeom>
          <a:noFill/>
          <a:ln/>
        </p:spPr>
        <p:txBody>
          <a:bodyPr wrap="square" lIns="0" tIns="0" rIns="0" bIns="0" rtlCol="0" anchor="ctr"/>
          <a:lstStyle/>
          <a:p>
            <a:pPr marL="0" indent="0" algn="r">
              <a:buNone/>
            </a:pPr>
            <a:r>
              <a:rPr lang="en-US" sz="900" dirty="0">
                <a:solidFill>
                  <a:srgbClr val="6E6E6C"/>
                </a:solidFill>
                <a:latin typeface="Arial" pitchFamily="34" charset="0"/>
                <a:ea typeface="Arial" pitchFamily="34" charset="-122"/>
                <a:cs typeface="Arial" pitchFamily="34" charset="-120"/>
              </a:rPr>
              <a:t>12</a:t>
            </a:r>
            <a:endParaRPr lang="en-US" sz="900" dirty="0"/>
          </a:p>
        </p:txBody>
      </p:sp>
      <p:sp>
        <p:nvSpPr>
          <p:cNvPr id="9" name="Shape 6"/>
          <p:cNvSpPr/>
          <p:nvPr/>
        </p:nvSpPr>
        <p:spPr>
          <a:xfrm>
            <a:off x="640080" y="1783080"/>
            <a:ext cx="2542032" cy="1234440"/>
          </a:xfrm>
          <a:prstGeom prst="rect">
            <a:avLst/>
          </a:prstGeom>
          <a:solidFill>
            <a:srgbClr val="F2F3F2"/>
          </a:solidFill>
          <a:ln w="12700">
            <a:solidFill>
              <a:srgbClr val="D7D7D5"/>
            </a:solidFill>
            <a:prstDash val="solid"/>
          </a:ln>
        </p:spPr>
        <p:txBody>
          <a:bodyPr/>
          <a:lstStyle/>
          <a:p>
            <a:endParaRPr lang="de-DE"/>
          </a:p>
        </p:txBody>
      </p:sp>
      <p:sp>
        <p:nvSpPr>
          <p:cNvPr id="10" name="Text 7"/>
          <p:cNvSpPr/>
          <p:nvPr/>
        </p:nvSpPr>
        <p:spPr>
          <a:xfrm>
            <a:off x="804672" y="1965960"/>
            <a:ext cx="2240280" cy="457200"/>
          </a:xfrm>
          <a:prstGeom prst="rect">
            <a:avLst/>
          </a:prstGeom>
          <a:noFill/>
          <a:ln/>
        </p:spPr>
        <p:txBody>
          <a:bodyPr wrap="square" lIns="0" tIns="0" rIns="0" bIns="0" rtlCol="0" anchor="ctr"/>
          <a:lstStyle/>
          <a:p>
            <a:pPr marL="0" indent="0">
              <a:buNone/>
            </a:pPr>
            <a:r>
              <a:rPr lang="en-US" sz="1450" b="1" dirty="0">
                <a:solidFill>
                  <a:srgbClr val="2D2D2B"/>
                </a:solidFill>
                <a:latin typeface="Consolas" pitchFamily="34" charset="0"/>
                <a:ea typeface="Consolas" pitchFamily="34" charset="-122"/>
                <a:cs typeface="Consolas" pitchFamily="34" charset="-120"/>
              </a:rPr>
              <a:t>IDLE</a:t>
            </a:r>
            <a:endParaRPr lang="en-US" sz="1450" dirty="0"/>
          </a:p>
        </p:txBody>
      </p:sp>
      <p:sp>
        <p:nvSpPr>
          <p:cNvPr id="11" name="Text 8"/>
          <p:cNvSpPr/>
          <p:nvPr/>
        </p:nvSpPr>
        <p:spPr>
          <a:xfrm>
            <a:off x="804672" y="2441448"/>
            <a:ext cx="2240280" cy="411480"/>
          </a:xfrm>
          <a:prstGeom prst="rect">
            <a:avLst/>
          </a:prstGeom>
          <a:noFill/>
          <a:ln/>
        </p:spPr>
        <p:txBody>
          <a:bodyPr wrap="square" lIns="0" tIns="0" rIns="0" bIns="0" rtlCol="0" anchor="ctr"/>
          <a:lstStyle/>
          <a:p>
            <a:pPr marL="0" indent="0">
              <a:buNone/>
            </a:pPr>
            <a:r>
              <a:rPr lang="en-US" sz="1200" dirty="0">
                <a:solidFill>
                  <a:srgbClr val="6E6E6C"/>
                </a:solidFill>
                <a:latin typeface="Arial" pitchFamily="34" charset="0"/>
                <a:ea typeface="Arial" pitchFamily="34" charset="-122"/>
                <a:cs typeface="Arial" pitchFamily="34" charset="-120"/>
              </a:rPr>
              <a:t>waiting for a request</a:t>
            </a:r>
            <a:endParaRPr lang="en-US" sz="1200" dirty="0"/>
          </a:p>
        </p:txBody>
      </p:sp>
      <p:sp>
        <p:nvSpPr>
          <p:cNvPr id="12" name="Text 9"/>
          <p:cNvSpPr/>
          <p:nvPr/>
        </p:nvSpPr>
        <p:spPr>
          <a:xfrm>
            <a:off x="3182112" y="1783080"/>
            <a:ext cx="228600" cy="1234440"/>
          </a:xfrm>
          <a:prstGeom prst="rect">
            <a:avLst/>
          </a:prstGeom>
          <a:noFill/>
          <a:ln/>
        </p:spPr>
        <p:txBody>
          <a:bodyPr wrap="square" lIns="0" tIns="0" rIns="0" bIns="0" rtlCol="0" anchor="ctr"/>
          <a:lstStyle/>
          <a:p>
            <a:pPr marL="0" indent="0" algn="ctr">
              <a:buNone/>
            </a:pPr>
            <a:r>
              <a:rPr lang="en-US" sz="1800" b="1" dirty="0">
                <a:solidFill>
                  <a:srgbClr val="2D2D2B"/>
                </a:solidFill>
                <a:latin typeface="Arial" pitchFamily="34" charset="0"/>
                <a:ea typeface="Arial" pitchFamily="34" charset="-122"/>
                <a:cs typeface="Arial" pitchFamily="34" charset="-120"/>
              </a:rPr>
              <a:t>›</a:t>
            </a:r>
            <a:endParaRPr lang="en-US" sz="1800" dirty="0"/>
          </a:p>
        </p:txBody>
      </p:sp>
      <p:sp>
        <p:nvSpPr>
          <p:cNvPr id="13" name="Shape 10"/>
          <p:cNvSpPr/>
          <p:nvPr/>
        </p:nvSpPr>
        <p:spPr>
          <a:xfrm>
            <a:off x="3410712" y="1783080"/>
            <a:ext cx="2542032" cy="1234440"/>
          </a:xfrm>
          <a:prstGeom prst="rect">
            <a:avLst/>
          </a:prstGeom>
          <a:solidFill>
            <a:srgbClr val="F2F3F2"/>
          </a:solidFill>
          <a:ln w="12700">
            <a:solidFill>
              <a:srgbClr val="D7D7D5"/>
            </a:solidFill>
            <a:prstDash val="solid"/>
          </a:ln>
        </p:spPr>
        <p:txBody>
          <a:bodyPr/>
          <a:lstStyle/>
          <a:p>
            <a:endParaRPr lang="de-DE"/>
          </a:p>
        </p:txBody>
      </p:sp>
      <p:sp>
        <p:nvSpPr>
          <p:cNvPr id="14" name="Text 11"/>
          <p:cNvSpPr/>
          <p:nvPr/>
        </p:nvSpPr>
        <p:spPr>
          <a:xfrm>
            <a:off x="3575304" y="1965960"/>
            <a:ext cx="2240280" cy="457200"/>
          </a:xfrm>
          <a:prstGeom prst="rect">
            <a:avLst/>
          </a:prstGeom>
          <a:noFill/>
          <a:ln/>
        </p:spPr>
        <p:txBody>
          <a:bodyPr wrap="square" lIns="0" tIns="0" rIns="0" bIns="0" rtlCol="0" anchor="ctr"/>
          <a:lstStyle/>
          <a:p>
            <a:pPr marL="0" indent="0">
              <a:buNone/>
            </a:pPr>
            <a:r>
              <a:rPr lang="en-US" sz="1450" b="1" dirty="0">
                <a:solidFill>
                  <a:srgbClr val="2D2D2B"/>
                </a:solidFill>
                <a:latin typeface="Consolas" pitchFamily="34" charset="0"/>
                <a:ea typeface="Consolas" pitchFamily="34" charset="-122"/>
                <a:cs typeface="Consolas" pitchFamily="34" charset="-120"/>
              </a:rPr>
              <a:t>MOVING</a:t>
            </a:r>
            <a:endParaRPr lang="en-US" sz="1450" dirty="0"/>
          </a:p>
        </p:txBody>
      </p:sp>
      <p:sp>
        <p:nvSpPr>
          <p:cNvPr id="15" name="Text 12"/>
          <p:cNvSpPr/>
          <p:nvPr/>
        </p:nvSpPr>
        <p:spPr>
          <a:xfrm>
            <a:off x="3575304" y="2441448"/>
            <a:ext cx="2240280" cy="411480"/>
          </a:xfrm>
          <a:prstGeom prst="rect">
            <a:avLst/>
          </a:prstGeom>
          <a:noFill/>
          <a:ln/>
        </p:spPr>
        <p:txBody>
          <a:bodyPr wrap="square" lIns="0" tIns="0" rIns="0" bIns="0" rtlCol="0" anchor="ctr"/>
          <a:lstStyle/>
          <a:p>
            <a:pPr marL="0" indent="0">
              <a:buNone/>
            </a:pPr>
            <a:r>
              <a:rPr lang="en-US" sz="1200" dirty="0">
                <a:solidFill>
                  <a:srgbClr val="6E6E6C"/>
                </a:solidFill>
                <a:latin typeface="Arial" pitchFamily="34" charset="0"/>
                <a:ea typeface="Arial" pitchFamily="34" charset="-122"/>
                <a:cs typeface="Arial" pitchFamily="34" charset="-120"/>
              </a:rPr>
              <a:t>driving at V2</a:t>
            </a:r>
            <a:endParaRPr lang="en-US" sz="1200" dirty="0"/>
          </a:p>
        </p:txBody>
      </p:sp>
      <p:sp>
        <p:nvSpPr>
          <p:cNvPr id="16" name="Text 13"/>
          <p:cNvSpPr/>
          <p:nvPr/>
        </p:nvSpPr>
        <p:spPr>
          <a:xfrm>
            <a:off x="5952744" y="1783080"/>
            <a:ext cx="228600" cy="1234440"/>
          </a:xfrm>
          <a:prstGeom prst="rect">
            <a:avLst/>
          </a:prstGeom>
          <a:noFill/>
          <a:ln/>
        </p:spPr>
        <p:txBody>
          <a:bodyPr wrap="square" lIns="0" tIns="0" rIns="0" bIns="0" rtlCol="0" anchor="ctr"/>
          <a:lstStyle/>
          <a:p>
            <a:pPr marL="0" indent="0" algn="ctr">
              <a:buNone/>
            </a:pPr>
            <a:r>
              <a:rPr lang="en-US" sz="1800" b="1" dirty="0">
                <a:solidFill>
                  <a:srgbClr val="2D2D2B"/>
                </a:solidFill>
                <a:latin typeface="Arial" pitchFamily="34" charset="0"/>
                <a:ea typeface="Arial" pitchFamily="34" charset="-122"/>
                <a:cs typeface="Arial" pitchFamily="34" charset="-120"/>
              </a:rPr>
              <a:t>›</a:t>
            </a:r>
            <a:endParaRPr lang="en-US" sz="1800" dirty="0"/>
          </a:p>
        </p:txBody>
      </p:sp>
      <p:sp>
        <p:nvSpPr>
          <p:cNvPr id="17" name="Shape 14"/>
          <p:cNvSpPr/>
          <p:nvPr/>
        </p:nvSpPr>
        <p:spPr>
          <a:xfrm>
            <a:off x="6181344" y="1783080"/>
            <a:ext cx="2542032" cy="1234440"/>
          </a:xfrm>
          <a:prstGeom prst="rect">
            <a:avLst/>
          </a:prstGeom>
          <a:solidFill>
            <a:srgbClr val="F2F3F2"/>
          </a:solidFill>
          <a:ln w="12700">
            <a:solidFill>
              <a:srgbClr val="D7D7D5"/>
            </a:solidFill>
            <a:prstDash val="solid"/>
          </a:ln>
        </p:spPr>
        <p:txBody>
          <a:bodyPr/>
          <a:lstStyle/>
          <a:p>
            <a:endParaRPr lang="de-DE"/>
          </a:p>
        </p:txBody>
      </p:sp>
      <p:sp>
        <p:nvSpPr>
          <p:cNvPr id="18" name="Text 15"/>
          <p:cNvSpPr/>
          <p:nvPr/>
        </p:nvSpPr>
        <p:spPr>
          <a:xfrm>
            <a:off x="6345936" y="1965960"/>
            <a:ext cx="2240280" cy="457200"/>
          </a:xfrm>
          <a:prstGeom prst="rect">
            <a:avLst/>
          </a:prstGeom>
          <a:noFill/>
          <a:ln/>
        </p:spPr>
        <p:txBody>
          <a:bodyPr wrap="square" lIns="0" tIns="0" rIns="0" bIns="0" rtlCol="0" anchor="ctr"/>
          <a:lstStyle/>
          <a:p>
            <a:pPr marL="0" indent="0">
              <a:buNone/>
            </a:pPr>
            <a:r>
              <a:rPr lang="en-US" sz="1450" b="1" dirty="0">
                <a:solidFill>
                  <a:srgbClr val="2D2D2B"/>
                </a:solidFill>
                <a:latin typeface="Consolas" pitchFamily="34" charset="0"/>
                <a:ea typeface="Consolas" pitchFamily="34" charset="-122"/>
                <a:cs typeface="Consolas" pitchFamily="34" charset="-120"/>
              </a:rPr>
              <a:t>DECELERATING</a:t>
            </a:r>
            <a:endParaRPr lang="en-US" sz="1450" dirty="0"/>
          </a:p>
        </p:txBody>
      </p:sp>
      <p:sp>
        <p:nvSpPr>
          <p:cNvPr id="19" name="Text 16"/>
          <p:cNvSpPr/>
          <p:nvPr/>
        </p:nvSpPr>
        <p:spPr>
          <a:xfrm>
            <a:off x="6345936" y="2441448"/>
            <a:ext cx="2240280" cy="411480"/>
          </a:xfrm>
          <a:prstGeom prst="rect">
            <a:avLst/>
          </a:prstGeom>
          <a:noFill/>
          <a:ln/>
        </p:spPr>
        <p:txBody>
          <a:bodyPr wrap="square" lIns="0" tIns="0" rIns="0" bIns="0" rtlCol="0" anchor="ctr"/>
          <a:lstStyle/>
          <a:p>
            <a:pPr marL="0" indent="0">
              <a:buNone/>
            </a:pPr>
            <a:r>
              <a:rPr lang="en-US" sz="1200" dirty="0">
                <a:solidFill>
                  <a:srgbClr val="6E6E6C"/>
                </a:solidFill>
                <a:latin typeface="Arial" pitchFamily="34" charset="0"/>
                <a:ea typeface="Arial" pitchFamily="34" charset="-122"/>
                <a:cs typeface="Arial" pitchFamily="34" charset="-120"/>
              </a:rPr>
              <a:t>V1 on approach</a:t>
            </a:r>
            <a:endParaRPr lang="en-US" sz="1200" dirty="0"/>
          </a:p>
        </p:txBody>
      </p:sp>
      <p:sp>
        <p:nvSpPr>
          <p:cNvPr id="20" name="Text 17"/>
          <p:cNvSpPr/>
          <p:nvPr/>
        </p:nvSpPr>
        <p:spPr>
          <a:xfrm>
            <a:off x="8723376" y="1783080"/>
            <a:ext cx="228600" cy="1234440"/>
          </a:xfrm>
          <a:prstGeom prst="rect">
            <a:avLst/>
          </a:prstGeom>
          <a:noFill/>
          <a:ln/>
        </p:spPr>
        <p:txBody>
          <a:bodyPr wrap="square" lIns="0" tIns="0" rIns="0" bIns="0" rtlCol="0" anchor="ctr"/>
          <a:lstStyle/>
          <a:p>
            <a:pPr marL="0" indent="0" algn="ctr">
              <a:buNone/>
            </a:pPr>
            <a:r>
              <a:rPr lang="en-US" sz="1800" b="1" dirty="0">
                <a:solidFill>
                  <a:srgbClr val="2D2D2B"/>
                </a:solidFill>
                <a:latin typeface="Arial" pitchFamily="34" charset="0"/>
                <a:ea typeface="Arial" pitchFamily="34" charset="-122"/>
                <a:cs typeface="Arial" pitchFamily="34" charset="-120"/>
              </a:rPr>
              <a:t>›</a:t>
            </a:r>
            <a:endParaRPr lang="en-US" sz="1800" dirty="0"/>
          </a:p>
        </p:txBody>
      </p:sp>
      <p:sp>
        <p:nvSpPr>
          <p:cNvPr id="21" name="Shape 18"/>
          <p:cNvSpPr/>
          <p:nvPr/>
        </p:nvSpPr>
        <p:spPr>
          <a:xfrm>
            <a:off x="8951976" y="1783080"/>
            <a:ext cx="2542032" cy="1234440"/>
          </a:xfrm>
          <a:prstGeom prst="rect">
            <a:avLst/>
          </a:prstGeom>
          <a:solidFill>
            <a:srgbClr val="F2F3F2"/>
          </a:solidFill>
          <a:ln w="12700">
            <a:solidFill>
              <a:srgbClr val="D7D7D5"/>
            </a:solidFill>
            <a:prstDash val="solid"/>
          </a:ln>
        </p:spPr>
        <p:txBody>
          <a:bodyPr/>
          <a:lstStyle/>
          <a:p>
            <a:endParaRPr lang="de-DE"/>
          </a:p>
        </p:txBody>
      </p:sp>
      <p:sp>
        <p:nvSpPr>
          <p:cNvPr id="22" name="Text 19"/>
          <p:cNvSpPr/>
          <p:nvPr/>
        </p:nvSpPr>
        <p:spPr>
          <a:xfrm>
            <a:off x="9116568" y="1965960"/>
            <a:ext cx="2240280" cy="457200"/>
          </a:xfrm>
          <a:prstGeom prst="rect">
            <a:avLst/>
          </a:prstGeom>
          <a:noFill/>
          <a:ln/>
        </p:spPr>
        <p:txBody>
          <a:bodyPr wrap="square" lIns="0" tIns="0" rIns="0" bIns="0" rtlCol="0" anchor="ctr"/>
          <a:lstStyle/>
          <a:p>
            <a:pPr marL="0" indent="0">
              <a:buNone/>
            </a:pPr>
            <a:r>
              <a:rPr lang="en-US" sz="1450" b="1" dirty="0">
                <a:solidFill>
                  <a:srgbClr val="2D2D2B"/>
                </a:solidFill>
                <a:latin typeface="Consolas" pitchFamily="34" charset="0"/>
                <a:ea typeface="Consolas" pitchFamily="34" charset="-122"/>
                <a:cs typeface="Consolas" pitchFamily="34" charset="-120"/>
              </a:rPr>
              <a:t>CRAWLING</a:t>
            </a:r>
            <a:endParaRPr lang="en-US" sz="1450" dirty="0"/>
          </a:p>
        </p:txBody>
      </p:sp>
      <p:sp>
        <p:nvSpPr>
          <p:cNvPr id="23" name="Text 20"/>
          <p:cNvSpPr/>
          <p:nvPr/>
        </p:nvSpPr>
        <p:spPr>
          <a:xfrm>
            <a:off x="9116568" y="2441448"/>
            <a:ext cx="2240280" cy="411480"/>
          </a:xfrm>
          <a:prstGeom prst="rect">
            <a:avLst/>
          </a:prstGeom>
          <a:noFill/>
          <a:ln/>
        </p:spPr>
        <p:txBody>
          <a:bodyPr wrap="square" lIns="0" tIns="0" rIns="0" bIns="0" rtlCol="0" anchor="ctr"/>
          <a:lstStyle/>
          <a:p>
            <a:pPr marL="0" indent="0">
              <a:buNone/>
            </a:pPr>
            <a:r>
              <a:rPr lang="en-US" sz="1200" dirty="0">
                <a:solidFill>
                  <a:srgbClr val="6E6E6C"/>
                </a:solidFill>
                <a:latin typeface="Arial" pitchFamily="34" charset="0"/>
                <a:ea typeface="Arial" pitchFamily="34" charset="-122"/>
                <a:cs typeface="Arial" pitchFamily="34" charset="-120"/>
              </a:rPr>
              <a:t>crawl on safety</a:t>
            </a:r>
            <a:endParaRPr lang="en-US" sz="1200" dirty="0"/>
          </a:p>
        </p:txBody>
      </p:sp>
      <p:sp>
        <p:nvSpPr>
          <p:cNvPr id="24" name="Shape 21"/>
          <p:cNvSpPr/>
          <p:nvPr/>
        </p:nvSpPr>
        <p:spPr>
          <a:xfrm>
            <a:off x="640080" y="3291840"/>
            <a:ext cx="2542032" cy="1234440"/>
          </a:xfrm>
          <a:prstGeom prst="rect">
            <a:avLst/>
          </a:prstGeom>
          <a:solidFill>
            <a:srgbClr val="F2F3F2"/>
          </a:solidFill>
          <a:ln w="12700">
            <a:solidFill>
              <a:srgbClr val="D7D7D5"/>
            </a:solidFill>
            <a:prstDash val="solid"/>
          </a:ln>
        </p:spPr>
        <p:txBody>
          <a:bodyPr/>
          <a:lstStyle/>
          <a:p>
            <a:endParaRPr lang="de-DE"/>
          </a:p>
        </p:txBody>
      </p:sp>
      <p:sp>
        <p:nvSpPr>
          <p:cNvPr id="25" name="Text 22"/>
          <p:cNvSpPr/>
          <p:nvPr/>
        </p:nvSpPr>
        <p:spPr>
          <a:xfrm>
            <a:off x="804672" y="3474720"/>
            <a:ext cx="2240280" cy="457200"/>
          </a:xfrm>
          <a:prstGeom prst="rect">
            <a:avLst/>
          </a:prstGeom>
          <a:noFill/>
          <a:ln/>
        </p:spPr>
        <p:txBody>
          <a:bodyPr wrap="square" lIns="0" tIns="0" rIns="0" bIns="0" rtlCol="0" anchor="ctr"/>
          <a:lstStyle/>
          <a:p>
            <a:pPr marL="0" indent="0">
              <a:buNone/>
            </a:pPr>
            <a:r>
              <a:rPr lang="en-US" sz="1450" b="1" dirty="0">
                <a:solidFill>
                  <a:srgbClr val="2D2D2B"/>
                </a:solidFill>
                <a:latin typeface="Consolas" pitchFamily="34" charset="0"/>
                <a:ea typeface="Consolas" pitchFamily="34" charset="-122"/>
                <a:cs typeface="Consolas" pitchFamily="34" charset="-120"/>
              </a:rPr>
              <a:t>DOOR_OPENING</a:t>
            </a:r>
            <a:endParaRPr lang="en-US" sz="1450" dirty="0"/>
          </a:p>
        </p:txBody>
      </p:sp>
      <p:sp>
        <p:nvSpPr>
          <p:cNvPr id="26" name="Text 23"/>
          <p:cNvSpPr/>
          <p:nvPr/>
        </p:nvSpPr>
        <p:spPr>
          <a:xfrm>
            <a:off x="804672" y="3950208"/>
            <a:ext cx="2240280" cy="411480"/>
          </a:xfrm>
          <a:prstGeom prst="rect">
            <a:avLst/>
          </a:prstGeom>
          <a:noFill/>
          <a:ln/>
        </p:spPr>
        <p:txBody>
          <a:bodyPr wrap="square" lIns="0" tIns="0" rIns="0" bIns="0" rtlCol="0" anchor="ctr"/>
          <a:lstStyle/>
          <a:p>
            <a:pPr marL="0" indent="0">
              <a:buNone/>
            </a:pPr>
            <a:r>
              <a:rPr lang="en-US" sz="1200" dirty="0">
                <a:solidFill>
                  <a:srgbClr val="6E6E6C"/>
                </a:solidFill>
                <a:latin typeface="Arial" pitchFamily="34" charset="0"/>
                <a:ea typeface="Arial" pitchFamily="34" charset="-122"/>
                <a:cs typeface="Arial" pitchFamily="34" charset="-120"/>
              </a:rPr>
              <a:t>opening at level</a:t>
            </a:r>
            <a:endParaRPr lang="en-US" sz="1200" dirty="0"/>
          </a:p>
        </p:txBody>
      </p:sp>
      <p:sp>
        <p:nvSpPr>
          <p:cNvPr id="27" name="Text 24"/>
          <p:cNvSpPr/>
          <p:nvPr/>
        </p:nvSpPr>
        <p:spPr>
          <a:xfrm>
            <a:off x="3182112" y="3291840"/>
            <a:ext cx="228600" cy="1234440"/>
          </a:xfrm>
          <a:prstGeom prst="rect">
            <a:avLst/>
          </a:prstGeom>
          <a:noFill/>
          <a:ln/>
        </p:spPr>
        <p:txBody>
          <a:bodyPr wrap="square" lIns="0" tIns="0" rIns="0" bIns="0" rtlCol="0" anchor="ctr"/>
          <a:lstStyle/>
          <a:p>
            <a:pPr marL="0" indent="0" algn="ctr">
              <a:buNone/>
            </a:pPr>
            <a:r>
              <a:rPr lang="en-US" sz="1800" b="1" dirty="0">
                <a:solidFill>
                  <a:srgbClr val="2D2D2B"/>
                </a:solidFill>
                <a:latin typeface="Arial" pitchFamily="34" charset="0"/>
                <a:ea typeface="Arial" pitchFamily="34" charset="-122"/>
                <a:cs typeface="Arial" pitchFamily="34" charset="-120"/>
              </a:rPr>
              <a:t>›</a:t>
            </a:r>
            <a:endParaRPr lang="en-US" sz="1800" dirty="0"/>
          </a:p>
        </p:txBody>
      </p:sp>
      <p:sp>
        <p:nvSpPr>
          <p:cNvPr id="28" name="Shape 25"/>
          <p:cNvSpPr/>
          <p:nvPr/>
        </p:nvSpPr>
        <p:spPr>
          <a:xfrm>
            <a:off x="3410712" y="3291840"/>
            <a:ext cx="2542032" cy="1234440"/>
          </a:xfrm>
          <a:prstGeom prst="rect">
            <a:avLst/>
          </a:prstGeom>
          <a:solidFill>
            <a:srgbClr val="F2F3F2"/>
          </a:solidFill>
          <a:ln w="12700">
            <a:solidFill>
              <a:srgbClr val="D7D7D5"/>
            </a:solidFill>
            <a:prstDash val="solid"/>
          </a:ln>
        </p:spPr>
        <p:txBody>
          <a:bodyPr/>
          <a:lstStyle/>
          <a:p>
            <a:endParaRPr lang="de-DE"/>
          </a:p>
        </p:txBody>
      </p:sp>
      <p:sp>
        <p:nvSpPr>
          <p:cNvPr id="29" name="Text 26"/>
          <p:cNvSpPr/>
          <p:nvPr/>
        </p:nvSpPr>
        <p:spPr>
          <a:xfrm>
            <a:off x="3575304" y="3474720"/>
            <a:ext cx="2240280" cy="457200"/>
          </a:xfrm>
          <a:prstGeom prst="rect">
            <a:avLst/>
          </a:prstGeom>
          <a:noFill/>
          <a:ln/>
        </p:spPr>
        <p:txBody>
          <a:bodyPr wrap="square" lIns="0" tIns="0" rIns="0" bIns="0" rtlCol="0" anchor="ctr"/>
          <a:lstStyle/>
          <a:p>
            <a:pPr marL="0" indent="0">
              <a:buNone/>
            </a:pPr>
            <a:r>
              <a:rPr lang="en-US" sz="1450" b="1" dirty="0">
                <a:solidFill>
                  <a:srgbClr val="2D2D2B"/>
                </a:solidFill>
                <a:latin typeface="Consolas" pitchFamily="34" charset="0"/>
                <a:ea typeface="Consolas" pitchFamily="34" charset="-122"/>
                <a:cs typeface="Consolas" pitchFamily="34" charset="-120"/>
              </a:rPr>
              <a:t>DOOR_OPEN</a:t>
            </a:r>
            <a:endParaRPr lang="en-US" sz="1450" dirty="0"/>
          </a:p>
        </p:txBody>
      </p:sp>
      <p:sp>
        <p:nvSpPr>
          <p:cNvPr id="30" name="Text 27"/>
          <p:cNvSpPr/>
          <p:nvPr/>
        </p:nvSpPr>
        <p:spPr>
          <a:xfrm>
            <a:off x="3575304" y="3950208"/>
            <a:ext cx="2240280" cy="411480"/>
          </a:xfrm>
          <a:prstGeom prst="rect">
            <a:avLst/>
          </a:prstGeom>
          <a:noFill/>
          <a:ln/>
        </p:spPr>
        <p:txBody>
          <a:bodyPr wrap="square" lIns="0" tIns="0" rIns="0" bIns="0" rtlCol="0" anchor="ctr"/>
          <a:lstStyle/>
          <a:p>
            <a:pPr marL="0" indent="0">
              <a:buNone/>
            </a:pPr>
            <a:r>
              <a:rPr lang="en-US" sz="1200" dirty="0">
                <a:solidFill>
                  <a:srgbClr val="6E6E6C"/>
                </a:solidFill>
                <a:latin typeface="Arial" pitchFamily="34" charset="0"/>
                <a:ea typeface="Arial" pitchFamily="34" charset="-122"/>
                <a:cs typeface="Arial" pitchFamily="34" charset="-120"/>
              </a:rPr>
              <a:t>dwell ≥ 6 s</a:t>
            </a:r>
            <a:endParaRPr lang="en-US" sz="1200" dirty="0"/>
          </a:p>
        </p:txBody>
      </p:sp>
      <p:sp>
        <p:nvSpPr>
          <p:cNvPr id="31" name="Text 28"/>
          <p:cNvSpPr/>
          <p:nvPr/>
        </p:nvSpPr>
        <p:spPr>
          <a:xfrm>
            <a:off x="5952744" y="3291840"/>
            <a:ext cx="228600" cy="1234440"/>
          </a:xfrm>
          <a:prstGeom prst="rect">
            <a:avLst/>
          </a:prstGeom>
          <a:noFill/>
          <a:ln/>
        </p:spPr>
        <p:txBody>
          <a:bodyPr wrap="square" lIns="0" tIns="0" rIns="0" bIns="0" rtlCol="0" anchor="ctr"/>
          <a:lstStyle/>
          <a:p>
            <a:pPr marL="0" indent="0" algn="ctr">
              <a:buNone/>
            </a:pPr>
            <a:r>
              <a:rPr lang="en-US" sz="1800" b="1" dirty="0">
                <a:solidFill>
                  <a:srgbClr val="2D2D2B"/>
                </a:solidFill>
                <a:latin typeface="Arial" pitchFamily="34" charset="0"/>
                <a:ea typeface="Arial" pitchFamily="34" charset="-122"/>
                <a:cs typeface="Arial" pitchFamily="34" charset="-120"/>
              </a:rPr>
              <a:t>›</a:t>
            </a:r>
            <a:endParaRPr lang="en-US" sz="1800" dirty="0"/>
          </a:p>
        </p:txBody>
      </p:sp>
      <p:sp>
        <p:nvSpPr>
          <p:cNvPr id="32" name="Shape 29"/>
          <p:cNvSpPr/>
          <p:nvPr/>
        </p:nvSpPr>
        <p:spPr>
          <a:xfrm>
            <a:off x="6181344" y="3291840"/>
            <a:ext cx="2542032" cy="1234440"/>
          </a:xfrm>
          <a:prstGeom prst="rect">
            <a:avLst/>
          </a:prstGeom>
          <a:solidFill>
            <a:srgbClr val="F2F3F2"/>
          </a:solidFill>
          <a:ln w="12700">
            <a:solidFill>
              <a:srgbClr val="D7D7D5"/>
            </a:solidFill>
            <a:prstDash val="solid"/>
          </a:ln>
        </p:spPr>
        <p:txBody>
          <a:bodyPr/>
          <a:lstStyle/>
          <a:p>
            <a:endParaRPr lang="de-DE"/>
          </a:p>
        </p:txBody>
      </p:sp>
      <p:sp>
        <p:nvSpPr>
          <p:cNvPr id="33" name="Text 30"/>
          <p:cNvSpPr/>
          <p:nvPr/>
        </p:nvSpPr>
        <p:spPr>
          <a:xfrm>
            <a:off x="6345936" y="3474720"/>
            <a:ext cx="2240280" cy="457200"/>
          </a:xfrm>
          <a:prstGeom prst="rect">
            <a:avLst/>
          </a:prstGeom>
          <a:noFill/>
          <a:ln/>
        </p:spPr>
        <p:txBody>
          <a:bodyPr wrap="square" lIns="0" tIns="0" rIns="0" bIns="0" rtlCol="0" anchor="ctr"/>
          <a:lstStyle/>
          <a:p>
            <a:pPr marL="0" indent="0">
              <a:buNone/>
            </a:pPr>
            <a:r>
              <a:rPr lang="en-US" sz="1450" b="1" dirty="0">
                <a:solidFill>
                  <a:srgbClr val="2D2D2B"/>
                </a:solidFill>
                <a:latin typeface="Consolas" pitchFamily="34" charset="0"/>
                <a:ea typeface="Consolas" pitchFamily="34" charset="-122"/>
                <a:cs typeface="Consolas" pitchFamily="34" charset="-120"/>
              </a:rPr>
              <a:t>DOOR_CLOSING</a:t>
            </a:r>
            <a:endParaRPr lang="en-US" sz="1450" dirty="0"/>
          </a:p>
        </p:txBody>
      </p:sp>
      <p:sp>
        <p:nvSpPr>
          <p:cNvPr id="34" name="Text 31"/>
          <p:cNvSpPr/>
          <p:nvPr/>
        </p:nvSpPr>
        <p:spPr>
          <a:xfrm>
            <a:off x="6345936" y="3950208"/>
            <a:ext cx="2240280" cy="411480"/>
          </a:xfrm>
          <a:prstGeom prst="rect">
            <a:avLst/>
          </a:prstGeom>
          <a:noFill/>
          <a:ln/>
        </p:spPr>
        <p:txBody>
          <a:bodyPr wrap="square" lIns="0" tIns="0" rIns="0" bIns="0" rtlCol="0" anchor="ctr"/>
          <a:lstStyle/>
          <a:p>
            <a:pPr marL="0" indent="0">
              <a:buNone/>
            </a:pPr>
            <a:r>
              <a:rPr lang="en-US" sz="1200" dirty="0">
                <a:solidFill>
                  <a:srgbClr val="6E6E6C"/>
                </a:solidFill>
                <a:latin typeface="Arial" pitchFamily="34" charset="0"/>
                <a:ea typeface="Arial" pitchFamily="34" charset="-122"/>
                <a:cs typeface="Arial" pitchFamily="34" charset="-120"/>
              </a:rPr>
              <a:t>closing to depart</a:t>
            </a:r>
            <a:endParaRPr lang="en-US" sz="1200" dirty="0"/>
          </a:p>
        </p:txBody>
      </p:sp>
      <p:sp>
        <p:nvSpPr>
          <p:cNvPr id="35" name="Text 32"/>
          <p:cNvSpPr/>
          <p:nvPr/>
        </p:nvSpPr>
        <p:spPr>
          <a:xfrm>
            <a:off x="8723376" y="3291840"/>
            <a:ext cx="228600" cy="1234440"/>
          </a:xfrm>
          <a:prstGeom prst="rect">
            <a:avLst/>
          </a:prstGeom>
          <a:noFill/>
          <a:ln/>
        </p:spPr>
        <p:txBody>
          <a:bodyPr wrap="square" lIns="0" tIns="0" rIns="0" bIns="0" rtlCol="0" anchor="ctr"/>
          <a:lstStyle/>
          <a:p>
            <a:pPr marL="0" indent="0" algn="ctr">
              <a:buNone/>
            </a:pPr>
            <a:r>
              <a:rPr lang="en-US" sz="1800" b="1" dirty="0">
                <a:solidFill>
                  <a:srgbClr val="2D2D2B"/>
                </a:solidFill>
                <a:latin typeface="Arial" pitchFamily="34" charset="0"/>
                <a:ea typeface="Arial" pitchFamily="34" charset="-122"/>
                <a:cs typeface="Arial" pitchFamily="34" charset="-120"/>
              </a:rPr>
              <a:t>›</a:t>
            </a:r>
            <a:endParaRPr lang="en-US" sz="1800" dirty="0"/>
          </a:p>
        </p:txBody>
      </p:sp>
      <p:sp>
        <p:nvSpPr>
          <p:cNvPr id="36" name="Shape 33"/>
          <p:cNvSpPr/>
          <p:nvPr/>
        </p:nvSpPr>
        <p:spPr>
          <a:xfrm>
            <a:off x="8951976" y="3291840"/>
            <a:ext cx="2542032" cy="1234440"/>
          </a:xfrm>
          <a:prstGeom prst="rect">
            <a:avLst/>
          </a:prstGeom>
          <a:solidFill>
            <a:srgbClr val="F6ECE9"/>
          </a:solidFill>
          <a:ln w="19050">
            <a:solidFill>
              <a:srgbClr val="B23A2E"/>
            </a:solidFill>
            <a:prstDash val="solid"/>
          </a:ln>
        </p:spPr>
        <p:txBody>
          <a:bodyPr/>
          <a:lstStyle/>
          <a:p>
            <a:endParaRPr lang="de-DE"/>
          </a:p>
        </p:txBody>
      </p:sp>
      <p:sp>
        <p:nvSpPr>
          <p:cNvPr id="37" name="Text 34"/>
          <p:cNvSpPr/>
          <p:nvPr/>
        </p:nvSpPr>
        <p:spPr>
          <a:xfrm>
            <a:off x="9116568" y="3474720"/>
            <a:ext cx="2240280" cy="457200"/>
          </a:xfrm>
          <a:prstGeom prst="rect">
            <a:avLst/>
          </a:prstGeom>
          <a:noFill/>
          <a:ln/>
        </p:spPr>
        <p:txBody>
          <a:bodyPr wrap="square" lIns="0" tIns="0" rIns="0" bIns="0" rtlCol="0" anchor="ctr"/>
          <a:lstStyle/>
          <a:p>
            <a:pPr marL="0" indent="0">
              <a:buNone/>
            </a:pPr>
            <a:r>
              <a:rPr lang="en-US" sz="1450" b="1" dirty="0">
                <a:solidFill>
                  <a:srgbClr val="B23A2E"/>
                </a:solidFill>
                <a:latin typeface="Consolas" pitchFamily="34" charset="0"/>
                <a:ea typeface="Consolas" pitchFamily="34" charset="-122"/>
                <a:cs typeface="Consolas" pitchFamily="34" charset="-120"/>
              </a:rPr>
              <a:t>EMERGENCY</a:t>
            </a:r>
            <a:endParaRPr lang="en-US" sz="1450" dirty="0"/>
          </a:p>
        </p:txBody>
      </p:sp>
      <p:sp>
        <p:nvSpPr>
          <p:cNvPr id="38" name="Text 35"/>
          <p:cNvSpPr/>
          <p:nvPr/>
        </p:nvSpPr>
        <p:spPr>
          <a:xfrm>
            <a:off x="9116568" y="3950208"/>
            <a:ext cx="2240280" cy="411480"/>
          </a:xfrm>
          <a:prstGeom prst="rect">
            <a:avLst/>
          </a:prstGeom>
          <a:noFill/>
          <a:ln/>
        </p:spPr>
        <p:txBody>
          <a:bodyPr wrap="square" lIns="0" tIns="0" rIns="0" bIns="0" rtlCol="0" anchor="ctr"/>
          <a:lstStyle/>
          <a:p>
            <a:pPr marL="0" indent="0">
              <a:buNone/>
            </a:pPr>
            <a:r>
              <a:rPr lang="en-US" sz="1200" dirty="0">
                <a:solidFill>
                  <a:srgbClr val="6E6E6C"/>
                </a:solidFill>
                <a:latin typeface="Arial" pitchFamily="34" charset="0"/>
                <a:ea typeface="Arial" pitchFamily="34" charset="-122"/>
                <a:cs typeface="Arial" pitchFamily="34" charset="-120"/>
              </a:rPr>
              <a:t>stop &amp; hold</a:t>
            </a:r>
            <a:endParaRPr lang="en-US" sz="1200" dirty="0"/>
          </a:p>
        </p:txBody>
      </p:sp>
      <p:sp>
        <p:nvSpPr>
          <p:cNvPr id="39" name="Shape 36"/>
          <p:cNvSpPr/>
          <p:nvPr/>
        </p:nvSpPr>
        <p:spPr>
          <a:xfrm>
            <a:off x="640080" y="5029200"/>
            <a:ext cx="10908792" cy="1188720"/>
          </a:xfrm>
          <a:prstGeom prst="rect">
            <a:avLst/>
          </a:prstGeom>
          <a:solidFill>
            <a:srgbClr val="2D2D2B"/>
          </a:solidFill>
          <a:ln/>
        </p:spPr>
        <p:txBody>
          <a:bodyPr/>
          <a:lstStyle/>
          <a:p>
            <a:endParaRPr lang="de-DE"/>
          </a:p>
        </p:txBody>
      </p:sp>
      <p:sp>
        <p:nvSpPr>
          <p:cNvPr id="40" name="Text 37"/>
          <p:cNvSpPr/>
          <p:nvPr/>
        </p:nvSpPr>
        <p:spPr>
          <a:xfrm>
            <a:off x="914400" y="5029200"/>
            <a:ext cx="10360152" cy="1188720"/>
          </a:xfrm>
          <a:prstGeom prst="rect">
            <a:avLst/>
          </a:prstGeom>
          <a:noFill/>
          <a:ln/>
        </p:spPr>
        <p:txBody>
          <a:bodyPr wrap="square" lIns="0" tIns="0" rIns="0" bIns="0" rtlCol="0" anchor="ctr"/>
          <a:lstStyle/>
          <a:p>
            <a:pPr marL="0" indent="0">
              <a:buNone/>
            </a:pPr>
            <a:r>
              <a:rPr lang="en-US" sz="1350" b="1" dirty="0">
                <a:solidFill>
                  <a:srgbClr val="9FB9BD"/>
                </a:solidFill>
                <a:latin typeface="Arial" pitchFamily="34" charset="0"/>
                <a:ea typeface="Arial" pitchFamily="34" charset="-122"/>
                <a:cs typeface="Arial" pitchFamily="34" charset="-120"/>
              </a:rPr>
              <a:t>One cycle (~100 ms):  </a:t>
            </a:r>
            <a:r>
              <a:rPr lang="en-US" sz="1350" dirty="0">
                <a:solidFill>
                  <a:srgbClr val="DCDCDA"/>
                </a:solidFill>
                <a:latin typeface="Arial" pitchFamily="34" charset="0"/>
                <a:ea typeface="Arial" pitchFamily="34" charset="-122"/>
                <a:cs typeface="Arial" pitchFamily="34" charset="-120"/>
              </a:rPr>
              <a:t>read PLC inputs → advance the FSM → derive motor &amp; door outputs → write outputs, publish status &amp; events. EMERGENCY interrupts from any state and resumes after reset.</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40080" y="502920"/>
            <a:ext cx="9144000" cy="292608"/>
          </a:xfrm>
          <a:prstGeom prst="rect">
            <a:avLst/>
          </a:prstGeom>
          <a:noFill/>
          <a:ln/>
        </p:spPr>
        <p:txBody>
          <a:bodyPr wrap="square" lIns="0" tIns="0" rIns="0" bIns="0" rtlCol="0" anchor="ctr"/>
          <a:lstStyle/>
          <a:p>
            <a:pPr marL="0" indent="0">
              <a:buNone/>
            </a:pPr>
            <a:r>
              <a:rPr lang="en-US" sz="1200" b="1" kern="0" spc="200" dirty="0">
                <a:solidFill>
                  <a:srgbClr val="0B6E7A"/>
                </a:solidFill>
                <a:latin typeface="Arial" pitchFamily="34" charset="0"/>
                <a:ea typeface="Arial" pitchFamily="34" charset="-122"/>
                <a:cs typeface="Arial" pitchFamily="34" charset="-120"/>
              </a:rPr>
              <a:t>PART 2 · I/O MAPPING</a:t>
            </a:r>
            <a:endParaRPr lang="en-US" sz="1200" dirty="0"/>
          </a:p>
        </p:txBody>
      </p:sp>
      <p:sp>
        <p:nvSpPr>
          <p:cNvPr id="4" name="Text 2"/>
          <p:cNvSpPr/>
          <p:nvPr/>
        </p:nvSpPr>
        <p:spPr>
          <a:xfrm>
            <a:off x="640080" y="804672"/>
            <a:ext cx="10515600" cy="731520"/>
          </a:xfrm>
          <a:prstGeom prst="rect">
            <a:avLst/>
          </a:prstGeom>
          <a:noFill/>
          <a:ln/>
        </p:spPr>
        <p:txBody>
          <a:bodyPr wrap="square" lIns="0" tIns="0" rIns="0" bIns="0" rtlCol="0" anchor="ctr"/>
          <a:lstStyle/>
          <a:p>
            <a:pPr marL="0" indent="0">
              <a:buNone/>
            </a:pPr>
            <a:r>
              <a:rPr lang="en-US" sz="2800" b="1" dirty="0">
                <a:solidFill>
                  <a:srgbClr val="2D2D2B"/>
                </a:solidFill>
                <a:latin typeface="Arial" pitchFamily="34" charset="0"/>
                <a:ea typeface="Arial" pitchFamily="34" charset="-122"/>
                <a:cs typeface="Arial" pitchFamily="34" charset="-120"/>
              </a:rPr>
              <a:t>Talking to the PLC: the Modbus I/O map</a:t>
            </a:r>
            <a:endParaRPr lang="en-US" sz="2800" dirty="0"/>
          </a:p>
        </p:txBody>
      </p:sp>
      <p:sp>
        <p:nvSpPr>
          <p:cNvPr id="5" name="Shape 3"/>
          <p:cNvSpPr/>
          <p:nvPr/>
        </p:nvSpPr>
        <p:spPr>
          <a:xfrm>
            <a:off x="640080" y="6382512"/>
            <a:ext cx="10908792" cy="0"/>
          </a:xfrm>
          <a:prstGeom prst="line">
            <a:avLst/>
          </a:prstGeom>
          <a:noFill/>
          <a:ln w="9525">
            <a:solidFill>
              <a:srgbClr val="D7D7D5"/>
            </a:solidFill>
            <a:prstDash val="solid"/>
          </a:ln>
        </p:spPr>
        <p:txBody>
          <a:bodyPr/>
          <a:lstStyle/>
          <a:p>
            <a:endParaRPr lang="de-DE"/>
          </a:p>
        </p:txBody>
      </p:sp>
      <p:sp>
        <p:nvSpPr>
          <p:cNvPr id="6" name="Text 4"/>
          <p:cNvSpPr/>
          <p:nvPr/>
        </p:nvSpPr>
        <p:spPr>
          <a:xfrm>
            <a:off x="640080" y="6437376"/>
            <a:ext cx="8229600" cy="274320"/>
          </a:xfrm>
          <a:prstGeom prst="rect">
            <a:avLst/>
          </a:prstGeom>
          <a:noFill/>
          <a:ln/>
        </p:spPr>
        <p:txBody>
          <a:bodyPr wrap="square" lIns="0" tIns="0" rIns="0" bIns="0" rtlCol="0" anchor="ctr"/>
          <a:lstStyle/>
          <a:p>
            <a:pPr marL="0" indent="0">
              <a:buNone/>
            </a:pPr>
            <a:r>
              <a:rPr lang="en-US" sz="900" dirty="0">
                <a:solidFill>
                  <a:srgbClr val="6E6E6C"/>
                </a:solidFill>
                <a:latin typeface="Arial" pitchFamily="34" charset="0"/>
                <a:ea typeface="Arial" pitchFamily="34" charset="-122"/>
                <a:cs typeface="Arial" pitchFamily="34" charset="-120"/>
              </a:rPr>
              <a:t>HTWG Konstanz  ·  System Architecture  ·  Group E</a:t>
            </a:r>
            <a:endParaRPr lang="en-US" sz="900" dirty="0"/>
          </a:p>
        </p:txBody>
      </p:sp>
      <p:sp>
        <p:nvSpPr>
          <p:cNvPr id="7" name="Text 5"/>
          <p:cNvSpPr/>
          <p:nvPr/>
        </p:nvSpPr>
        <p:spPr>
          <a:xfrm>
            <a:off x="10881360" y="6437376"/>
            <a:ext cx="667512" cy="274320"/>
          </a:xfrm>
          <a:prstGeom prst="rect">
            <a:avLst/>
          </a:prstGeom>
          <a:noFill/>
          <a:ln/>
        </p:spPr>
        <p:txBody>
          <a:bodyPr wrap="square" lIns="0" tIns="0" rIns="0" bIns="0" rtlCol="0" anchor="ctr"/>
          <a:lstStyle/>
          <a:p>
            <a:pPr marL="0" indent="0" algn="r">
              <a:buNone/>
            </a:pPr>
            <a:r>
              <a:rPr lang="en-US" sz="900" dirty="0">
                <a:solidFill>
                  <a:srgbClr val="6E6E6C"/>
                </a:solidFill>
                <a:latin typeface="Arial" pitchFamily="34" charset="0"/>
                <a:ea typeface="Arial" pitchFamily="34" charset="-122"/>
                <a:cs typeface="Arial" pitchFamily="34" charset="-120"/>
              </a:rPr>
              <a:t>13</a:t>
            </a:r>
            <a:endParaRPr lang="en-US" sz="900" dirty="0"/>
          </a:p>
        </p:txBody>
      </p:sp>
      <p:sp>
        <p:nvSpPr>
          <p:cNvPr id="9" name="Text 6"/>
          <p:cNvSpPr/>
          <p:nvPr/>
        </p:nvSpPr>
        <p:spPr>
          <a:xfrm>
            <a:off x="640080" y="1536192"/>
            <a:ext cx="10972800" cy="502920"/>
          </a:xfrm>
          <a:prstGeom prst="rect">
            <a:avLst/>
          </a:prstGeom>
          <a:noFill/>
          <a:ln/>
        </p:spPr>
        <p:txBody>
          <a:bodyPr wrap="square" lIns="0" tIns="0" rIns="0" bIns="0" rtlCol="0" anchor="ctr"/>
          <a:lstStyle/>
          <a:p>
            <a:pPr marL="0" indent="0">
              <a:buNone/>
            </a:pPr>
            <a:r>
              <a:rPr lang="en-US" sz="1400" dirty="0">
                <a:solidFill>
                  <a:srgbClr val="6E6E6C"/>
                </a:solidFill>
                <a:latin typeface="Arial" pitchFamily="34" charset="0"/>
                <a:ea typeface="Arial" pitchFamily="34" charset="-122"/>
                <a:cs typeface="Arial" pitchFamily="34" charset="-120"/>
              </a:rPr>
              <a:t>Codesys symbols (%QX / %IX / %QW) map to Modbus coils, discrete inputs and registers. All addresses live in one place — ModbusIoMap.</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0080" y="2194560"/>
          <a:ext cx="5349240" cy="2377440"/>
        </p:xfrm>
        <a:graphic>
          <a:graphicData uri="http://schemas.openxmlformats.org/drawingml/2006/table">
            <a:tbl>
              <a:tblPr/>
              <a:tblGrid>
                <a:gridCol w="37033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tblGrid>
              <a:tr h="475488">
                <a:tc>
                  <a:txBody>
                    <a:bodyPr/>
                    <a:lstStyle/>
                    <a:p>
                      <a:pPr marL="0" indent="0">
                        <a:buNone/>
                      </a:pPr>
                      <a:r>
                        <a:rPr lang="en-US" sz="1300" b="1" dirty="0">
                          <a:solidFill>
                            <a:srgbClr val="FFFFFF"/>
                          </a:solidFill>
                          <a:latin typeface="Arial" pitchFamily="34" charset="0"/>
                          <a:ea typeface="Arial" pitchFamily="34" charset="-122"/>
                          <a:cs typeface="Arial" pitchFamily="34" charset="-120"/>
                        </a:rPr>
                        <a:t>Outputs we write</a:t>
                      </a:r>
                      <a:endParaRPr lang="en-US" sz="130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2D2D2B"/>
                    </a:solidFill>
                  </a:tcPr>
                </a:tc>
                <a:tc>
                  <a:txBody>
                    <a:bodyPr/>
                    <a:lstStyle/>
                    <a:p>
                      <a:pPr marL="0" indent="0">
                        <a:buNone/>
                      </a:pPr>
                      <a:r>
                        <a:rPr lang="en-US" sz="1300" b="1" dirty="0">
                          <a:solidFill>
                            <a:srgbClr val="FFFFFF"/>
                          </a:solidFill>
                          <a:latin typeface="Arial" pitchFamily="34" charset="0"/>
                          <a:ea typeface="Arial" pitchFamily="34" charset="-122"/>
                          <a:cs typeface="Arial" pitchFamily="34" charset="-120"/>
                        </a:rPr>
                        <a:t>Codesys</a:t>
                      </a:r>
                      <a:endParaRPr lang="en-US" sz="130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2D2D2B"/>
                    </a:solidFill>
                  </a:tcPr>
                </a:tc>
                <a:extLst>
                  <a:ext uri="{0D108BD9-81ED-4DB2-BD59-A6C34878D82A}">
                    <a16:rowId xmlns:a16="http://schemas.microsoft.com/office/drawing/2014/main" val="10000"/>
                  </a:ext>
                </a:extLst>
              </a:tr>
              <a:tr h="475488">
                <a:tc>
                  <a:txBody>
                    <a:bodyPr/>
                    <a:lstStyle/>
                    <a:p>
                      <a:pPr marL="0" indent="0">
                        <a:buNone/>
                      </a:pPr>
                      <a:r>
                        <a:rPr lang="en-US" sz="1250" dirty="0">
                          <a:solidFill>
                            <a:srgbClr val="333331"/>
                          </a:solidFill>
                          <a:latin typeface="Arial" pitchFamily="34" charset="0"/>
                          <a:ea typeface="Arial" pitchFamily="34" charset="-122"/>
                          <a:cs typeface="Arial" pitchFamily="34" charset="-120"/>
                        </a:rPr>
                        <a:t>Motor up / down, v1 &amp; v2</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tc>
                  <a:txBody>
                    <a:bodyPr/>
                    <a:lstStyle/>
                    <a:p>
                      <a:pPr marL="0" indent="0">
                        <a:buNone/>
                      </a:pPr>
                      <a:r>
                        <a:rPr lang="en-US" sz="1250" dirty="0">
                          <a:solidFill>
                            <a:srgbClr val="333331"/>
                          </a:solidFill>
                          <a:latin typeface="Arial" pitchFamily="34" charset="0"/>
                          <a:ea typeface="Arial" pitchFamily="34" charset="-122"/>
                          <a:cs typeface="Arial" pitchFamily="34" charset="-120"/>
                        </a:rPr>
                        <a:t>%QX1.0–1.3</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50" dirty="0">
                          <a:solidFill>
                            <a:srgbClr val="333331"/>
                          </a:solidFill>
                          <a:latin typeface="Arial" pitchFamily="34" charset="0"/>
                          <a:ea typeface="Arial" pitchFamily="34" charset="-122"/>
                          <a:cs typeface="Arial" pitchFamily="34" charset="-120"/>
                        </a:rPr>
                        <a:t>Open / close door</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tc>
                  <a:txBody>
                    <a:bodyPr/>
                    <a:lstStyle/>
                    <a:p>
                      <a:pPr marL="0" indent="0">
                        <a:buNone/>
                      </a:pPr>
                      <a:r>
                        <a:rPr lang="en-US" sz="1250" dirty="0">
                          <a:solidFill>
                            <a:srgbClr val="333331"/>
                          </a:solidFill>
                          <a:latin typeface="Arial" pitchFamily="34" charset="0"/>
                          <a:ea typeface="Arial" pitchFamily="34" charset="-122"/>
                          <a:cs typeface="Arial" pitchFamily="34" charset="-120"/>
                        </a:rPr>
                        <a:t>%QX1.4–1.5</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50" dirty="0">
                          <a:solidFill>
                            <a:srgbClr val="333331"/>
                          </a:solidFill>
                          <a:latin typeface="Arial" pitchFamily="34" charset="0"/>
                          <a:ea typeface="Arial" pitchFamily="34" charset="-122"/>
                          <a:cs typeface="Arial" pitchFamily="34" charset="-120"/>
                        </a:rPr>
                        <a:t>Crawl speed select (−5…5)</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tc>
                  <a:txBody>
                    <a:bodyPr/>
                    <a:lstStyle/>
                    <a:p>
                      <a:pPr marL="0" indent="0">
                        <a:buNone/>
                      </a:pPr>
                      <a:r>
                        <a:rPr lang="en-US" sz="1250" dirty="0">
                          <a:solidFill>
                            <a:srgbClr val="333331"/>
                          </a:solidFill>
                          <a:latin typeface="Arial" pitchFamily="34" charset="0"/>
                          <a:ea typeface="Arial" pitchFamily="34" charset="-122"/>
                          <a:cs typeface="Arial" pitchFamily="34" charset="-120"/>
                        </a:rPr>
                        <a:t>%QW1</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50" dirty="0">
                          <a:solidFill>
                            <a:srgbClr val="333331"/>
                          </a:solidFill>
                          <a:latin typeface="Arial" pitchFamily="34" charset="0"/>
                          <a:ea typeface="Arial" pitchFamily="34" charset="-122"/>
                          <a:cs typeface="Arial" pitchFamily="34" charset="-120"/>
                        </a:rPr>
                        <a:t>Reset / clear motor error</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tc>
                  <a:txBody>
                    <a:bodyPr/>
                    <a:lstStyle/>
                    <a:p>
                      <a:pPr marL="0" indent="0">
                        <a:buNone/>
                      </a:pPr>
                      <a:r>
                        <a:rPr lang="en-US" sz="1250" dirty="0">
                          <a:solidFill>
                            <a:srgbClr val="333331"/>
                          </a:solidFill>
                          <a:latin typeface="Arial" pitchFamily="34" charset="0"/>
                          <a:ea typeface="Arial" pitchFamily="34" charset="-122"/>
                          <a:cs typeface="Arial" pitchFamily="34" charset="-120"/>
                        </a:rPr>
                        <a:t>%QX0.0</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6199632" y="2194560"/>
          <a:ext cx="5349240" cy="2377440"/>
        </p:xfrm>
        <a:graphic>
          <a:graphicData uri="http://schemas.openxmlformats.org/drawingml/2006/table">
            <a:tbl>
              <a:tblPr/>
              <a:tblGrid>
                <a:gridCol w="37033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tblGrid>
              <a:tr h="475488">
                <a:tc>
                  <a:txBody>
                    <a:bodyPr/>
                    <a:lstStyle/>
                    <a:p>
                      <a:pPr marL="0" indent="0">
                        <a:buNone/>
                      </a:pPr>
                      <a:r>
                        <a:rPr lang="en-US" sz="1300" b="1" dirty="0">
                          <a:solidFill>
                            <a:srgbClr val="FFFFFF"/>
                          </a:solidFill>
                          <a:latin typeface="Arial" pitchFamily="34" charset="0"/>
                          <a:ea typeface="Arial" pitchFamily="34" charset="-122"/>
                          <a:cs typeface="Arial" pitchFamily="34" charset="-120"/>
                        </a:rPr>
                        <a:t>Inputs we read</a:t>
                      </a:r>
                      <a:endParaRPr lang="en-US" sz="130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2D2D2B"/>
                    </a:solidFill>
                  </a:tcPr>
                </a:tc>
                <a:tc>
                  <a:txBody>
                    <a:bodyPr/>
                    <a:lstStyle/>
                    <a:p>
                      <a:pPr marL="0" indent="0">
                        <a:buNone/>
                      </a:pPr>
                      <a:r>
                        <a:rPr lang="en-US" sz="1300" b="1" dirty="0">
                          <a:solidFill>
                            <a:srgbClr val="FFFFFF"/>
                          </a:solidFill>
                          <a:latin typeface="Arial" pitchFamily="34" charset="0"/>
                          <a:ea typeface="Arial" pitchFamily="34" charset="-122"/>
                          <a:cs typeface="Arial" pitchFamily="34" charset="-120"/>
                        </a:rPr>
                        <a:t>Codesys</a:t>
                      </a:r>
                      <a:endParaRPr lang="en-US" sz="130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2D2D2B"/>
                    </a:solidFill>
                  </a:tcPr>
                </a:tc>
                <a:extLst>
                  <a:ext uri="{0D108BD9-81ED-4DB2-BD59-A6C34878D82A}">
                    <a16:rowId xmlns:a16="http://schemas.microsoft.com/office/drawing/2014/main" val="10000"/>
                  </a:ext>
                </a:extLst>
              </a:tr>
              <a:tr h="475488">
                <a:tc>
                  <a:txBody>
                    <a:bodyPr/>
                    <a:lstStyle/>
                    <a:p>
                      <a:pPr marL="0" indent="0">
                        <a:buNone/>
                      </a:pPr>
                      <a:r>
                        <a:rPr lang="en-US" sz="1250" dirty="0">
                          <a:solidFill>
                            <a:srgbClr val="333331"/>
                          </a:solidFill>
                          <a:latin typeface="Arial" pitchFamily="34" charset="0"/>
                          <a:ea typeface="Arial" pitchFamily="34" charset="-122"/>
                          <a:cs typeface="Arial" pitchFamily="34" charset="-120"/>
                        </a:rPr>
                        <a:t>Level sensors al/sl/r/su/au</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tc>
                  <a:txBody>
                    <a:bodyPr/>
                    <a:lstStyle/>
                    <a:p>
                      <a:pPr marL="0" indent="0">
                        <a:buNone/>
                      </a:pPr>
                      <a:r>
                        <a:rPr lang="en-US" sz="1250" dirty="0">
                          <a:solidFill>
                            <a:srgbClr val="333331"/>
                          </a:solidFill>
                          <a:latin typeface="Arial" pitchFamily="34" charset="0"/>
                          <a:ea typeface="Arial" pitchFamily="34" charset="-122"/>
                          <a:cs typeface="Arial" pitchFamily="34" charset="-120"/>
                        </a:rPr>
                        <a:t>%IX per level</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50" dirty="0">
                          <a:solidFill>
                            <a:srgbClr val="333331"/>
                          </a:solidFill>
                          <a:latin typeface="Arial" pitchFamily="34" charset="0"/>
                          <a:ea typeface="Arial" pitchFamily="34" charset="-122"/>
                          <a:cs typeface="Arial" pitchFamily="34" charset="-120"/>
                        </a:rPr>
                        <a:t>Door opened / closed</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tc>
                  <a:txBody>
                    <a:bodyPr/>
                    <a:lstStyle/>
                    <a:p>
                      <a:pPr marL="0" indent="0">
                        <a:buNone/>
                      </a:pPr>
                      <a:r>
                        <a:rPr lang="en-US" sz="1250" dirty="0">
                          <a:solidFill>
                            <a:srgbClr val="333331"/>
                          </a:solidFill>
                          <a:latin typeface="Arial" pitchFamily="34" charset="0"/>
                          <a:ea typeface="Arial" pitchFamily="34" charset="-122"/>
                          <a:cs typeface="Arial" pitchFamily="34" charset="-120"/>
                        </a:rPr>
                        <a:t>%IX10.0–10.1</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50" dirty="0">
                          <a:solidFill>
                            <a:srgbClr val="333331"/>
                          </a:solidFill>
                          <a:latin typeface="Arial" pitchFamily="34" charset="0"/>
                          <a:ea typeface="Arial" pitchFamily="34" charset="-122"/>
                          <a:cs typeface="Arial" pitchFamily="34" charset="-120"/>
                        </a:rPr>
                        <a:t>Motor ready / on / error</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tc>
                  <a:txBody>
                    <a:bodyPr/>
                    <a:lstStyle/>
                    <a:p>
                      <a:pPr marL="0" indent="0">
                        <a:buNone/>
                      </a:pPr>
                      <a:r>
                        <a:rPr lang="en-US" sz="1250" dirty="0">
                          <a:solidFill>
                            <a:srgbClr val="333331"/>
                          </a:solidFill>
                          <a:latin typeface="Arial" pitchFamily="34" charset="0"/>
                          <a:ea typeface="Arial" pitchFamily="34" charset="-122"/>
                          <a:cs typeface="Arial" pitchFamily="34" charset="-120"/>
                        </a:rPr>
                        <a:t>%IX10.2–10.4</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50" dirty="0">
                          <a:solidFill>
                            <a:srgbClr val="333331"/>
                          </a:solidFill>
                          <a:latin typeface="Arial" pitchFamily="34" charset="0"/>
                          <a:ea typeface="Arial" pitchFamily="34" charset="-122"/>
                          <a:cs typeface="Arial" pitchFamily="34" charset="-120"/>
                        </a:rPr>
                        <a:t>Velocity (cm/s)</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tc>
                  <a:txBody>
                    <a:bodyPr/>
                    <a:lstStyle/>
                    <a:p>
                      <a:pPr marL="0" indent="0">
                        <a:buNone/>
                      </a:pPr>
                      <a:r>
                        <a:rPr lang="en-US" sz="1250" dirty="0">
                          <a:solidFill>
                            <a:srgbClr val="333331"/>
                          </a:solidFill>
                          <a:latin typeface="Arial" pitchFamily="34" charset="0"/>
                          <a:ea typeface="Arial" pitchFamily="34" charset="-122"/>
                          <a:cs typeface="Arial" pitchFamily="34" charset="-120"/>
                        </a:rPr>
                        <a:t>%IW6</a:t>
                      </a:r>
                      <a:endParaRPr lang="en-US" sz="1250" dirty="0">
                        <a:latin typeface="Arial" charset="0"/>
                        <a:ea typeface="Arial" charset="0"/>
                        <a:cs typeface="Arial" charset="0"/>
                      </a:endParaRPr>
                    </a:p>
                  </a:txBody>
                  <a:tcPr anchor="ctr">
                    <a:lnL w="12700" cap="flat" cmpd="sng" algn="ctr">
                      <a:solidFill>
                        <a:srgbClr val="D7D7D5"/>
                      </a:solidFill>
                      <a:prstDash val="solid"/>
                      <a:round/>
                      <a:headEnd type="none" w="med" len="med"/>
                      <a:tailEnd type="none" w="med" len="med"/>
                    </a:lnL>
                    <a:lnR w="12700" cap="flat" cmpd="sng" algn="ctr">
                      <a:solidFill>
                        <a:srgbClr val="D7D7D5"/>
                      </a:solidFill>
                      <a:prstDash val="solid"/>
                      <a:round/>
                      <a:headEnd type="none" w="med" len="med"/>
                      <a:tailEnd type="none" w="med" len="med"/>
                    </a:lnR>
                    <a:lnT w="12700" cap="flat" cmpd="sng" algn="ctr">
                      <a:solidFill>
                        <a:srgbClr val="D7D7D5"/>
                      </a:solidFill>
                      <a:prstDash val="solid"/>
                      <a:round/>
                      <a:headEnd type="none" w="med" len="med"/>
                      <a:tailEnd type="none" w="med" len="med"/>
                    </a:lnT>
                    <a:lnB w="12700" cap="flat" cmpd="sng" algn="ctr">
                      <a:solidFill>
                        <a:srgbClr val="D7D7D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2" name="Shape 7"/>
          <p:cNvSpPr/>
          <p:nvPr/>
        </p:nvSpPr>
        <p:spPr>
          <a:xfrm>
            <a:off x="640080" y="4983480"/>
            <a:ext cx="10908792" cy="1234440"/>
          </a:xfrm>
          <a:prstGeom prst="rect">
            <a:avLst/>
          </a:prstGeom>
          <a:solidFill>
            <a:srgbClr val="F6ECE9"/>
          </a:solidFill>
          <a:ln w="12700">
            <a:solidFill>
              <a:srgbClr val="B23A2E"/>
            </a:solidFill>
            <a:prstDash val="solid"/>
          </a:ln>
        </p:spPr>
        <p:txBody>
          <a:bodyPr/>
          <a:lstStyle/>
          <a:p>
            <a:endParaRPr lang="de-DE"/>
          </a:p>
        </p:txBody>
      </p:sp>
      <p:sp>
        <p:nvSpPr>
          <p:cNvPr id="13" name="Text 8"/>
          <p:cNvSpPr/>
          <p:nvPr/>
        </p:nvSpPr>
        <p:spPr>
          <a:xfrm>
            <a:off x="914400" y="4983480"/>
            <a:ext cx="10360152" cy="1234440"/>
          </a:xfrm>
          <a:prstGeom prst="rect">
            <a:avLst/>
          </a:prstGeom>
          <a:noFill/>
          <a:ln/>
        </p:spPr>
        <p:txBody>
          <a:bodyPr wrap="square" lIns="0" tIns="0" rIns="0" bIns="0" rtlCol="0" anchor="ctr"/>
          <a:lstStyle/>
          <a:p>
            <a:pPr marL="0" indent="0">
              <a:buNone/>
            </a:pPr>
            <a:r>
              <a:rPr lang="en-US" sz="1350" b="1" dirty="0">
                <a:solidFill>
                  <a:srgbClr val="B23A2E"/>
                </a:solidFill>
                <a:latin typeface="Arial" pitchFamily="34" charset="0"/>
                <a:ea typeface="Arial" pitchFamily="34" charset="-122"/>
                <a:cs typeface="Arial" pitchFamily="34" charset="-120"/>
              </a:rPr>
              <a:t>Status — Modbus not yet wired:  </a:t>
            </a:r>
            <a:r>
              <a:rPr lang="en-US" sz="1350" dirty="0">
                <a:solidFill>
                  <a:srgbClr val="333331"/>
                </a:solidFill>
                <a:latin typeface="Arial" pitchFamily="34" charset="0"/>
                <a:ea typeface="Arial" pitchFamily="34" charset="-122"/>
                <a:cs typeface="Arial" pitchFamily="34" charset="-120"/>
              </a:rPr>
              <a:t>the controller compiles against a thin ModbusConnection port; the in-memory simulation is the runnable path today. Concrete addresses still need confirming against the live lab slave.</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40080" y="502920"/>
            <a:ext cx="9144000" cy="292608"/>
          </a:xfrm>
          <a:prstGeom prst="rect">
            <a:avLst/>
          </a:prstGeom>
          <a:noFill/>
          <a:ln/>
        </p:spPr>
        <p:txBody>
          <a:bodyPr wrap="square" lIns="0" tIns="0" rIns="0" bIns="0" rtlCol="0" anchor="ctr"/>
          <a:lstStyle/>
          <a:p>
            <a:pPr marL="0" indent="0">
              <a:buNone/>
            </a:pPr>
            <a:r>
              <a:rPr lang="en-US" sz="1200" b="1" kern="0" spc="200" dirty="0">
                <a:solidFill>
                  <a:srgbClr val="0B6E7A"/>
                </a:solidFill>
                <a:latin typeface="Arial" pitchFamily="34" charset="0"/>
                <a:ea typeface="Arial" pitchFamily="34" charset="-122"/>
                <a:cs typeface="Arial" pitchFamily="34" charset="-120"/>
              </a:rPr>
              <a:t>PART 2 · DEPLOYMENT</a:t>
            </a:r>
            <a:endParaRPr lang="en-US" sz="1200" dirty="0"/>
          </a:p>
        </p:txBody>
      </p:sp>
      <p:sp>
        <p:nvSpPr>
          <p:cNvPr id="4" name="Text 2"/>
          <p:cNvSpPr/>
          <p:nvPr/>
        </p:nvSpPr>
        <p:spPr>
          <a:xfrm>
            <a:off x="640080" y="804672"/>
            <a:ext cx="10515600" cy="731520"/>
          </a:xfrm>
          <a:prstGeom prst="rect">
            <a:avLst/>
          </a:prstGeom>
          <a:noFill/>
          <a:ln/>
        </p:spPr>
        <p:txBody>
          <a:bodyPr wrap="square" lIns="0" tIns="0" rIns="0" bIns="0" rtlCol="0" anchor="ctr"/>
          <a:lstStyle/>
          <a:p>
            <a:pPr marL="0" indent="0">
              <a:buNone/>
            </a:pPr>
            <a:r>
              <a:rPr lang="en-US" sz="2800" b="1" dirty="0">
                <a:solidFill>
                  <a:srgbClr val="2D2D2B"/>
                </a:solidFill>
                <a:latin typeface="Arial" pitchFamily="34" charset="0"/>
                <a:ea typeface="Arial" pitchFamily="34" charset="-122"/>
                <a:cs typeface="Arial" pitchFamily="34" charset="-120"/>
              </a:rPr>
              <a:t>Shipping to the lab server (ea-pc165)</a:t>
            </a:r>
            <a:endParaRPr lang="en-US" sz="2800" dirty="0"/>
          </a:p>
        </p:txBody>
      </p:sp>
      <p:sp>
        <p:nvSpPr>
          <p:cNvPr id="5" name="Shape 3"/>
          <p:cNvSpPr/>
          <p:nvPr/>
        </p:nvSpPr>
        <p:spPr>
          <a:xfrm>
            <a:off x="640080" y="6382512"/>
            <a:ext cx="10908792" cy="0"/>
          </a:xfrm>
          <a:prstGeom prst="line">
            <a:avLst/>
          </a:prstGeom>
          <a:noFill/>
          <a:ln w="9525">
            <a:solidFill>
              <a:srgbClr val="D7D7D5"/>
            </a:solidFill>
            <a:prstDash val="solid"/>
          </a:ln>
        </p:spPr>
        <p:txBody>
          <a:bodyPr/>
          <a:lstStyle/>
          <a:p>
            <a:endParaRPr lang="de-DE"/>
          </a:p>
        </p:txBody>
      </p:sp>
      <p:sp>
        <p:nvSpPr>
          <p:cNvPr id="6" name="Text 4"/>
          <p:cNvSpPr/>
          <p:nvPr/>
        </p:nvSpPr>
        <p:spPr>
          <a:xfrm>
            <a:off x="640080" y="6437376"/>
            <a:ext cx="8229600" cy="274320"/>
          </a:xfrm>
          <a:prstGeom prst="rect">
            <a:avLst/>
          </a:prstGeom>
          <a:noFill/>
          <a:ln/>
        </p:spPr>
        <p:txBody>
          <a:bodyPr wrap="square" lIns="0" tIns="0" rIns="0" bIns="0" rtlCol="0" anchor="ctr"/>
          <a:lstStyle/>
          <a:p>
            <a:pPr marL="0" indent="0">
              <a:buNone/>
            </a:pPr>
            <a:r>
              <a:rPr lang="en-US" sz="900" dirty="0">
                <a:solidFill>
                  <a:srgbClr val="6E6E6C"/>
                </a:solidFill>
                <a:latin typeface="Arial" pitchFamily="34" charset="0"/>
                <a:ea typeface="Arial" pitchFamily="34" charset="-122"/>
                <a:cs typeface="Arial" pitchFamily="34" charset="-120"/>
              </a:rPr>
              <a:t>HTWG Konstanz  ·  System Architecture  ·  Group E</a:t>
            </a:r>
            <a:endParaRPr lang="en-US" sz="900" dirty="0"/>
          </a:p>
        </p:txBody>
      </p:sp>
      <p:sp>
        <p:nvSpPr>
          <p:cNvPr id="7" name="Text 5"/>
          <p:cNvSpPr/>
          <p:nvPr/>
        </p:nvSpPr>
        <p:spPr>
          <a:xfrm>
            <a:off x="10881360" y="6437376"/>
            <a:ext cx="667512" cy="274320"/>
          </a:xfrm>
          <a:prstGeom prst="rect">
            <a:avLst/>
          </a:prstGeom>
          <a:noFill/>
          <a:ln/>
        </p:spPr>
        <p:txBody>
          <a:bodyPr wrap="square" lIns="0" tIns="0" rIns="0" bIns="0" rtlCol="0" anchor="ctr"/>
          <a:lstStyle/>
          <a:p>
            <a:pPr marL="0" indent="0" algn="r">
              <a:buNone/>
            </a:pPr>
            <a:r>
              <a:rPr lang="en-US" sz="900" dirty="0">
                <a:solidFill>
                  <a:srgbClr val="6E6E6C"/>
                </a:solidFill>
                <a:latin typeface="Arial" pitchFamily="34" charset="0"/>
                <a:ea typeface="Arial" pitchFamily="34" charset="-122"/>
                <a:cs typeface="Arial" pitchFamily="34" charset="-120"/>
              </a:rPr>
              <a:t>14</a:t>
            </a:r>
            <a:endParaRPr lang="en-US" sz="900" dirty="0"/>
          </a:p>
        </p:txBody>
      </p:sp>
      <p:sp>
        <p:nvSpPr>
          <p:cNvPr id="9" name="Shape 6"/>
          <p:cNvSpPr/>
          <p:nvPr/>
        </p:nvSpPr>
        <p:spPr>
          <a:xfrm>
            <a:off x="640080" y="1737360"/>
            <a:ext cx="3044952" cy="1691640"/>
          </a:xfrm>
          <a:prstGeom prst="rect">
            <a:avLst/>
          </a:prstGeom>
          <a:solidFill>
            <a:srgbClr val="F2F3F2"/>
          </a:solidFill>
          <a:ln w="12700">
            <a:solidFill>
              <a:srgbClr val="D7D7D5"/>
            </a:solidFill>
            <a:prstDash val="solid"/>
          </a:ln>
        </p:spPr>
        <p:txBody>
          <a:bodyPr/>
          <a:lstStyle/>
          <a:p>
            <a:endParaRPr lang="de-DE"/>
          </a:p>
        </p:txBody>
      </p:sp>
      <p:sp>
        <p:nvSpPr>
          <p:cNvPr id="10" name="Text 7"/>
          <p:cNvSpPr/>
          <p:nvPr/>
        </p:nvSpPr>
        <p:spPr>
          <a:xfrm>
            <a:off x="822960" y="1901952"/>
            <a:ext cx="2697480" cy="411480"/>
          </a:xfrm>
          <a:prstGeom prst="rect">
            <a:avLst/>
          </a:prstGeom>
          <a:noFill/>
          <a:ln/>
        </p:spPr>
        <p:txBody>
          <a:bodyPr wrap="square" lIns="0" tIns="0" rIns="0" bIns="0" rtlCol="0" anchor="ctr"/>
          <a:lstStyle/>
          <a:p>
            <a:pPr marL="0" indent="0">
              <a:buNone/>
            </a:pPr>
            <a:r>
              <a:rPr lang="en-US" sz="1500" b="1" dirty="0">
                <a:solidFill>
                  <a:srgbClr val="2D2D2B"/>
                </a:solidFill>
                <a:latin typeface="Arial" pitchFamily="34" charset="0"/>
                <a:ea typeface="Arial" pitchFamily="34" charset="-122"/>
                <a:cs typeface="Arial" pitchFamily="34" charset="-120"/>
              </a:rPr>
              <a:t>Laptop</a:t>
            </a:r>
            <a:endParaRPr lang="en-US" sz="1500" dirty="0"/>
          </a:p>
        </p:txBody>
      </p:sp>
      <p:sp>
        <p:nvSpPr>
          <p:cNvPr id="11" name="Text 8"/>
          <p:cNvSpPr/>
          <p:nvPr/>
        </p:nvSpPr>
        <p:spPr>
          <a:xfrm>
            <a:off x="822960" y="2340864"/>
            <a:ext cx="2697480" cy="411480"/>
          </a:xfrm>
          <a:prstGeom prst="rect">
            <a:avLst/>
          </a:prstGeom>
          <a:noFill/>
          <a:ln/>
        </p:spPr>
        <p:txBody>
          <a:bodyPr wrap="square" lIns="0" tIns="0" rIns="0" bIns="0" rtlCol="0" anchor="ctr"/>
          <a:lstStyle/>
          <a:p>
            <a:pPr marL="0" indent="0">
              <a:buNone/>
            </a:pPr>
            <a:r>
              <a:rPr lang="en-US" sz="1300" dirty="0">
                <a:solidFill>
                  <a:srgbClr val="333331"/>
                </a:solidFill>
                <a:latin typeface="Arial" pitchFamily="34" charset="0"/>
                <a:ea typeface="Arial" pitchFamily="34" charset="-122"/>
                <a:cs typeface="Arial" pitchFamily="34" charset="-120"/>
              </a:rPr>
              <a:t>Swing HMI</a:t>
            </a:r>
            <a:endParaRPr lang="en-US" sz="1300" dirty="0"/>
          </a:p>
        </p:txBody>
      </p:sp>
      <p:sp>
        <p:nvSpPr>
          <p:cNvPr id="12" name="Text 9"/>
          <p:cNvSpPr/>
          <p:nvPr/>
        </p:nvSpPr>
        <p:spPr>
          <a:xfrm>
            <a:off x="822960" y="2779776"/>
            <a:ext cx="2697480" cy="548640"/>
          </a:xfrm>
          <a:prstGeom prst="rect">
            <a:avLst/>
          </a:prstGeom>
          <a:noFill/>
          <a:ln/>
        </p:spPr>
        <p:txBody>
          <a:bodyPr wrap="square" lIns="0" tIns="0" rIns="0" bIns="0" rtlCol="0" anchor="ctr"/>
          <a:lstStyle/>
          <a:p>
            <a:pPr marL="0" indent="0">
              <a:buNone/>
            </a:pPr>
            <a:r>
              <a:rPr lang="en-US" sz="1050" dirty="0">
                <a:solidFill>
                  <a:srgbClr val="6E6E6C"/>
                </a:solidFill>
                <a:latin typeface="Consolas" pitchFamily="34" charset="0"/>
                <a:ea typeface="Consolas" pitchFamily="34" charset="-122"/>
                <a:cs typeface="Consolas" pitchFamily="34" charset="-120"/>
              </a:rPr>
              <a:t>MQTT → broker</a:t>
            </a:r>
            <a:endParaRPr lang="en-US" sz="1050" dirty="0"/>
          </a:p>
        </p:txBody>
      </p:sp>
      <p:sp>
        <p:nvSpPr>
          <p:cNvPr id="13" name="Text 10"/>
          <p:cNvSpPr/>
          <p:nvPr/>
        </p:nvSpPr>
        <p:spPr>
          <a:xfrm>
            <a:off x="3685032" y="1737360"/>
            <a:ext cx="612648" cy="1691640"/>
          </a:xfrm>
          <a:prstGeom prst="rect">
            <a:avLst/>
          </a:prstGeom>
          <a:noFill/>
          <a:ln/>
        </p:spPr>
        <p:txBody>
          <a:bodyPr wrap="square" lIns="0" tIns="0" rIns="0" bIns="0" rtlCol="0" anchor="ctr"/>
          <a:lstStyle/>
          <a:p>
            <a:pPr marL="0" indent="0" algn="ctr">
              <a:buNone/>
            </a:pPr>
            <a:r>
              <a:rPr lang="en-US" sz="1800" b="1" dirty="0">
                <a:solidFill>
                  <a:srgbClr val="2D2D2B"/>
                </a:solidFill>
                <a:latin typeface="Arial" pitchFamily="34" charset="0"/>
                <a:ea typeface="Arial" pitchFamily="34" charset="-122"/>
                <a:cs typeface="Arial" pitchFamily="34" charset="-120"/>
              </a:rPr>
              <a:t>‹ ›</a:t>
            </a:r>
            <a:endParaRPr lang="en-US" sz="1800" dirty="0"/>
          </a:p>
        </p:txBody>
      </p:sp>
      <p:sp>
        <p:nvSpPr>
          <p:cNvPr id="14" name="Shape 11"/>
          <p:cNvSpPr/>
          <p:nvPr/>
        </p:nvSpPr>
        <p:spPr>
          <a:xfrm>
            <a:off x="4572000" y="1737360"/>
            <a:ext cx="3044952" cy="1691640"/>
          </a:xfrm>
          <a:prstGeom prst="rect">
            <a:avLst/>
          </a:prstGeom>
          <a:solidFill>
            <a:srgbClr val="F2F3F2"/>
          </a:solidFill>
          <a:ln w="19050">
            <a:solidFill>
              <a:srgbClr val="0B6E7A"/>
            </a:solidFill>
            <a:prstDash val="solid"/>
          </a:ln>
        </p:spPr>
        <p:txBody>
          <a:bodyPr/>
          <a:lstStyle/>
          <a:p>
            <a:endParaRPr lang="de-DE"/>
          </a:p>
        </p:txBody>
      </p:sp>
      <p:sp>
        <p:nvSpPr>
          <p:cNvPr id="15" name="Text 12"/>
          <p:cNvSpPr/>
          <p:nvPr/>
        </p:nvSpPr>
        <p:spPr>
          <a:xfrm>
            <a:off x="4754880" y="1901952"/>
            <a:ext cx="2697480" cy="411480"/>
          </a:xfrm>
          <a:prstGeom prst="rect">
            <a:avLst/>
          </a:prstGeom>
          <a:noFill/>
          <a:ln/>
        </p:spPr>
        <p:txBody>
          <a:bodyPr wrap="square" lIns="0" tIns="0" rIns="0" bIns="0" rtlCol="0" anchor="ctr"/>
          <a:lstStyle/>
          <a:p>
            <a:pPr marL="0" indent="0">
              <a:buNone/>
            </a:pPr>
            <a:r>
              <a:rPr lang="en-US" sz="1500" b="1" dirty="0">
                <a:solidFill>
                  <a:srgbClr val="2D2D2B"/>
                </a:solidFill>
                <a:latin typeface="Arial" pitchFamily="34" charset="0"/>
                <a:ea typeface="Arial" pitchFamily="34" charset="-122"/>
                <a:cs typeface="Arial" pitchFamily="34" charset="-120"/>
              </a:rPr>
              <a:t>ea-pc165 (server)</a:t>
            </a:r>
            <a:endParaRPr lang="en-US" sz="1500" dirty="0"/>
          </a:p>
        </p:txBody>
      </p:sp>
      <p:sp>
        <p:nvSpPr>
          <p:cNvPr id="16" name="Text 13"/>
          <p:cNvSpPr/>
          <p:nvPr/>
        </p:nvSpPr>
        <p:spPr>
          <a:xfrm>
            <a:off x="4754880" y="2340864"/>
            <a:ext cx="2697480" cy="411480"/>
          </a:xfrm>
          <a:prstGeom prst="rect">
            <a:avLst/>
          </a:prstGeom>
          <a:noFill/>
          <a:ln/>
        </p:spPr>
        <p:txBody>
          <a:bodyPr wrap="square" lIns="0" tIns="0" rIns="0" bIns="0" rtlCol="0" anchor="ctr"/>
          <a:lstStyle/>
          <a:p>
            <a:pPr marL="0" indent="0">
              <a:buNone/>
            </a:pPr>
            <a:r>
              <a:rPr lang="en-US" sz="1300" dirty="0">
                <a:solidFill>
                  <a:srgbClr val="333331"/>
                </a:solidFill>
                <a:latin typeface="Arial" pitchFamily="34" charset="0"/>
                <a:ea typeface="Arial" pitchFamily="34" charset="-122"/>
                <a:cs typeface="Arial" pitchFamily="34" charset="-120"/>
              </a:rPr>
              <a:t>broker + control jar</a:t>
            </a:r>
            <a:endParaRPr lang="en-US" sz="1300" dirty="0"/>
          </a:p>
        </p:txBody>
      </p:sp>
      <p:sp>
        <p:nvSpPr>
          <p:cNvPr id="17" name="Text 14"/>
          <p:cNvSpPr/>
          <p:nvPr/>
        </p:nvSpPr>
        <p:spPr>
          <a:xfrm>
            <a:off x="4754880" y="2779776"/>
            <a:ext cx="2697480" cy="548640"/>
          </a:xfrm>
          <a:prstGeom prst="rect">
            <a:avLst/>
          </a:prstGeom>
          <a:noFill/>
          <a:ln/>
        </p:spPr>
        <p:txBody>
          <a:bodyPr wrap="square" lIns="0" tIns="0" rIns="0" bIns="0" rtlCol="0" anchor="ctr"/>
          <a:lstStyle/>
          <a:p>
            <a:pPr marL="0" indent="0">
              <a:buNone/>
            </a:pPr>
            <a:r>
              <a:rPr lang="en-US" sz="1050" dirty="0">
                <a:solidFill>
                  <a:srgbClr val="6E6E6C"/>
                </a:solidFill>
                <a:latin typeface="Consolas" pitchFamily="34" charset="0"/>
                <a:ea typeface="Consolas" pitchFamily="34" charset="-122"/>
                <a:cs typeface="Consolas" pitchFamily="34" charset="-120"/>
              </a:rPr>
              <a:t>control → localhost:1883</a:t>
            </a:r>
            <a:endParaRPr lang="en-US" sz="1050" dirty="0"/>
          </a:p>
        </p:txBody>
      </p:sp>
      <p:sp>
        <p:nvSpPr>
          <p:cNvPr id="18" name="Text 15"/>
          <p:cNvSpPr/>
          <p:nvPr/>
        </p:nvSpPr>
        <p:spPr>
          <a:xfrm>
            <a:off x="7616952" y="1737360"/>
            <a:ext cx="612648" cy="1691640"/>
          </a:xfrm>
          <a:prstGeom prst="rect">
            <a:avLst/>
          </a:prstGeom>
          <a:noFill/>
          <a:ln/>
        </p:spPr>
        <p:txBody>
          <a:bodyPr wrap="square" lIns="0" tIns="0" rIns="0" bIns="0" rtlCol="0" anchor="ctr"/>
          <a:lstStyle/>
          <a:p>
            <a:pPr marL="0" indent="0" algn="ctr">
              <a:buNone/>
            </a:pPr>
            <a:r>
              <a:rPr lang="en-US" sz="1800" b="1" dirty="0">
                <a:solidFill>
                  <a:srgbClr val="2D2D2B"/>
                </a:solidFill>
                <a:latin typeface="Arial" pitchFamily="34" charset="0"/>
                <a:ea typeface="Arial" pitchFamily="34" charset="-122"/>
                <a:cs typeface="Arial" pitchFamily="34" charset="-120"/>
              </a:rPr>
              <a:t>‹ ›</a:t>
            </a:r>
            <a:endParaRPr lang="en-US" sz="1800" dirty="0"/>
          </a:p>
        </p:txBody>
      </p:sp>
      <p:sp>
        <p:nvSpPr>
          <p:cNvPr id="19" name="Shape 16"/>
          <p:cNvSpPr/>
          <p:nvPr/>
        </p:nvSpPr>
        <p:spPr>
          <a:xfrm>
            <a:off x="8503920" y="1737360"/>
            <a:ext cx="3044952" cy="1691640"/>
          </a:xfrm>
          <a:prstGeom prst="rect">
            <a:avLst/>
          </a:prstGeom>
          <a:solidFill>
            <a:srgbClr val="F2F3F2"/>
          </a:solidFill>
          <a:ln w="12700">
            <a:solidFill>
              <a:srgbClr val="D7D7D5"/>
            </a:solidFill>
            <a:prstDash val="solid"/>
          </a:ln>
        </p:spPr>
        <p:txBody>
          <a:bodyPr/>
          <a:lstStyle/>
          <a:p>
            <a:endParaRPr lang="de-DE"/>
          </a:p>
        </p:txBody>
      </p:sp>
      <p:sp>
        <p:nvSpPr>
          <p:cNvPr id="20" name="Text 17"/>
          <p:cNvSpPr/>
          <p:nvPr/>
        </p:nvSpPr>
        <p:spPr>
          <a:xfrm>
            <a:off x="8686800" y="1901952"/>
            <a:ext cx="2697480" cy="411480"/>
          </a:xfrm>
          <a:prstGeom prst="rect">
            <a:avLst/>
          </a:prstGeom>
          <a:noFill/>
          <a:ln/>
        </p:spPr>
        <p:txBody>
          <a:bodyPr wrap="square" lIns="0" tIns="0" rIns="0" bIns="0" rtlCol="0" anchor="ctr"/>
          <a:lstStyle/>
          <a:p>
            <a:pPr marL="0" indent="0">
              <a:buNone/>
            </a:pPr>
            <a:r>
              <a:rPr lang="en-US" sz="1500" b="1" dirty="0">
                <a:solidFill>
                  <a:srgbClr val="2D2D2B"/>
                </a:solidFill>
                <a:latin typeface="Arial" pitchFamily="34" charset="0"/>
                <a:ea typeface="Arial" pitchFamily="34" charset="-122"/>
                <a:cs typeface="Arial" pitchFamily="34" charset="-120"/>
              </a:rPr>
              <a:t>ea-pc111 (PLC)</a:t>
            </a:r>
            <a:endParaRPr lang="en-US" sz="1500" dirty="0"/>
          </a:p>
        </p:txBody>
      </p:sp>
      <p:sp>
        <p:nvSpPr>
          <p:cNvPr id="21" name="Text 18"/>
          <p:cNvSpPr/>
          <p:nvPr/>
        </p:nvSpPr>
        <p:spPr>
          <a:xfrm>
            <a:off x="8686800" y="2340864"/>
            <a:ext cx="2697480" cy="411480"/>
          </a:xfrm>
          <a:prstGeom prst="rect">
            <a:avLst/>
          </a:prstGeom>
          <a:noFill/>
          <a:ln/>
        </p:spPr>
        <p:txBody>
          <a:bodyPr wrap="square" lIns="0" tIns="0" rIns="0" bIns="0" rtlCol="0" anchor="ctr"/>
          <a:lstStyle/>
          <a:p>
            <a:pPr marL="0" indent="0">
              <a:buNone/>
            </a:pPr>
            <a:r>
              <a:rPr lang="en-US" sz="1300" dirty="0">
                <a:solidFill>
                  <a:srgbClr val="333331"/>
                </a:solidFill>
                <a:latin typeface="Arial" pitchFamily="34" charset="0"/>
                <a:ea typeface="Arial" pitchFamily="34" charset="-122"/>
                <a:cs typeface="Arial" pitchFamily="34" charset="-120"/>
              </a:rPr>
              <a:t>elevator simulation</a:t>
            </a:r>
            <a:endParaRPr lang="en-US" sz="1300" dirty="0"/>
          </a:p>
        </p:txBody>
      </p:sp>
      <p:sp>
        <p:nvSpPr>
          <p:cNvPr id="22" name="Text 19"/>
          <p:cNvSpPr/>
          <p:nvPr/>
        </p:nvSpPr>
        <p:spPr>
          <a:xfrm>
            <a:off x="8686800" y="2779776"/>
            <a:ext cx="2697480" cy="548640"/>
          </a:xfrm>
          <a:prstGeom prst="rect">
            <a:avLst/>
          </a:prstGeom>
          <a:noFill/>
          <a:ln/>
        </p:spPr>
        <p:txBody>
          <a:bodyPr wrap="square" lIns="0" tIns="0" rIns="0" bIns="0" rtlCol="0" anchor="ctr"/>
          <a:lstStyle/>
          <a:p>
            <a:pPr marL="0" indent="0">
              <a:buNone/>
            </a:pPr>
            <a:r>
              <a:rPr lang="en-US" sz="1050" dirty="0">
                <a:solidFill>
                  <a:srgbClr val="6E6E6C"/>
                </a:solidFill>
                <a:latin typeface="Consolas" pitchFamily="34" charset="0"/>
                <a:ea typeface="Consolas" pitchFamily="34" charset="-122"/>
                <a:cs typeface="Consolas" pitchFamily="34" charset="-120"/>
              </a:rPr>
              <a:t>control → Modbus :506</a:t>
            </a:r>
            <a:endParaRPr lang="en-US" sz="1050" dirty="0"/>
          </a:p>
        </p:txBody>
      </p:sp>
      <p:sp>
        <p:nvSpPr>
          <p:cNvPr id="23" name="Shape 20"/>
          <p:cNvSpPr/>
          <p:nvPr/>
        </p:nvSpPr>
        <p:spPr>
          <a:xfrm>
            <a:off x="640080" y="3749040"/>
            <a:ext cx="10908792" cy="1325880"/>
          </a:xfrm>
          <a:prstGeom prst="rect">
            <a:avLst/>
          </a:prstGeom>
          <a:solidFill>
            <a:srgbClr val="F2F3F2"/>
          </a:solidFill>
          <a:ln w="12700">
            <a:solidFill>
              <a:srgbClr val="D7D7D5"/>
            </a:solidFill>
            <a:prstDash val="solid"/>
          </a:ln>
        </p:spPr>
        <p:txBody>
          <a:bodyPr/>
          <a:lstStyle/>
          <a:p>
            <a:endParaRPr lang="de-DE"/>
          </a:p>
        </p:txBody>
      </p:sp>
      <p:sp>
        <p:nvSpPr>
          <p:cNvPr id="24" name="Text 21"/>
          <p:cNvSpPr/>
          <p:nvPr/>
        </p:nvSpPr>
        <p:spPr>
          <a:xfrm>
            <a:off x="914400" y="3858768"/>
            <a:ext cx="7315200" cy="365760"/>
          </a:xfrm>
          <a:prstGeom prst="rect">
            <a:avLst/>
          </a:prstGeom>
          <a:noFill/>
          <a:ln/>
        </p:spPr>
        <p:txBody>
          <a:bodyPr wrap="square" lIns="0" tIns="0" rIns="0" bIns="0" rtlCol="0" anchor="ctr"/>
          <a:lstStyle/>
          <a:p>
            <a:pPr marL="0" indent="0">
              <a:buNone/>
            </a:pPr>
            <a:r>
              <a:rPr lang="en-US" sz="1400" b="1" dirty="0">
                <a:solidFill>
                  <a:srgbClr val="2D2D2B"/>
                </a:solidFill>
                <a:latin typeface="Arial" pitchFamily="34" charset="0"/>
                <a:ea typeface="Arial" pitchFamily="34" charset="-122"/>
                <a:cs typeface="Arial" pitchFamily="34" charset="-120"/>
              </a:rPr>
              <a:t>Build → copy → run  (deploy-control.ps1)</a:t>
            </a:r>
            <a:endParaRPr lang="en-US" sz="1400" dirty="0"/>
          </a:p>
        </p:txBody>
      </p:sp>
      <p:sp>
        <p:nvSpPr>
          <p:cNvPr id="25" name="Text 22"/>
          <p:cNvSpPr/>
          <p:nvPr/>
        </p:nvSpPr>
        <p:spPr>
          <a:xfrm>
            <a:off x="914400" y="4297680"/>
            <a:ext cx="365760" cy="457200"/>
          </a:xfrm>
          <a:prstGeom prst="rect">
            <a:avLst/>
          </a:prstGeom>
          <a:noFill/>
          <a:ln/>
        </p:spPr>
        <p:txBody>
          <a:bodyPr wrap="square" lIns="0" tIns="0" rIns="0" bIns="0" rtlCol="0" anchor="ctr"/>
          <a:lstStyle/>
          <a:p>
            <a:pPr marL="0" indent="0">
              <a:buNone/>
            </a:pPr>
            <a:r>
              <a:rPr lang="en-US" sz="1500" b="1" dirty="0">
                <a:solidFill>
                  <a:srgbClr val="0B6E7A"/>
                </a:solidFill>
                <a:latin typeface="Arial" pitchFamily="34" charset="0"/>
                <a:ea typeface="Arial" pitchFamily="34" charset="-122"/>
                <a:cs typeface="Arial" pitchFamily="34" charset="-120"/>
              </a:rPr>
              <a:t>1.</a:t>
            </a:r>
            <a:endParaRPr lang="en-US" sz="1500" dirty="0"/>
          </a:p>
        </p:txBody>
      </p:sp>
      <p:sp>
        <p:nvSpPr>
          <p:cNvPr id="26" name="Text 23"/>
          <p:cNvSpPr/>
          <p:nvPr/>
        </p:nvSpPr>
        <p:spPr>
          <a:xfrm>
            <a:off x="1298448" y="4279392"/>
            <a:ext cx="2926080" cy="457200"/>
          </a:xfrm>
          <a:prstGeom prst="rect">
            <a:avLst/>
          </a:prstGeom>
          <a:noFill/>
          <a:ln/>
        </p:spPr>
        <p:txBody>
          <a:bodyPr wrap="square" lIns="0" tIns="0" rIns="0" bIns="0" rtlCol="0" anchor="ctr"/>
          <a:lstStyle/>
          <a:p>
            <a:pPr marL="0" indent="0">
              <a:buNone/>
            </a:pPr>
            <a:r>
              <a:rPr lang="en-US" sz="1200" b="1" dirty="0">
                <a:solidFill>
                  <a:srgbClr val="2D2D2B"/>
                </a:solidFill>
                <a:latin typeface="Consolas" pitchFamily="34" charset="0"/>
                <a:ea typeface="Consolas" pitchFamily="34" charset="-122"/>
                <a:cs typeface="Consolas" pitchFamily="34" charset="-120"/>
              </a:rPr>
              <a:t>mvn package</a:t>
            </a:r>
            <a:endParaRPr lang="en-US" sz="1200" dirty="0"/>
          </a:p>
        </p:txBody>
      </p:sp>
      <p:sp>
        <p:nvSpPr>
          <p:cNvPr id="27" name="Text 24"/>
          <p:cNvSpPr/>
          <p:nvPr/>
        </p:nvSpPr>
        <p:spPr>
          <a:xfrm>
            <a:off x="1298448" y="4645152"/>
            <a:ext cx="2926080" cy="365760"/>
          </a:xfrm>
          <a:prstGeom prst="rect">
            <a:avLst/>
          </a:prstGeom>
          <a:noFill/>
          <a:ln/>
        </p:spPr>
        <p:txBody>
          <a:bodyPr wrap="square" lIns="0" tIns="0" rIns="0" bIns="0" rtlCol="0" anchor="ctr"/>
          <a:lstStyle/>
          <a:p>
            <a:pPr marL="0" indent="0">
              <a:buNone/>
            </a:pPr>
            <a:r>
              <a:rPr lang="en-US" sz="1100" dirty="0">
                <a:solidFill>
                  <a:srgbClr val="6E6E6C"/>
                </a:solidFill>
                <a:latin typeface="Arial" pitchFamily="34" charset="0"/>
                <a:ea typeface="Arial" pitchFamily="34" charset="-122"/>
                <a:cs typeface="Arial" pitchFamily="34" charset="-120"/>
              </a:rPr>
              <a:t>self-contained fat jar</a:t>
            </a:r>
            <a:endParaRPr lang="en-US" sz="1100" dirty="0"/>
          </a:p>
        </p:txBody>
      </p:sp>
      <p:sp>
        <p:nvSpPr>
          <p:cNvPr id="28" name="Text 25"/>
          <p:cNvSpPr/>
          <p:nvPr/>
        </p:nvSpPr>
        <p:spPr>
          <a:xfrm>
            <a:off x="4480560" y="4297680"/>
            <a:ext cx="365760" cy="457200"/>
          </a:xfrm>
          <a:prstGeom prst="rect">
            <a:avLst/>
          </a:prstGeom>
          <a:noFill/>
          <a:ln/>
        </p:spPr>
        <p:txBody>
          <a:bodyPr wrap="square" lIns="0" tIns="0" rIns="0" bIns="0" rtlCol="0" anchor="ctr"/>
          <a:lstStyle/>
          <a:p>
            <a:pPr marL="0" indent="0">
              <a:buNone/>
            </a:pPr>
            <a:r>
              <a:rPr lang="en-US" sz="1500" b="1" dirty="0">
                <a:solidFill>
                  <a:srgbClr val="0B6E7A"/>
                </a:solidFill>
                <a:latin typeface="Arial" pitchFamily="34" charset="0"/>
                <a:ea typeface="Arial" pitchFamily="34" charset="-122"/>
                <a:cs typeface="Arial" pitchFamily="34" charset="-120"/>
              </a:rPr>
              <a:t>2.</a:t>
            </a:r>
            <a:endParaRPr lang="en-US" sz="1500" dirty="0"/>
          </a:p>
        </p:txBody>
      </p:sp>
      <p:sp>
        <p:nvSpPr>
          <p:cNvPr id="29" name="Text 26"/>
          <p:cNvSpPr/>
          <p:nvPr/>
        </p:nvSpPr>
        <p:spPr>
          <a:xfrm>
            <a:off x="4864608" y="4279392"/>
            <a:ext cx="2926080" cy="457200"/>
          </a:xfrm>
          <a:prstGeom prst="rect">
            <a:avLst/>
          </a:prstGeom>
          <a:noFill/>
          <a:ln/>
        </p:spPr>
        <p:txBody>
          <a:bodyPr wrap="square" lIns="0" tIns="0" rIns="0" bIns="0" rtlCol="0" anchor="ctr"/>
          <a:lstStyle/>
          <a:p>
            <a:pPr marL="0" indent="0">
              <a:buNone/>
            </a:pPr>
            <a:r>
              <a:rPr lang="en-US" sz="1200" b="1" dirty="0">
                <a:solidFill>
                  <a:srgbClr val="2D2D2B"/>
                </a:solidFill>
                <a:latin typeface="Consolas" pitchFamily="34" charset="0"/>
                <a:ea typeface="Consolas" pitchFamily="34" charset="-122"/>
                <a:cs typeface="Consolas" pitchFamily="34" charset="-120"/>
              </a:rPr>
              <a:t>scp jar → server</a:t>
            </a:r>
            <a:endParaRPr lang="en-US" sz="1200" dirty="0"/>
          </a:p>
        </p:txBody>
      </p:sp>
      <p:sp>
        <p:nvSpPr>
          <p:cNvPr id="30" name="Text 27"/>
          <p:cNvSpPr/>
          <p:nvPr/>
        </p:nvSpPr>
        <p:spPr>
          <a:xfrm>
            <a:off x="4864608" y="4645152"/>
            <a:ext cx="2926080" cy="365760"/>
          </a:xfrm>
          <a:prstGeom prst="rect">
            <a:avLst/>
          </a:prstGeom>
          <a:noFill/>
          <a:ln/>
        </p:spPr>
        <p:txBody>
          <a:bodyPr wrap="square" lIns="0" tIns="0" rIns="0" bIns="0" rtlCol="0" anchor="ctr"/>
          <a:lstStyle/>
          <a:p>
            <a:pPr marL="0" indent="0">
              <a:buNone/>
            </a:pPr>
            <a:r>
              <a:rPr lang="en-US" sz="1100" dirty="0">
                <a:solidFill>
                  <a:srgbClr val="6E6E6C"/>
                </a:solidFill>
                <a:latin typeface="Arial" pitchFamily="34" charset="0"/>
                <a:ea typeface="Arial" pitchFamily="34" charset="-122"/>
                <a:cs typeface="Arial" pitchFamily="34" charset="-120"/>
              </a:rPr>
              <a:t>into ~/elevator/</a:t>
            </a:r>
            <a:endParaRPr lang="en-US" sz="1100" dirty="0"/>
          </a:p>
        </p:txBody>
      </p:sp>
      <p:sp>
        <p:nvSpPr>
          <p:cNvPr id="31" name="Text 28"/>
          <p:cNvSpPr/>
          <p:nvPr/>
        </p:nvSpPr>
        <p:spPr>
          <a:xfrm>
            <a:off x="8046720" y="4297680"/>
            <a:ext cx="365760" cy="457200"/>
          </a:xfrm>
          <a:prstGeom prst="rect">
            <a:avLst/>
          </a:prstGeom>
          <a:noFill/>
          <a:ln/>
        </p:spPr>
        <p:txBody>
          <a:bodyPr wrap="square" lIns="0" tIns="0" rIns="0" bIns="0" rtlCol="0" anchor="ctr"/>
          <a:lstStyle/>
          <a:p>
            <a:pPr marL="0" indent="0">
              <a:buNone/>
            </a:pPr>
            <a:r>
              <a:rPr lang="en-US" sz="1500" b="1" dirty="0">
                <a:solidFill>
                  <a:srgbClr val="0B6E7A"/>
                </a:solidFill>
                <a:latin typeface="Arial" pitchFamily="34" charset="0"/>
                <a:ea typeface="Arial" pitchFamily="34" charset="-122"/>
                <a:cs typeface="Arial" pitchFamily="34" charset="-120"/>
              </a:rPr>
              <a:t>3.</a:t>
            </a:r>
            <a:endParaRPr lang="en-US" sz="1500" dirty="0"/>
          </a:p>
        </p:txBody>
      </p:sp>
      <p:sp>
        <p:nvSpPr>
          <p:cNvPr id="32" name="Text 29"/>
          <p:cNvSpPr/>
          <p:nvPr/>
        </p:nvSpPr>
        <p:spPr>
          <a:xfrm>
            <a:off x="8430768" y="4279392"/>
            <a:ext cx="2926080" cy="457200"/>
          </a:xfrm>
          <a:prstGeom prst="rect">
            <a:avLst/>
          </a:prstGeom>
          <a:noFill/>
          <a:ln/>
        </p:spPr>
        <p:txBody>
          <a:bodyPr wrap="square" lIns="0" tIns="0" rIns="0" bIns="0" rtlCol="0" anchor="ctr"/>
          <a:lstStyle/>
          <a:p>
            <a:pPr marL="0" indent="0">
              <a:buNone/>
            </a:pPr>
            <a:r>
              <a:rPr lang="en-US" sz="1200" b="1" dirty="0">
                <a:solidFill>
                  <a:srgbClr val="2D2D2B"/>
                </a:solidFill>
                <a:latin typeface="Consolas" pitchFamily="34" charset="0"/>
                <a:ea typeface="Consolas" pitchFamily="34" charset="-122"/>
                <a:cs typeface="Consolas" pitchFamily="34" charset="-120"/>
              </a:rPr>
              <a:t>java -jar … --sim --mqtt</a:t>
            </a:r>
            <a:endParaRPr lang="en-US" sz="1200" dirty="0"/>
          </a:p>
        </p:txBody>
      </p:sp>
      <p:sp>
        <p:nvSpPr>
          <p:cNvPr id="33" name="Text 30"/>
          <p:cNvSpPr/>
          <p:nvPr/>
        </p:nvSpPr>
        <p:spPr>
          <a:xfrm>
            <a:off x="8430768" y="4645152"/>
            <a:ext cx="2926080" cy="365760"/>
          </a:xfrm>
          <a:prstGeom prst="rect">
            <a:avLst/>
          </a:prstGeom>
          <a:noFill/>
          <a:ln/>
        </p:spPr>
        <p:txBody>
          <a:bodyPr wrap="square" lIns="0" tIns="0" rIns="0" bIns="0" rtlCol="0" anchor="ctr"/>
          <a:lstStyle/>
          <a:p>
            <a:pPr marL="0" indent="0">
              <a:buNone/>
            </a:pPr>
            <a:r>
              <a:rPr lang="en-US" sz="1100" dirty="0">
                <a:solidFill>
                  <a:srgbClr val="6E6E6C"/>
                </a:solidFill>
                <a:latin typeface="Arial" pitchFamily="34" charset="0"/>
                <a:ea typeface="Arial" pitchFamily="34" charset="-122"/>
                <a:cs typeface="Arial" pitchFamily="34" charset="-120"/>
              </a:rPr>
              <a:t>runs on the server</a:t>
            </a:r>
            <a:endParaRPr lang="en-US" sz="1100" dirty="0"/>
          </a:p>
        </p:txBody>
      </p:sp>
      <p:sp>
        <p:nvSpPr>
          <p:cNvPr id="34" name="Shape 31"/>
          <p:cNvSpPr/>
          <p:nvPr/>
        </p:nvSpPr>
        <p:spPr>
          <a:xfrm>
            <a:off x="640080" y="5212080"/>
            <a:ext cx="10908792" cy="1005840"/>
          </a:xfrm>
          <a:prstGeom prst="rect">
            <a:avLst/>
          </a:prstGeom>
          <a:solidFill>
            <a:srgbClr val="F6ECE9"/>
          </a:solidFill>
          <a:ln w="12700">
            <a:solidFill>
              <a:srgbClr val="B23A2E"/>
            </a:solidFill>
            <a:prstDash val="solid"/>
          </a:ln>
        </p:spPr>
        <p:txBody>
          <a:bodyPr/>
          <a:lstStyle/>
          <a:p>
            <a:endParaRPr lang="de-DE"/>
          </a:p>
        </p:txBody>
      </p:sp>
      <p:sp>
        <p:nvSpPr>
          <p:cNvPr id="35" name="Text 32"/>
          <p:cNvSpPr/>
          <p:nvPr/>
        </p:nvSpPr>
        <p:spPr>
          <a:xfrm>
            <a:off x="914400" y="5212080"/>
            <a:ext cx="10360152" cy="1005840"/>
          </a:xfrm>
          <a:prstGeom prst="rect">
            <a:avLst/>
          </a:prstGeom>
          <a:noFill/>
          <a:ln/>
        </p:spPr>
        <p:txBody>
          <a:bodyPr wrap="square" lIns="0" tIns="0" rIns="0" bIns="0" rtlCol="0" anchor="ctr"/>
          <a:lstStyle/>
          <a:p>
            <a:pPr marL="0" indent="0">
              <a:buNone/>
            </a:pPr>
            <a:r>
              <a:rPr lang="en-US" sz="1350" b="1" dirty="0">
                <a:solidFill>
                  <a:srgbClr val="B23A2E"/>
                </a:solidFill>
                <a:latin typeface="Arial" pitchFamily="34" charset="0"/>
                <a:ea typeface="Arial" pitchFamily="34" charset="-122"/>
                <a:cs typeface="Arial" pitchFamily="34" charset="-120"/>
              </a:rPr>
              <a:t>Gotcha we hit:  </a:t>
            </a:r>
            <a:r>
              <a:rPr lang="en-US" sz="1350" dirty="0">
                <a:solidFill>
                  <a:srgbClr val="333331"/>
                </a:solidFill>
                <a:latin typeface="Arial" pitchFamily="34" charset="0"/>
                <a:ea typeface="Arial" pitchFamily="34" charset="-122"/>
                <a:cs typeface="Arial" pitchFamily="34" charset="-120"/>
              </a:rPr>
              <a:t>the server runs only OpenJDK 11, so a Java 17 jar failed with UnsupportedClassVersionError. We retargeted the whole codebase to Java 11 — 21 tests still green.</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D2D2B"/>
        </a:solidFill>
        <a:effectLst/>
      </p:bgPr>
    </p:bg>
    <p:spTree>
      <p:nvGrpSpPr>
        <p:cNvPr id="1" name=""/>
        <p:cNvGrpSpPr/>
        <p:nvPr/>
      </p:nvGrpSpPr>
      <p:grpSpPr>
        <a:xfrm>
          <a:off x="0" y="0"/>
          <a:ext cx="0" cy="0"/>
          <a:chOff x="0" y="0"/>
          <a:chExt cx="0" cy="0"/>
        </a:xfrm>
      </p:grpSpPr>
      <p:sp>
        <p:nvSpPr>
          <p:cNvPr id="3" name="Text 1"/>
          <p:cNvSpPr/>
          <p:nvPr/>
        </p:nvSpPr>
        <p:spPr>
          <a:xfrm>
            <a:off x="822960" y="868680"/>
            <a:ext cx="10058400" cy="411480"/>
          </a:xfrm>
          <a:prstGeom prst="rect">
            <a:avLst/>
          </a:prstGeom>
          <a:noFill/>
          <a:ln/>
        </p:spPr>
        <p:txBody>
          <a:bodyPr wrap="square" lIns="0" tIns="0" rIns="0" bIns="0" rtlCol="0" anchor="ctr"/>
          <a:lstStyle/>
          <a:p>
            <a:pPr marL="0" indent="0">
              <a:buNone/>
            </a:pPr>
            <a:r>
              <a:rPr lang="en-US" sz="1400" b="1" kern="0" spc="300" dirty="0">
                <a:solidFill>
                  <a:srgbClr val="5FB6C2"/>
                </a:solidFill>
                <a:latin typeface="Arial" pitchFamily="34" charset="0"/>
                <a:ea typeface="Arial" pitchFamily="34" charset="-122"/>
                <a:cs typeface="Arial" pitchFamily="34" charset="-120"/>
              </a:rPr>
              <a:t>LIVE DEMONSTRATION</a:t>
            </a:r>
            <a:endParaRPr lang="en-US" sz="1400" dirty="0"/>
          </a:p>
        </p:txBody>
      </p:sp>
      <p:sp>
        <p:nvSpPr>
          <p:cNvPr id="4" name="Text 2"/>
          <p:cNvSpPr/>
          <p:nvPr/>
        </p:nvSpPr>
        <p:spPr>
          <a:xfrm>
            <a:off x="822960" y="1261872"/>
            <a:ext cx="10515600" cy="822960"/>
          </a:xfrm>
          <a:prstGeom prst="rect">
            <a:avLst/>
          </a:prstGeom>
          <a:noFill/>
          <a:ln/>
        </p:spPr>
        <p:txBody>
          <a:bodyPr wrap="square" lIns="0" tIns="0" rIns="0" bIns="0" rtlCol="0" anchor="ctr"/>
          <a:lstStyle/>
          <a:p>
            <a:pPr marL="0" indent="0">
              <a:buNone/>
            </a:pPr>
            <a:r>
              <a:rPr lang="en-US" sz="3600" b="1" dirty="0">
                <a:solidFill>
                  <a:srgbClr val="FFFFFF"/>
                </a:solidFill>
                <a:latin typeface="Arial" pitchFamily="34" charset="0"/>
                <a:ea typeface="Arial" pitchFamily="34" charset="-122"/>
                <a:cs typeface="Arial" pitchFamily="34" charset="-120"/>
              </a:rPr>
              <a:t>Watch the elevator run</a:t>
            </a:r>
            <a:endParaRPr lang="en-US" sz="3600" dirty="0"/>
          </a:p>
        </p:txBody>
      </p:sp>
      <p:sp>
        <p:nvSpPr>
          <p:cNvPr id="6" name="Shape 3"/>
          <p:cNvSpPr/>
          <p:nvPr/>
        </p:nvSpPr>
        <p:spPr>
          <a:xfrm>
            <a:off x="822960" y="2468880"/>
            <a:ext cx="3429000" cy="3200400"/>
          </a:xfrm>
          <a:prstGeom prst="rect">
            <a:avLst/>
          </a:prstGeom>
          <a:solidFill>
            <a:srgbClr val="3A3A37"/>
          </a:solidFill>
          <a:ln w="15875">
            <a:solidFill>
              <a:srgbClr val="55554F"/>
            </a:solidFill>
            <a:prstDash val="solid"/>
          </a:ln>
        </p:spPr>
        <p:txBody>
          <a:bodyPr/>
          <a:lstStyle/>
          <a:p>
            <a:endParaRPr lang="de-DE"/>
          </a:p>
        </p:txBody>
      </p:sp>
      <p:sp>
        <p:nvSpPr>
          <p:cNvPr id="7" name="Text 4"/>
          <p:cNvSpPr/>
          <p:nvPr/>
        </p:nvSpPr>
        <p:spPr>
          <a:xfrm>
            <a:off x="1051560" y="2633472"/>
            <a:ext cx="3017520" cy="457200"/>
          </a:xfrm>
          <a:prstGeom prst="rect">
            <a:avLst/>
          </a:prstGeom>
          <a:noFill/>
          <a:ln/>
        </p:spPr>
        <p:txBody>
          <a:bodyPr wrap="square" lIns="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1 — Start</a:t>
            </a:r>
            <a:endParaRPr lang="en-US" sz="1700" dirty="0"/>
          </a:p>
        </p:txBody>
      </p:sp>
      <p:sp>
        <p:nvSpPr>
          <p:cNvPr id="8" name="Shape 5"/>
          <p:cNvSpPr/>
          <p:nvPr/>
        </p:nvSpPr>
        <p:spPr>
          <a:xfrm>
            <a:off x="1051560" y="3127248"/>
            <a:ext cx="2971800" cy="0"/>
          </a:xfrm>
          <a:prstGeom prst="line">
            <a:avLst/>
          </a:prstGeom>
          <a:noFill/>
          <a:ln w="9525">
            <a:solidFill>
              <a:srgbClr val="55554F"/>
            </a:solidFill>
            <a:prstDash val="solid"/>
          </a:ln>
        </p:spPr>
        <p:txBody>
          <a:bodyPr/>
          <a:lstStyle/>
          <a:p>
            <a:endParaRPr lang="de-DE"/>
          </a:p>
        </p:txBody>
      </p:sp>
      <p:sp>
        <p:nvSpPr>
          <p:cNvPr id="9" name="Text 6"/>
          <p:cNvSpPr/>
          <p:nvPr/>
        </p:nvSpPr>
        <p:spPr>
          <a:xfrm>
            <a:off x="1051560" y="3246120"/>
            <a:ext cx="3017520" cy="2286000"/>
          </a:xfrm>
          <a:prstGeom prst="rect">
            <a:avLst/>
          </a:prstGeom>
          <a:noFill/>
          <a:ln/>
        </p:spPr>
        <p:txBody>
          <a:bodyPr wrap="square" lIns="0" tIns="0" rIns="0" bIns="0" rtlCol="0" anchor="t"/>
          <a:lstStyle/>
          <a:p>
            <a:pPr marL="177800" indent="-177800">
              <a:spcAft>
                <a:spcPts val="900"/>
              </a:spcAft>
              <a:buSzPct val="100000"/>
              <a:buChar char="•"/>
            </a:pPr>
            <a:r>
              <a:rPr lang="en-US" sz="1350" dirty="0">
                <a:solidFill>
                  <a:srgbClr val="E2E2E0"/>
                </a:solidFill>
                <a:latin typeface="Arial" pitchFamily="34" charset="0"/>
                <a:ea typeface="Arial" pitchFamily="34" charset="-122"/>
                <a:cs typeface="Arial" pitchFamily="34" charset="-120"/>
              </a:rPr>
              <a:t>Control jar on the server (--sim --mqtt)</a:t>
            </a:r>
            <a:endParaRPr lang="en-US" sz="1350" dirty="0"/>
          </a:p>
          <a:p>
            <a:pPr marL="177800" indent="-177800">
              <a:spcAft>
                <a:spcPts val="900"/>
              </a:spcAft>
              <a:buSzPct val="100000"/>
              <a:buChar char="•"/>
            </a:pPr>
            <a:r>
              <a:rPr lang="en-US" sz="1350" dirty="0">
                <a:solidFill>
                  <a:srgbClr val="E2E2E0"/>
                </a:solidFill>
                <a:latin typeface="Arial" pitchFamily="34" charset="0"/>
                <a:ea typeface="Arial" pitchFamily="34" charset="-122"/>
                <a:cs typeface="Arial" pitchFamily="34" charset="-120"/>
              </a:rPr>
              <a:t>Broker confirms: MQTT connected</a:t>
            </a:r>
            <a:endParaRPr lang="en-US" sz="1350" dirty="0"/>
          </a:p>
          <a:p>
            <a:pPr marL="177800" indent="-177800">
              <a:spcAft>
                <a:spcPts val="900"/>
              </a:spcAft>
              <a:buSzPct val="100000"/>
              <a:buChar char="•"/>
            </a:pPr>
            <a:r>
              <a:rPr lang="en-US" sz="1350" dirty="0">
                <a:solidFill>
                  <a:srgbClr val="E2E2E0"/>
                </a:solidFill>
                <a:latin typeface="Arial" pitchFamily="34" charset="0"/>
                <a:ea typeface="Arial" pitchFamily="34" charset="-122"/>
                <a:cs typeface="Arial" pitchFamily="34" charset="-120"/>
              </a:rPr>
              <a:t>Swing HMI on the laptop</a:t>
            </a:r>
            <a:endParaRPr lang="en-US" sz="1350" dirty="0"/>
          </a:p>
        </p:txBody>
      </p:sp>
      <p:sp>
        <p:nvSpPr>
          <p:cNvPr id="10" name="Shape 7"/>
          <p:cNvSpPr/>
          <p:nvPr/>
        </p:nvSpPr>
        <p:spPr>
          <a:xfrm>
            <a:off x="4526280" y="2468880"/>
            <a:ext cx="3429000" cy="3200400"/>
          </a:xfrm>
          <a:prstGeom prst="rect">
            <a:avLst/>
          </a:prstGeom>
          <a:solidFill>
            <a:srgbClr val="3A3A37"/>
          </a:solidFill>
          <a:ln w="15875">
            <a:solidFill>
              <a:srgbClr val="5FB6C2"/>
            </a:solidFill>
            <a:prstDash val="solid"/>
          </a:ln>
        </p:spPr>
        <p:txBody>
          <a:bodyPr/>
          <a:lstStyle/>
          <a:p>
            <a:endParaRPr lang="de-DE"/>
          </a:p>
        </p:txBody>
      </p:sp>
      <p:sp>
        <p:nvSpPr>
          <p:cNvPr id="11" name="Text 8"/>
          <p:cNvSpPr/>
          <p:nvPr/>
        </p:nvSpPr>
        <p:spPr>
          <a:xfrm>
            <a:off x="4754880" y="2633472"/>
            <a:ext cx="3017520" cy="457200"/>
          </a:xfrm>
          <a:prstGeom prst="rect">
            <a:avLst/>
          </a:prstGeom>
          <a:noFill/>
          <a:ln/>
        </p:spPr>
        <p:txBody>
          <a:bodyPr wrap="square" lIns="0" tIns="0" rIns="0" bIns="0" rtlCol="0" anchor="ctr"/>
          <a:lstStyle/>
          <a:p>
            <a:pPr marL="0" indent="0">
              <a:buNone/>
            </a:pPr>
            <a:r>
              <a:rPr lang="en-US" sz="1700" b="1" dirty="0">
                <a:solidFill>
                  <a:srgbClr val="5FB6C2"/>
                </a:solidFill>
                <a:latin typeface="Arial" pitchFamily="34" charset="0"/>
                <a:ea typeface="Arial" pitchFamily="34" charset="-122"/>
                <a:cs typeface="Arial" pitchFamily="34" charset="-120"/>
              </a:rPr>
              <a:t>2 — Operate</a:t>
            </a:r>
            <a:endParaRPr lang="en-US" sz="1700" dirty="0"/>
          </a:p>
        </p:txBody>
      </p:sp>
      <p:sp>
        <p:nvSpPr>
          <p:cNvPr id="12" name="Shape 9"/>
          <p:cNvSpPr/>
          <p:nvPr/>
        </p:nvSpPr>
        <p:spPr>
          <a:xfrm>
            <a:off x="4754880" y="3127248"/>
            <a:ext cx="2971800" cy="0"/>
          </a:xfrm>
          <a:prstGeom prst="line">
            <a:avLst/>
          </a:prstGeom>
          <a:noFill/>
          <a:ln w="9525">
            <a:solidFill>
              <a:srgbClr val="55554F"/>
            </a:solidFill>
            <a:prstDash val="solid"/>
          </a:ln>
        </p:spPr>
        <p:txBody>
          <a:bodyPr/>
          <a:lstStyle/>
          <a:p>
            <a:endParaRPr lang="de-DE"/>
          </a:p>
        </p:txBody>
      </p:sp>
      <p:sp>
        <p:nvSpPr>
          <p:cNvPr id="13" name="Text 10"/>
          <p:cNvSpPr/>
          <p:nvPr/>
        </p:nvSpPr>
        <p:spPr>
          <a:xfrm>
            <a:off x="4754880" y="3246120"/>
            <a:ext cx="3017520" cy="2286000"/>
          </a:xfrm>
          <a:prstGeom prst="rect">
            <a:avLst/>
          </a:prstGeom>
          <a:noFill/>
          <a:ln/>
        </p:spPr>
        <p:txBody>
          <a:bodyPr wrap="square" lIns="0" tIns="0" rIns="0" bIns="0" rtlCol="0" anchor="t"/>
          <a:lstStyle/>
          <a:p>
            <a:pPr marL="177800" indent="-177800">
              <a:spcAft>
                <a:spcPts val="900"/>
              </a:spcAft>
              <a:buSzPct val="100000"/>
              <a:buChar char="•"/>
            </a:pPr>
            <a:r>
              <a:rPr lang="en-US" sz="1350" dirty="0">
                <a:solidFill>
                  <a:srgbClr val="E2E2E0"/>
                </a:solidFill>
                <a:latin typeface="Arial" pitchFamily="34" charset="0"/>
                <a:ea typeface="Arial" pitchFamily="34" charset="-122"/>
                <a:cs typeface="Arial" pitchFamily="34" charset="-120"/>
              </a:rPr>
              <a:t>Press a cabin call (e.g. level 1)</a:t>
            </a:r>
            <a:endParaRPr lang="en-US" sz="1350" dirty="0"/>
          </a:p>
          <a:p>
            <a:pPr marL="177800" indent="-177800">
              <a:spcAft>
                <a:spcPts val="900"/>
              </a:spcAft>
              <a:buSzPct val="100000"/>
              <a:buChar char="•"/>
            </a:pPr>
            <a:r>
              <a:rPr lang="en-US" sz="1350" dirty="0">
                <a:solidFill>
                  <a:srgbClr val="E2E2E0"/>
                </a:solidFill>
                <a:latin typeface="Arial" pitchFamily="34" charset="0"/>
                <a:ea typeface="Arial" pitchFamily="34" charset="-122"/>
                <a:cs typeface="Arial" pitchFamily="34" charset="-120"/>
              </a:rPr>
              <a:t>Add a hall call mid-travel</a:t>
            </a:r>
            <a:endParaRPr lang="en-US" sz="1350" dirty="0"/>
          </a:p>
          <a:p>
            <a:pPr marL="177800" indent="-177800">
              <a:spcAft>
                <a:spcPts val="900"/>
              </a:spcAft>
              <a:buSzPct val="100000"/>
              <a:buChar char="•"/>
            </a:pPr>
            <a:r>
              <a:rPr lang="en-US" sz="1350" dirty="0">
                <a:solidFill>
                  <a:srgbClr val="E2E2E0"/>
                </a:solidFill>
                <a:latin typeface="Arial" pitchFamily="34" charset="0"/>
                <a:ea typeface="Arial" pitchFamily="34" charset="-122"/>
                <a:cs typeface="Arial" pitchFamily="34" charset="-120"/>
              </a:rPr>
              <a:t>Show SCAN: served on the way</a:t>
            </a:r>
            <a:endParaRPr lang="en-US" sz="1350" dirty="0"/>
          </a:p>
          <a:p>
            <a:pPr marL="177800" indent="-177800">
              <a:spcAft>
                <a:spcPts val="900"/>
              </a:spcAft>
              <a:buSzPct val="100000"/>
              <a:buChar char="•"/>
            </a:pPr>
            <a:r>
              <a:rPr lang="en-US" sz="1350" dirty="0">
                <a:solidFill>
                  <a:srgbClr val="E2E2E0"/>
                </a:solidFill>
                <a:latin typeface="Arial" pitchFamily="34" charset="0"/>
                <a:ea typeface="Arial" pitchFamily="34" charset="-122"/>
                <a:cs typeface="Arial" pitchFamily="34" charset="-120"/>
              </a:rPr>
              <a:t>Trigger emergency &amp; reset</a:t>
            </a:r>
            <a:endParaRPr lang="en-US" sz="1350" dirty="0"/>
          </a:p>
        </p:txBody>
      </p:sp>
      <p:sp>
        <p:nvSpPr>
          <p:cNvPr id="14" name="Shape 11"/>
          <p:cNvSpPr/>
          <p:nvPr/>
        </p:nvSpPr>
        <p:spPr>
          <a:xfrm>
            <a:off x="8229600" y="2468880"/>
            <a:ext cx="3429000" cy="3200400"/>
          </a:xfrm>
          <a:prstGeom prst="rect">
            <a:avLst/>
          </a:prstGeom>
          <a:solidFill>
            <a:srgbClr val="3A3A37"/>
          </a:solidFill>
          <a:ln w="15875">
            <a:solidFill>
              <a:srgbClr val="55554F"/>
            </a:solidFill>
            <a:prstDash val="solid"/>
          </a:ln>
        </p:spPr>
        <p:txBody>
          <a:bodyPr/>
          <a:lstStyle/>
          <a:p>
            <a:endParaRPr lang="de-DE"/>
          </a:p>
        </p:txBody>
      </p:sp>
      <p:sp>
        <p:nvSpPr>
          <p:cNvPr id="15" name="Text 12"/>
          <p:cNvSpPr/>
          <p:nvPr/>
        </p:nvSpPr>
        <p:spPr>
          <a:xfrm>
            <a:off x="8458200" y="2633472"/>
            <a:ext cx="3017520" cy="457200"/>
          </a:xfrm>
          <a:prstGeom prst="rect">
            <a:avLst/>
          </a:prstGeom>
          <a:noFill/>
          <a:ln/>
        </p:spPr>
        <p:txBody>
          <a:bodyPr wrap="square" lIns="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3 — Observe</a:t>
            </a:r>
            <a:endParaRPr lang="en-US" sz="1700" dirty="0"/>
          </a:p>
        </p:txBody>
      </p:sp>
      <p:sp>
        <p:nvSpPr>
          <p:cNvPr id="16" name="Shape 13"/>
          <p:cNvSpPr/>
          <p:nvPr/>
        </p:nvSpPr>
        <p:spPr>
          <a:xfrm>
            <a:off x="8458200" y="3127248"/>
            <a:ext cx="2971800" cy="0"/>
          </a:xfrm>
          <a:prstGeom prst="line">
            <a:avLst/>
          </a:prstGeom>
          <a:noFill/>
          <a:ln w="9525">
            <a:solidFill>
              <a:srgbClr val="55554F"/>
            </a:solidFill>
            <a:prstDash val="solid"/>
          </a:ln>
        </p:spPr>
        <p:txBody>
          <a:bodyPr/>
          <a:lstStyle/>
          <a:p>
            <a:endParaRPr lang="de-DE"/>
          </a:p>
        </p:txBody>
      </p:sp>
      <p:sp>
        <p:nvSpPr>
          <p:cNvPr id="17" name="Text 14"/>
          <p:cNvSpPr/>
          <p:nvPr/>
        </p:nvSpPr>
        <p:spPr>
          <a:xfrm>
            <a:off x="8458200" y="3246120"/>
            <a:ext cx="3017520" cy="2286000"/>
          </a:xfrm>
          <a:prstGeom prst="rect">
            <a:avLst/>
          </a:prstGeom>
          <a:noFill/>
          <a:ln/>
        </p:spPr>
        <p:txBody>
          <a:bodyPr wrap="square" lIns="0" tIns="0" rIns="0" bIns="0" rtlCol="0" anchor="t"/>
          <a:lstStyle/>
          <a:p>
            <a:pPr marL="177800" indent="-177800">
              <a:spcAft>
                <a:spcPts val="900"/>
              </a:spcAft>
              <a:buSzPct val="100000"/>
              <a:buChar char="•"/>
            </a:pPr>
            <a:r>
              <a:rPr lang="en-US" sz="1350" dirty="0">
                <a:solidFill>
                  <a:srgbClr val="E2E2E0"/>
                </a:solidFill>
                <a:latin typeface="Arial" pitchFamily="34" charset="0"/>
                <a:ea typeface="Arial" pitchFamily="34" charset="-122"/>
                <a:cs typeface="Arial" pitchFamily="34" charset="-120"/>
              </a:rPr>
              <a:t>Animated shaft + sliding doors</a:t>
            </a:r>
            <a:endParaRPr lang="en-US" sz="1350" dirty="0"/>
          </a:p>
          <a:p>
            <a:pPr marL="177800" indent="-177800">
              <a:spcAft>
                <a:spcPts val="900"/>
              </a:spcAft>
              <a:buSzPct val="100000"/>
              <a:buChar char="•"/>
            </a:pPr>
            <a:r>
              <a:rPr lang="en-US" sz="1350" dirty="0">
                <a:solidFill>
                  <a:srgbClr val="E2E2E0"/>
                </a:solidFill>
                <a:latin typeface="Arial" pitchFamily="34" charset="0"/>
                <a:ea typeface="Arial" pitchFamily="34" charset="-122"/>
                <a:cs typeface="Arial" pitchFamily="34" charset="-120"/>
              </a:rPr>
              <a:t>status / event on /SysArch/E/#</a:t>
            </a:r>
            <a:endParaRPr lang="en-US" sz="1350" dirty="0"/>
          </a:p>
          <a:p>
            <a:pPr marL="177800" indent="-177800">
              <a:spcAft>
                <a:spcPts val="900"/>
              </a:spcAft>
              <a:buSzPct val="100000"/>
              <a:buChar char="•"/>
            </a:pPr>
            <a:r>
              <a:rPr lang="en-US" sz="1350" dirty="0">
                <a:solidFill>
                  <a:srgbClr val="E2E2E0"/>
                </a:solidFill>
                <a:latin typeface="Arial" pitchFamily="34" charset="0"/>
                <a:ea typeface="Arial" pitchFamily="34" charset="-122"/>
                <a:cs typeface="Arial" pitchFamily="34" charset="-120"/>
              </a:rPr>
              <a:t>mosquitto_sub mirrors the JSON</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40080" y="502920"/>
            <a:ext cx="9144000" cy="292608"/>
          </a:xfrm>
          <a:prstGeom prst="rect">
            <a:avLst/>
          </a:prstGeom>
          <a:noFill/>
          <a:ln/>
        </p:spPr>
        <p:txBody>
          <a:bodyPr wrap="square" lIns="0" tIns="0" rIns="0" bIns="0" rtlCol="0" anchor="ctr"/>
          <a:lstStyle/>
          <a:p>
            <a:pPr marL="0" indent="0">
              <a:buNone/>
            </a:pPr>
            <a:r>
              <a:rPr lang="en-US" sz="1200" b="1" kern="0" spc="200" dirty="0">
                <a:solidFill>
                  <a:srgbClr val="0B6E7A"/>
                </a:solidFill>
                <a:latin typeface="Arial" pitchFamily="34" charset="0"/>
                <a:ea typeface="Arial" pitchFamily="34" charset="-122"/>
                <a:cs typeface="Arial" pitchFamily="34" charset="-120"/>
              </a:rPr>
              <a:t>PART 2 · DEMO TRACE</a:t>
            </a:r>
            <a:endParaRPr lang="en-US" sz="1200" dirty="0"/>
          </a:p>
        </p:txBody>
      </p:sp>
      <p:sp>
        <p:nvSpPr>
          <p:cNvPr id="4" name="Text 2"/>
          <p:cNvSpPr/>
          <p:nvPr/>
        </p:nvSpPr>
        <p:spPr>
          <a:xfrm>
            <a:off x="640080" y="804672"/>
            <a:ext cx="10515600" cy="731520"/>
          </a:xfrm>
          <a:prstGeom prst="rect">
            <a:avLst/>
          </a:prstGeom>
          <a:noFill/>
          <a:ln/>
        </p:spPr>
        <p:txBody>
          <a:bodyPr wrap="square" lIns="0" tIns="0" rIns="0" bIns="0" rtlCol="0" anchor="ctr"/>
          <a:lstStyle/>
          <a:p>
            <a:pPr marL="0" indent="0">
              <a:buNone/>
            </a:pPr>
            <a:r>
              <a:rPr lang="en-US" sz="2800" b="1" dirty="0">
                <a:solidFill>
                  <a:srgbClr val="2D2D2B"/>
                </a:solidFill>
                <a:latin typeface="Arial" pitchFamily="34" charset="0"/>
                <a:ea typeface="Arial" pitchFamily="34" charset="-122"/>
                <a:cs typeface="Arial" pitchFamily="34" charset="-120"/>
              </a:rPr>
              <a:t>One journey on the wire: cabin call to level 1</a:t>
            </a:r>
            <a:endParaRPr lang="en-US" sz="2800" dirty="0"/>
          </a:p>
        </p:txBody>
      </p:sp>
      <p:sp>
        <p:nvSpPr>
          <p:cNvPr id="5" name="Shape 3"/>
          <p:cNvSpPr/>
          <p:nvPr/>
        </p:nvSpPr>
        <p:spPr>
          <a:xfrm>
            <a:off x="640080" y="6382512"/>
            <a:ext cx="10908792" cy="0"/>
          </a:xfrm>
          <a:prstGeom prst="line">
            <a:avLst/>
          </a:prstGeom>
          <a:noFill/>
          <a:ln w="9525">
            <a:solidFill>
              <a:srgbClr val="D7D7D5"/>
            </a:solidFill>
            <a:prstDash val="solid"/>
          </a:ln>
        </p:spPr>
        <p:txBody>
          <a:bodyPr/>
          <a:lstStyle/>
          <a:p>
            <a:endParaRPr lang="de-DE"/>
          </a:p>
        </p:txBody>
      </p:sp>
      <p:sp>
        <p:nvSpPr>
          <p:cNvPr id="6" name="Text 4"/>
          <p:cNvSpPr/>
          <p:nvPr/>
        </p:nvSpPr>
        <p:spPr>
          <a:xfrm>
            <a:off x="640080" y="6437376"/>
            <a:ext cx="8229600" cy="274320"/>
          </a:xfrm>
          <a:prstGeom prst="rect">
            <a:avLst/>
          </a:prstGeom>
          <a:noFill/>
          <a:ln/>
        </p:spPr>
        <p:txBody>
          <a:bodyPr wrap="square" lIns="0" tIns="0" rIns="0" bIns="0" rtlCol="0" anchor="ctr"/>
          <a:lstStyle/>
          <a:p>
            <a:pPr marL="0" indent="0">
              <a:buNone/>
            </a:pPr>
            <a:r>
              <a:rPr lang="en-US" sz="900" dirty="0">
                <a:solidFill>
                  <a:srgbClr val="6E6E6C"/>
                </a:solidFill>
                <a:latin typeface="Arial" pitchFamily="34" charset="0"/>
                <a:ea typeface="Arial" pitchFamily="34" charset="-122"/>
                <a:cs typeface="Arial" pitchFamily="34" charset="-120"/>
              </a:rPr>
              <a:t>HTWG Konstanz  ·  System Architecture  ·  Group E</a:t>
            </a:r>
            <a:endParaRPr lang="en-US" sz="900" dirty="0"/>
          </a:p>
        </p:txBody>
      </p:sp>
      <p:sp>
        <p:nvSpPr>
          <p:cNvPr id="7" name="Text 5"/>
          <p:cNvSpPr/>
          <p:nvPr/>
        </p:nvSpPr>
        <p:spPr>
          <a:xfrm>
            <a:off x="10881360" y="6437376"/>
            <a:ext cx="667512" cy="274320"/>
          </a:xfrm>
          <a:prstGeom prst="rect">
            <a:avLst/>
          </a:prstGeom>
          <a:noFill/>
          <a:ln/>
        </p:spPr>
        <p:txBody>
          <a:bodyPr wrap="square" lIns="0" tIns="0" rIns="0" bIns="0" rtlCol="0" anchor="ctr"/>
          <a:lstStyle/>
          <a:p>
            <a:pPr marL="0" indent="0" algn="r">
              <a:buNone/>
            </a:pPr>
            <a:r>
              <a:rPr lang="en-US" sz="900" dirty="0">
                <a:solidFill>
                  <a:srgbClr val="6E6E6C"/>
                </a:solidFill>
                <a:latin typeface="Arial" pitchFamily="34" charset="0"/>
                <a:ea typeface="Arial" pitchFamily="34" charset="-122"/>
                <a:cs typeface="Arial" pitchFamily="34" charset="-120"/>
              </a:rPr>
              <a:t>15</a:t>
            </a:r>
            <a:endParaRPr lang="en-US" sz="900" dirty="0"/>
          </a:p>
        </p:txBody>
      </p:sp>
      <p:sp>
        <p:nvSpPr>
          <p:cNvPr id="9" name="Text 6"/>
          <p:cNvSpPr/>
          <p:nvPr/>
        </p:nvSpPr>
        <p:spPr>
          <a:xfrm>
            <a:off x="640080" y="1499616"/>
            <a:ext cx="10972800" cy="411480"/>
          </a:xfrm>
          <a:prstGeom prst="rect">
            <a:avLst/>
          </a:prstGeom>
          <a:noFill/>
          <a:ln/>
        </p:spPr>
        <p:txBody>
          <a:bodyPr wrap="square" lIns="0" tIns="0" rIns="0" bIns="0" rtlCol="0" anchor="ctr"/>
          <a:lstStyle/>
          <a:p>
            <a:pPr marL="0" indent="0">
              <a:buNone/>
            </a:pPr>
            <a:r>
              <a:rPr lang="en-US" sz="1300" dirty="0">
                <a:solidFill>
                  <a:srgbClr val="6E6E6C"/>
                </a:solidFill>
                <a:latin typeface="Arial" pitchFamily="34" charset="0"/>
                <a:ea typeface="Arial" pitchFamily="34" charset="-122"/>
                <a:cs typeface="Arial" pitchFamily="34" charset="-120"/>
              </a:rPr>
              <a:t>Live capture from mosquitto_sub -t /SysArch/E/#  — the same FSM phases, now visible as messages.</a:t>
            </a:r>
            <a:endParaRPr lang="en-US" sz="1300" dirty="0"/>
          </a:p>
        </p:txBody>
      </p:sp>
      <p:sp>
        <p:nvSpPr>
          <p:cNvPr id="10" name="Shape 7"/>
          <p:cNvSpPr/>
          <p:nvPr/>
        </p:nvSpPr>
        <p:spPr>
          <a:xfrm>
            <a:off x="640080" y="1993392"/>
            <a:ext cx="7498080" cy="4206240"/>
          </a:xfrm>
          <a:prstGeom prst="rect">
            <a:avLst/>
          </a:prstGeom>
          <a:solidFill>
            <a:srgbClr val="1F1F1D"/>
          </a:solidFill>
          <a:ln/>
        </p:spPr>
        <p:txBody>
          <a:bodyPr/>
          <a:lstStyle/>
          <a:p>
            <a:endParaRPr lang="de-DE"/>
          </a:p>
        </p:txBody>
      </p:sp>
      <p:sp>
        <p:nvSpPr>
          <p:cNvPr id="11" name="Text 8"/>
          <p:cNvSpPr/>
          <p:nvPr/>
        </p:nvSpPr>
        <p:spPr>
          <a:xfrm>
            <a:off x="822960" y="2103120"/>
            <a:ext cx="7178040" cy="4023360"/>
          </a:xfrm>
          <a:prstGeom prst="rect">
            <a:avLst/>
          </a:prstGeom>
          <a:noFill/>
          <a:ln/>
        </p:spPr>
        <p:txBody>
          <a:bodyPr wrap="square" lIns="0" tIns="0" rIns="0" bIns="0" rtlCol="0" anchor="t"/>
          <a:lstStyle/>
          <a:p>
            <a:pPr marL="0" indent="0">
              <a:spcAft>
                <a:spcPts val="300"/>
              </a:spcAft>
              <a:buNone/>
            </a:pPr>
            <a:r>
              <a:rPr lang="en-US" sz="950" dirty="0">
                <a:solidFill>
                  <a:srgbClr val="F2C14E"/>
                </a:solidFill>
                <a:latin typeface="Consolas" pitchFamily="34" charset="0"/>
                <a:ea typeface="Consolas" pitchFamily="34" charset="-122"/>
                <a:cs typeface="Consolas" pitchFamily="34" charset="-120"/>
              </a:rPr>
              <a:t>cmd   {"type":"cabin","level":1}</a:t>
            </a:r>
            <a:endParaRPr lang="en-US" sz="950" dirty="0"/>
          </a:p>
          <a:p>
            <a:pPr marL="0" indent="0">
              <a:spcAft>
                <a:spcPts val="300"/>
              </a:spcAft>
              <a:buNone/>
            </a:pPr>
            <a:r>
              <a:rPr lang="en-US" sz="950" dirty="0">
                <a:solidFill>
                  <a:srgbClr val="8FD0D8"/>
                </a:solidFill>
                <a:latin typeface="Consolas" pitchFamily="34" charset="0"/>
                <a:ea typeface="Consolas" pitchFamily="34" charset="-122"/>
                <a:cs typeface="Consolas" pitchFamily="34" charset="-120"/>
              </a:rPr>
              <a:t>evt   {"type":"DEPARTURE","level":4,"detail":"DOWN"}</a:t>
            </a:r>
            <a:endParaRPr lang="en-US" sz="950" dirty="0"/>
          </a:p>
          <a:p>
            <a:pPr marL="0" indent="0">
              <a:spcAft>
                <a:spcPts val="300"/>
              </a:spcAft>
              <a:buNone/>
            </a:pPr>
            <a:r>
              <a:rPr lang="en-US" sz="950" dirty="0">
                <a:solidFill>
                  <a:srgbClr val="CFE9EC"/>
                </a:solidFill>
                <a:latin typeface="Consolas" pitchFamily="34" charset="0"/>
                <a:ea typeface="Consolas" pitchFamily="34" charset="-122"/>
                <a:cs typeface="Consolas" pitchFamily="34" charset="-120"/>
              </a:rPr>
              <a:t>sts   L4 DOWN MOVING        v=0    cab=[1]</a:t>
            </a:r>
            <a:endParaRPr lang="en-US" sz="950" dirty="0"/>
          </a:p>
          <a:p>
            <a:pPr marL="0" indent="0">
              <a:spcAft>
                <a:spcPts val="300"/>
              </a:spcAft>
              <a:buNone/>
            </a:pPr>
            <a:r>
              <a:rPr lang="en-US" sz="950" dirty="0">
                <a:solidFill>
                  <a:srgbClr val="CFE9EC"/>
                </a:solidFill>
                <a:latin typeface="Consolas" pitchFamily="34" charset="0"/>
                <a:ea typeface="Consolas" pitchFamily="34" charset="-122"/>
                <a:cs typeface="Consolas" pitchFamily="34" charset="-120"/>
              </a:rPr>
              <a:t>sts   L4 DOWN MOVING        v=-100 cab=[1]</a:t>
            </a:r>
            <a:endParaRPr lang="en-US" sz="950" dirty="0"/>
          </a:p>
          <a:p>
            <a:pPr marL="0" indent="0">
              <a:spcAft>
                <a:spcPts val="300"/>
              </a:spcAft>
              <a:buNone/>
            </a:pPr>
            <a:r>
              <a:rPr lang="en-US" sz="950" dirty="0">
                <a:solidFill>
                  <a:srgbClr val="CFE9EC"/>
                </a:solidFill>
                <a:latin typeface="Consolas" pitchFamily="34" charset="0"/>
                <a:ea typeface="Consolas" pitchFamily="34" charset="-122"/>
                <a:cs typeface="Consolas" pitchFamily="34" charset="-120"/>
              </a:rPr>
              <a:t>sts   L3 DOWN MOVING        v=-100 cab=[1]</a:t>
            </a:r>
            <a:endParaRPr lang="en-US" sz="950" dirty="0"/>
          </a:p>
          <a:p>
            <a:pPr marL="0" indent="0">
              <a:spcAft>
                <a:spcPts val="300"/>
              </a:spcAft>
              <a:buNone/>
            </a:pPr>
            <a:r>
              <a:rPr lang="en-US" sz="950" dirty="0">
                <a:solidFill>
                  <a:srgbClr val="CFE9EC"/>
                </a:solidFill>
                <a:latin typeface="Consolas" pitchFamily="34" charset="0"/>
                <a:ea typeface="Consolas" pitchFamily="34" charset="-122"/>
                <a:cs typeface="Consolas" pitchFamily="34" charset="-120"/>
              </a:rPr>
              <a:t>sts   L2 DOWN MOVING        v=-100 cab=[1]</a:t>
            </a:r>
            <a:endParaRPr lang="en-US" sz="950" dirty="0"/>
          </a:p>
          <a:p>
            <a:pPr marL="0" indent="0">
              <a:spcAft>
                <a:spcPts val="300"/>
              </a:spcAft>
              <a:buNone/>
            </a:pPr>
            <a:r>
              <a:rPr lang="en-US" sz="950" dirty="0">
                <a:solidFill>
                  <a:srgbClr val="CFE9EC"/>
                </a:solidFill>
                <a:latin typeface="Consolas" pitchFamily="34" charset="0"/>
                <a:ea typeface="Consolas" pitchFamily="34" charset="-122"/>
                <a:cs typeface="Consolas" pitchFamily="34" charset="-120"/>
              </a:rPr>
              <a:t>sts   L2 DOWN DECELERATING  v=-100 cab=[1]</a:t>
            </a:r>
            <a:endParaRPr lang="en-US" sz="950" dirty="0"/>
          </a:p>
          <a:p>
            <a:pPr marL="0" indent="0">
              <a:spcAft>
                <a:spcPts val="300"/>
              </a:spcAft>
              <a:buNone/>
            </a:pPr>
            <a:r>
              <a:rPr lang="en-US" sz="950" dirty="0">
                <a:solidFill>
                  <a:srgbClr val="CFE9EC"/>
                </a:solidFill>
                <a:latin typeface="Consolas" pitchFamily="34" charset="0"/>
                <a:ea typeface="Consolas" pitchFamily="34" charset="-122"/>
                <a:cs typeface="Consolas" pitchFamily="34" charset="-120"/>
              </a:rPr>
              <a:t>sts   L2 DOWN DECELERATING  v=-10  cab=[1]</a:t>
            </a:r>
            <a:endParaRPr lang="en-US" sz="950" dirty="0"/>
          </a:p>
          <a:p>
            <a:pPr marL="0" indent="0">
              <a:spcAft>
                <a:spcPts val="300"/>
              </a:spcAft>
              <a:buNone/>
            </a:pPr>
            <a:r>
              <a:rPr lang="en-US" sz="950" dirty="0">
                <a:solidFill>
                  <a:srgbClr val="CFE9EC"/>
                </a:solidFill>
                <a:latin typeface="Consolas" pitchFamily="34" charset="0"/>
                <a:ea typeface="Consolas" pitchFamily="34" charset="-122"/>
                <a:cs typeface="Consolas" pitchFamily="34" charset="-120"/>
              </a:rPr>
              <a:t>sts   L2 DOWN CRAWLING      v=-10  cab=[1]</a:t>
            </a:r>
            <a:endParaRPr lang="en-US" sz="950" dirty="0"/>
          </a:p>
          <a:p>
            <a:pPr marL="0" indent="0">
              <a:spcAft>
                <a:spcPts val="300"/>
              </a:spcAft>
              <a:buNone/>
            </a:pPr>
            <a:r>
              <a:rPr lang="en-US" sz="950" dirty="0">
                <a:solidFill>
                  <a:srgbClr val="CFE9EC"/>
                </a:solidFill>
                <a:latin typeface="Consolas" pitchFamily="34" charset="0"/>
                <a:ea typeface="Consolas" pitchFamily="34" charset="-122"/>
                <a:cs typeface="Consolas" pitchFamily="34" charset="-120"/>
              </a:rPr>
              <a:t>sts   L2 DOWN CRAWLING      v=-5   cab=[1]</a:t>
            </a:r>
            <a:endParaRPr lang="en-US" sz="950" dirty="0"/>
          </a:p>
          <a:p>
            <a:pPr marL="0" indent="0">
              <a:spcAft>
                <a:spcPts val="300"/>
              </a:spcAft>
              <a:buNone/>
            </a:pPr>
            <a:r>
              <a:rPr lang="en-US" sz="950" dirty="0">
                <a:solidFill>
                  <a:srgbClr val="8FD0D8"/>
                </a:solidFill>
                <a:latin typeface="Consolas" pitchFamily="34" charset="0"/>
                <a:ea typeface="Consolas" pitchFamily="34" charset="-122"/>
                <a:cs typeface="Consolas" pitchFamily="34" charset="-120"/>
              </a:rPr>
              <a:t>evt   {"type":"ARRIVAL","level":1}</a:t>
            </a:r>
            <a:endParaRPr lang="en-US" sz="950" dirty="0"/>
          </a:p>
          <a:p>
            <a:pPr marL="0" indent="0">
              <a:spcAft>
                <a:spcPts val="300"/>
              </a:spcAft>
              <a:buNone/>
            </a:pPr>
            <a:r>
              <a:rPr lang="en-US" sz="950" dirty="0">
                <a:solidFill>
                  <a:srgbClr val="8FD0D8"/>
                </a:solidFill>
                <a:latin typeface="Consolas" pitchFamily="34" charset="0"/>
                <a:ea typeface="Consolas" pitchFamily="34" charset="-122"/>
                <a:cs typeface="Consolas" pitchFamily="34" charset="-120"/>
              </a:rPr>
              <a:t>evt   {"type":"DOOR_OPENING","level":1}</a:t>
            </a:r>
            <a:endParaRPr lang="en-US" sz="950" dirty="0"/>
          </a:p>
          <a:p>
            <a:pPr marL="0" indent="0">
              <a:spcAft>
                <a:spcPts val="300"/>
              </a:spcAft>
              <a:buNone/>
            </a:pPr>
            <a:r>
              <a:rPr lang="en-US" sz="950" dirty="0">
                <a:solidFill>
                  <a:srgbClr val="CFE9EC"/>
                </a:solidFill>
                <a:latin typeface="Consolas" pitchFamily="34" charset="0"/>
                <a:ea typeface="Consolas" pitchFamily="34" charset="-122"/>
                <a:cs typeface="Consolas" pitchFamily="34" charset="-120"/>
              </a:rPr>
              <a:t>sts   L1 DOWN DOOR_OPENING  door=MOVING cab=[]</a:t>
            </a:r>
            <a:endParaRPr lang="en-US" sz="950" dirty="0"/>
          </a:p>
          <a:p>
            <a:pPr marL="0" indent="0">
              <a:spcAft>
                <a:spcPts val="300"/>
              </a:spcAft>
              <a:buNone/>
            </a:pPr>
            <a:r>
              <a:rPr lang="en-US" sz="950" dirty="0">
                <a:solidFill>
                  <a:srgbClr val="8FD0D8"/>
                </a:solidFill>
                <a:latin typeface="Consolas" pitchFamily="34" charset="0"/>
                <a:ea typeface="Consolas" pitchFamily="34" charset="-122"/>
                <a:cs typeface="Consolas" pitchFamily="34" charset="-120"/>
              </a:rPr>
              <a:t>evt   {"type":"DOOR_OPENED","level":1}</a:t>
            </a:r>
            <a:endParaRPr lang="en-US" sz="950" dirty="0"/>
          </a:p>
          <a:p>
            <a:pPr marL="0" indent="0">
              <a:spcAft>
                <a:spcPts val="300"/>
              </a:spcAft>
              <a:buNone/>
            </a:pPr>
            <a:r>
              <a:rPr lang="en-US" sz="950" dirty="0">
                <a:solidFill>
                  <a:srgbClr val="CFE9EC"/>
                </a:solidFill>
                <a:latin typeface="Consolas" pitchFamily="34" charset="0"/>
                <a:ea typeface="Consolas" pitchFamily="34" charset="-122"/>
                <a:cs typeface="Consolas" pitchFamily="34" charset="-120"/>
              </a:rPr>
              <a:t>sts   L1 DOWN DOOR_OPEN     door=OPEN</a:t>
            </a:r>
            <a:endParaRPr lang="en-US" sz="950" dirty="0"/>
          </a:p>
          <a:p>
            <a:pPr marL="0" indent="0">
              <a:spcAft>
                <a:spcPts val="300"/>
              </a:spcAft>
              <a:buNone/>
            </a:pPr>
            <a:r>
              <a:rPr lang="en-US" sz="950" dirty="0">
                <a:solidFill>
                  <a:srgbClr val="8FD0D8"/>
                </a:solidFill>
                <a:latin typeface="Consolas" pitchFamily="34" charset="0"/>
                <a:ea typeface="Consolas" pitchFamily="34" charset="-122"/>
                <a:cs typeface="Consolas" pitchFamily="34" charset="-120"/>
              </a:rPr>
              <a:t>evt   {"type":"DOOR_CLOSING","level":1}</a:t>
            </a:r>
            <a:endParaRPr lang="en-US" sz="950" dirty="0"/>
          </a:p>
          <a:p>
            <a:pPr marL="0" indent="0">
              <a:spcAft>
                <a:spcPts val="300"/>
              </a:spcAft>
              <a:buNone/>
            </a:pPr>
            <a:r>
              <a:rPr lang="en-US" sz="950" dirty="0">
                <a:solidFill>
                  <a:srgbClr val="8FD0D8"/>
                </a:solidFill>
                <a:latin typeface="Consolas" pitchFamily="34" charset="0"/>
                <a:ea typeface="Consolas" pitchFamily="34" charset="-122"/>
                <a:cs typeface="Consolas" pitchFamily="34" charset="-120"/>
              </a:rPr>
              <a:t>evt   {"type":"DOOR_CLOSED","level":1}</a:t>
            </a:r>
            <a:endParaRPr lang="en-US" sz="950" dirty="0"/>
          </a:p>
          <a:p>
            <a:pPr marL="0" indent="0">
              <a:spcAft>
                <a:spcPts val="300"/>
              </a:spcAft>
              <a:buNone/>
            </a:pPr>
            <a:r>
              <a:rPr lang="en-US" sz="950" dirty="0">
                <a:solidFill>
                  <a:srgbClr val="9FE0A0"/>
                </a:solidFill>
                <a:latin typeface="Consolas" pitchFamily="34" charset="0"/>
                <a:ea typeface="Consolas" pitchFamily="34" charset="-122"/>
                <a:cs typeface="Consolas" pitchFamily="34" charset="-120"/>
              </a:rPr>
              <a:t>sts   L1 NONE IDLE          door=CLOSED</a:t>
            </a:r>
            <a:endParaRPr lang="en-US" sz="950" dirty="0"/>
          </a:p>
        </p:txBody>
      </p:sp>
      <p:sp>
        <p:nvSpPr>
          <p:cNvPr id="12" name="Shape 9"/>
          <p:cNvSpPr/>
          <p:nvPr/>
        </p:nvSpPr>
        <p:spPr>
          <a:xfrm>
            <a:off x="8321040" y="1993392"/>
            <a:ext cx="3227832" cy="4206240"/>
          </a:xfrm>
          <a:prstGeom prst="rect">
            <a:avLst/>
          </a:prstGeom>
          <a:solidFill>
            <a:srgbClr val="F2F3F2"/>
          </a:solidFill>
          <a:ln w="12700">
            <a:solidFill>
              <a:srgbClr val="D7D7D5"/>
            </a:solidFill>
            <a:prstDash val="solid"/>
          </a:ln>
        </p:spPr>
        <p:txBody>
          <a:bodyPr/>
          <a:lstStyle/>
          <a:p>
            <a:endParaRPr lang="de-DE"/>
          </a:p>
        </p:txBody>
      </p:sp>
      <p:sp>
        <p:nvSpPr>
          <p:cNvPr id="13" name="Text 10"/>
          <p:cNvSpPr/>
          <p:nvPr/>
        </p:nvSpPr>
        <p:spPr>
          <a:xfrm>
            <a:off x="8522208" y="2139696"/>
            <a:ext cx="2834640" cy="365760"/>
          </a:xfrm>
          <a:prstGeom prst="rect">
            <a:avLst/>
          </a:prstGeom>
          <a:noFill/>
          <a:ln/>
        </p:spPr>
        <p:txBody>
          <a:bodyPr wrap="square" lIns="0" tIns="0" rIns="0" bIns="0" rtlCol="0" anchor="ctr"/>
          <a:lstStyle/>
          <a:p>
            <a:pPr marL="0" indent="0">
              <a:buNone/>
            </a:pPr>
            <a:r>
              <a:rPr lang="en-US" sz="1500" b="1" dirty="0">
                <a:solidFill>
                  <a:srgbClr val="2D2D2B"/>
                </a:solidFill>
                <a:latin typeface="Arial" pitchFamily="34" charset="0"/>
                <a:ea typeface="Arial" pitchFamily="34" charset="-122"/>
                <a:cs typeface="Arial" pitchFamily="34" charset="-120"/>
              </a:rPr>
              <a:t>What happens</a:t>
            </a:r>
            <a:endParaRPr lang="en-US" sz="1500" dirty="0"/>
          </a:p>
        </p:txBody>
      </p:sp>
      <p:sp>
        <p:nvSpPr>
          <p:cNvPr id="14" name="Text 11"/>
          <p:cNvSpPr/>
          <p:nvPr/>
        </p:nvSpPr>
        <p:spPr>
          <a:xfrm>
            <a:off x="8522208" y="2542032"/>
            <a:ext cx="2834640" cy="3566160"/>
          </a:xfrm>
          <a:prstGeom prst="rect">
            <a:avLst/>
          </a:prstGeom>
          <a:noFill/>
          <a:ln/>
        </p:spPr>
        <p:txBody>
          <a:bodyPr wrap="square" lIns="0" tIns="0" rIns="0" bIns="0" rtlCol="0" anchor="t"/>
          <a:lstStyle/>
          <a:p>
            <a:pPr marL="0" indent="0">
              <a:buNone/>
            </a:pPr>
            <a:r>
              <a:rPr lang="en-US" sz="1150" b="1" dirty="0">
                <a:solidFill>
                  <a:srgbClr val="2D2D2B"/>
                </a:solidFill>
                <a:latin typeface="Arial" pitchFamily="34" charset="0"/>
                <a:ea typeface="Arial" pitchFamily="34" charset="-122"/>
                <a:cs typeface="Arial" pitchFamily="34" charset="-120"/>
              </a:rPr>
              <a:t>Request</a:t>
            </a:r>
            <a:endParaRPr lang="en-US" sz="1150" dirty="0"/>
          </a:p>
          <a:p>
            <a:pPr marL="0" indent="0">
              <a:spcAft>
                <a:spcPts val="800"/>
              </a:spcAft>
              <a:buNone/>
            </a:pPr>
            <a:r>
              <a:rPr lang="en-US" sz="1150" dirty="0">
                <a:solidFill>
                  <a:srgbClr val="333331"/>
                </a:solidFill>
                <a:latin typeface="Arial" pitchFamily="34" charset="0"/>
                <a:ea typeface="Arial" pitchFamily="34" charset="-122"/>
                <a:cs typeface="Arial" pitchFamily="34" charset="-120"/>
              </a:rPr>
              <a:t>cabin call for level 1 arrives on cmd.
</a:t>
            </a:r>
            <a:endParaRPr lang="en-US" sz="1150" dirty="0"/>
          </a:p>
          <a:p>
            <a:pPr marL="0" indent="0">
              <a:buNone/>
            </a:pPr>
            <a:r>
              <a:rPr lang="en-US" sz="1150" b="1" dirty="0">
                <a:solidFill>
                  <a:srgbClr val="2D2D2B"/>
                </a:solidFill>
                <a:latin typeface="Arial" pitchFamily="34" charset="0"/>
                <a:ea typeface="Arial" pitchFamily="34" charset="-122"/>
                <a:cs typeface="Arial" pitchFamily="34" charset="-120"/>
              </a:rPr>
              <a:t>Depart &amp; speed up</a:t>
            </a:r>
            <a:endParaRPr lang="en-US" sz="1150" dirty="0"/>
          </a:p>
          <a:p>
            <a:pPr marL="0" indent="0">
              <a:spcAft>
                <a:spcPts val="800"/>
              </a:spcAft>
              <a:buNone/>
            </a:pPr>
            <a:r>
              <a:rPr lang="en-US" sz="1150" dirty="0">
                <a:solidFill>
                  <a:srgbClr val="333331"/>
                </a:solidFill>
                <a:latin typeface="Arial" pitchFamily="34" charset="0"/>
                <a:ea typeface="Arial" pitchFamily="34" charset="-122"/>
                <a:cs typeface="Arial" pitchFamily="34" charset="-120"/>
              </a:rPr>
              <a:t>DEPARTURE event, then MOVING at v=-100.
</a:t>
            </a:r>
            <a:endParaRPr lang="en-US" sz="1150" dirty="0"/>
          </a:p>
          <a:p>
            <a:pPr marL="0" indent="0">
              <a:buNone/>
            </a:pPr>
            <a:r>
              <a:rPr lang="en-US" sz="1150" b="1" dirty="0">
                <a:solidFill>
                  <a:srgbClr val="2D2D2B"/>
                </a:solidFill>
                <a:latin typeface="Arial" pitchFamily="34" charset="0"/>
                <a:ea typeface="Arial" pitchFamily="34" charset="-122"/>
                <a:cs typeface="Arial" pitchFamily="34" charset="-120"/>
              </a:rPr>
              <a:t>Slow down</a:t>
            </a:r>
            <a:endParaRPr lang="en-US" sz="1150" dirty="0"/>
          </a:p>
          <a:p>
            <a:pPr marL="0" indent="0">
              <a:spcAft>
                <a:spcPts val="800"/>
              </a:spcAft>
              <a:buNone/>
            </a:pPr>
            <a:r>
              <a:rPr lang="en-US" sz="1150" dirty="0">
                <a:solidFill>
                  <a:srgbClr val="333331"/>
                </a:solidFill>
                <a:latin typeface="Arial" pitchFamily="34" charset="0"/>
                <a:ea typeface="Arial" pitchFamily="34" charset="-122"/>
                <a:cs typeface="Arial" pitchFamily="34" charset="-120"/>
              </a:rPr>
              <a:t>DECELERATING → CRAWLING as sensors fire.
</a:t>
            </a:r>
            <a:endParaRPr lang="en-US" sz="1150" dirty="0"/>
          </a:p>
          <a:p>
            <a:pPr marL="0" indent="0">
              <a:buNone/>
            </a:pPr>
            <a:r>
              <a:rPr lang="en-US" sz="1150" b="1" dirty="0">
                <a:solidFill>
                  <a:srgbClr val="2D2D2B"/>
                </a:solidFill>
                <a:latin typeface="Arial" pitchFamily="34" charset="0"/>
                <a:ea typeface="Arial" pitchFamily="34" charset="-122"/>
                <a:cs typeface="Arial" pitchFamily="34" charset="-120"/>
              </a:rPr>
              <a:t>Arrive &amp; doors</a:t>
            </a:r>
            <a:endParaRPr lang="en-US" sz="1150" dirty="0"/>
          </a:p>
          <a:p>
            <a:pPr marL="0" indent="0">
              <a:spcAft>
                <a:spcPts val="800"/>
              </a:spcAft>
              <a:buNone/>
            </a:pPr>
            <a:r>
              <a:rPr lang="en-US" sz="1150" dirty="0">
                <a:solidFill>
                  <a:srgbClr val="333331"/>
                </a:solidFill>
                <a:latin typeface="Arial" pitchFamily="34" charset="0"/>
                <a:ea typeface="Arial" pitchFamily="34" charset="-122"/>
                <a:cs typeface="Arial" pitchFamily="34" charset="-120"/>
              </a:rPr>
              <a:t>ARRIVAL, then the full door cycle.
</a:t>
            </a:r>
            <a:endParaRPr lang="en-US" sz="1150" dirty="0"/>
          </a:p>
          <a:p>
            <a:pPr marL="0" indent="0">
              <a:buNone/>
            </a:pPr>
            <a:r>
              <a:rPr lang="en-US" sz="1150" b="1" dirty="0">
                <a:solidFill>
                  <a:srgbClr val="0B6E7A"/>
                </a:solidFill>
                <a:latin typeface="Arial" pitchFamily="34" charset="0"/>
                <a:ea typeface="Arial" pitchFamily="34" charset="-122"/>
                <a:cs typeface="Arial" pitchFamily="34" charset="-120"/>
              </a:rPr>
              <a:t>Idle</a:t>
            </a:r>
            <a:endParaRPr lang="en-US" sz="1150" dirty="0"/>
          </a:p>
          <a:p>
            <a:pPr marL="0" indent="0">
              <a:buNone/>
            </a:pPr>
            <a:r>
              <a:rPr lang="en-US" sz="1150" dirty="0">
                <a:solidFill>
                  <a:srgbClr val="333331"/>
                </a:solidFill>
                <a:latin typeface="Arial" pitchFamily="34" charset="0"/>
                <a:ea typeface="Arial" pitchFamily="34" charset="-122"/>
                <a:cs typeface="Arial" pitchFamily="34" charset="-120"/>
              </a:rPr>
              <a:t>call cleared, back to IDLE at level 1.</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40080" y="502920"/>
            <a:ext cx="9144000" cy="292608"/>
          </a:xfrm>
          <a:prstGeom prst="rect">
            <a:avLst/>
          </a:prstGeom>
          <a:noFill/>
          <a:ln/>
        </p:spPr>
        <p:txBody>
          <a:bodyPr wrap="square" lIns="0" tIns="0" rIns="0" bIns="0" rtlCol="0" anchor="ctr"/>
          <a:lstStyle/>
          <a:p>
            <a:pPr marL="0" indent="0">
              <a:buNone/>
            </a:pPr>
            <a:r>
              <a:rPr lang="en-US" sz="1200" b="1" kern="0" spc="200" dirty="0">
                <a:solidFill>
                  <a:srgbClr val="0B6E7A"/>
                </a:solidFill>
                <a:latin typeface="Arial" pitchFamily="34" charset="0"/>
                <a:ea typeface="Arial" pitchFamily="34" charset="-122"/>
                <a:cs typeface="Arial" pitchFamily="34" charset="-120"/>
              </a:rPr>
              <a:t>WRAP-UP</a:t>
            </a:r>
            <a:endParaRPr lang="en-US" sz="1200" dirty="0"/>
          </a:p>
        </p:txBody>
      </p:sp>
      <p:sp>
        <p:nvSpPr>
          <p:cNvPr id="4" name="Text 2"/>
          <p:cNvSpPr/>
          <p:nvPr/>
        </p:nvSpPr>
        <p:spPr>
          <a:xfrm>
            <a:off x="640080" y="804672"/>
            <a:ext cx="10515600" cy="731520"/>
          </a:xfrm>
          <a:prstGeom prst="rect">
            <a:avLst/>
          </a:prstGeom>
          <a:noFill/>
          <a:ln/>
        </p:spPr>
        <p:txBody>
          <a:bodyPr wrap="square" lIns="0" tIns="0" rIns="0" bIns="0" rtlCol="0" anchor="ctr"/>
          <a:lstStyle/>
          <a:p>
            <a:pPr marL="0" indent="0">
              <a:buNone/>
            </a:pPr>
            <a:r>
              <a:rPr lang="en-US" sz="2800" b="1" dirty="0">
                <a:solidFill>
                  <a:srgbClr val="2D2D2B"/>
                </a:solidFill>
                <a:latin typeface="Arial" pitchFamily="34" charset="0"/>
                <a:ea typeface="Arial" pitchFamily="34" charset="-122"/>
                <a:cs typeface="Arial" pitchFamily="34" charset="-120"/>
              </a:rPr>
              <a:t>What we delivered &amp; what we learned</a:t>
            </a:r>
            <a:endParaRPr lang="en-US" sz="2800" dirty="0"/>
          </a:p>
        </p:txBody>
      </p:sp>
      <p:sp>
        <p:nvSpPr>
          <p:cNvPr id="5" name="Shape 3"/>
          <p:cNvSpPr/>
          <p:nvPr/>
        </p:nvSpPr>
        <p:spPr>
          <a:xfrm>
            <a:off x="640080" y="6382512"/>
            <a:ext cx="10908792" cy="0"/>
          </a:xfrm>
          <a:prstGeom prst="line">
            <a:avLst/>
          </a:prstGeom>
          <a:noFill/>
          <a:ln w="9525">
            <a:solidFill>
              <a:srgbClr val="D7D7D5"/>
            </a:solidFill>
            <a:prstDash val="solid"/>
          </a:ln>
        </p:spPr>
        <p:txBody>
          <a:bodyPr/>
          <a:lstStyle/>
          <a:p>
            <a:endParaRPr lang="de-DE"/>
          </a:p>
        </p:txBody>
      </p:sp>
      <p:sp>
        <p:nvSpPr>
          <p:cNvPr id="6" name="Text 4"/>
          <p:cNvSpPr/>
          <p:nvPr/>
        </p:nvSpPr>
        <p:spPr>
          <a:xfrm>
            <a:off x="640080" y="6437376"/>
            <a:ext cx="8229600" cy="274320"/>
          </a:xfrm>
          <a:prstGeom prst="rect">
            <a:avLst/>
          </a:prstGeom>
          <a:noFill/>
          <a:ln/>
        </p:spPr>
        <p:txBody>
          <a:bodyPr wrap="square" lIns="0" tIns="0" rIns="0" bIns="0" rtlCol="0" anchor="ctr"/>
          <a:lstStyle/>
          <a:p>
            <a:pPr marL="0" indent="0">
              <a:buNone/>
            </a:pPr>
            <a:r>
              <a:rPr lang="en-US" sz="900" dirty="0">
                <a:solidFill>
                  <a:srgbClr val="6E6E6C"/>
                </a:solidFill>
                <a:latin typeface="Arial" pitchFamily="34" charset="0"/>
                <a:ea typeface="Arial" pitchFamily="34" charset="-122"/>
                <a:cs typeface="Arial" pitchFamily="34" charset="-120"/>
              </a:rPr>
              <a:t>HTWG Konstanz  ·  System Architecture  ·  Group E</a:t>
            </a:r>
            <a:endParaRPr lang="en-US" sz="900" dirty="0"/>
          </a:p>
        </p:txBody>
      </p:sp>
      <p:sp>
        <p:nvSpPr>
          <p:cNvPr id="7" name="Text 5"/>
          <p:cNvSpPr/>
          <p:nvPr/>
        </p:nvSpPr>
        <p:spPr>
          <a:xfrm>
            <a:off x="10881360" y="6437376"/>
            <a:ext cx="667512" cy="274320"/>
          </a:xfrm>
          <a:prstGeom prst="rect">
            <a:avLst/>
          </a:prstGeom>
          <a:noFill/>
          <a:ln/>
        </p:spPr>
        <p:txBody>
          <a:bodyPr wrap="square" lIns="0" tIns="0" rIns="0" bIns="0" rtlCol="0" anchor="ctr"/>
          <a:lstStyle/>
          <a:p>
            <a:pPr marL="0" indent="0" algn="r">
              <a:buNone/>
            </a:pPr>
            <a:r>
              <a:rPr lang="en-US" sz="900" dirty="0">
                <a:solidFill>
                  <a:srgbClr val="6E6E6C"/>
                </a:solidFill>
                <a:latin typeface="Arial" pitchFamily="34" charset="0"/>
                <a:ea typeface="Arial" pitchFamily="34" charset="-122"/>
                <a:cs typeface="Arial" pitchFamily="34" charset="-120"/>
              </a:rPr>
              <a:t>16</a:t>
            </a:r>
            <a:endParaRPr lang="en-US" sz="900" dirty="0"/>
          </a:p>
        </p:txBody>
      </p:sp>
      <p:sp>
        <p:nvSpPr>
          <p:cNvPr id="9" name="Shape 6"/>
          <p:cNvSpPr/>
          <p:nvPr/>
        </p:nvSpPr>
        <p:spPr>
          <a:xfrm>
            <a:off x="640080" y="1737360"/>
            <a:ext cx="5349240" cy="2468880"/>
          </a:xfrm>
          <a:prstGeom prst="rect">
            <a:avLst/>
          </a:prstGeom>
          <a:solidFill>
            <a:srgbClr val="F2F3F2"/>
          </a:solidFill>
          <a:ln w="12700">
            <a:solidFill>
              <a:srgbClr val="D7D7D5"/>
            </a:solidFill>
            <a:prstDash val="solid"/>
          </a:ln>
        </p:spPr>
        <p:txBody>
          <a:bodyPr/>
          <a:lstStyle/>
          <a:p>
            <a:endParaRPr lang="de-DE"/>
          </a:p>
        </p:txBody>
      </p:sp>
      <p:sp>
        <p:nvSpPr>
          <p:cNvPr id="10" name="Text 7"/>
          <p:cNvSpPr/>
          <p:nvPr/>
        </p:nvSpPr>
        <p:spPr>
          <a:xfrm>
            <a:off x="868680" y="1901952"/>
            <a:ext cx="4937760" cy="365760"/>
          </a:xfrm>
          <a:prstGeom prst="rect">
            <a:avLst/>
          </a:prstGeom>
          <a:noFill/>
          <a:ln/>
        </p:spPr>
        <p:txBody>
          <a:bodyPr wrap="square" lIns="0" tIns="0" rIns="0" bIns="0" rtlCol="0" anchor="ctr"/>
          <a:lstStyle/>
          <a:p>
            <a:pPr marL="0" indent="0">
              <a:buNone/>
            </a:pPr>
            <a:r>
              <a:rPr lang="en-US" sz="1500" b="1" dirty="0">
                <a:solidFill>
                  <a:srgbClr val="2D2D2B"/>
                </a:solidFill>
                <a:latin typeface="Arial" pitchFamily="34" charset="0"/>
                <a:ea typeface="Arial" pitchFamily="34" charset="-122"/>
                <a:cs typeface="Arial" pitchFamily="34" charset="-120"/>
              </a:rPr>
              <a:t>Delivered</a:t>
            </a:r>
            <a:endParaRPr lang="en-US" sz="1500" dirty="0"/>
          </a:p>
        </p:txBody>
      </p:sp>
      <p:sp>
        <p:nvSpPr>
          <p:cNvPr id="11" name="Text 8"/>
          <p:cNvSpPr/>
          <p:nvPr/>
        </p:nvSpPr>
        <p:spPr>
          <a:xfrm>
            <a:off x="868680" y="2304288"/>
            <a:ext cx="4937760" cy="17373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333331"/>
                </a:solidFill>
                <a:latin typeface="Arial" pitchFamily="34" charset="0"/>
                <a:ea typeface="Arial" pitchFamily="34" charset="-122"/>
                <a:cs typeface="Arial" pitchFamily="34" charset="-120"/>
              </a:rPr>
              <a:t>Full collective-control logic for all four levels.</a:t>
            </a:r>
            <a:endParaRPr lang="en-US" sz="1300" dirty="0"/>
          </a:p>
          <a:p>
            <a:pPr marL="177800" indent="-177800">
              <a:spcAft>
                <a:spcPts val="600"/>
              </a:spcAft>
              <a:buSzPct val="100000"/>
              <a:buChar char="•"/>
            </a:pPr>
            <a:r>
              <a:rPr lang="en-US" sz="1300" dirty="0">
                <a:solidFill>
                  <a:srgbClr val="333331"/>
                </a:solidFill>
                <a:latin typeface="Arial" pitchFamily="34" charset="0"/>
                <a:ea typeface="Arial" pitchFamily="34" charset="-122"/>
                <a:cs typeface="Arial" pitchFamily="34" charset="-120"/>
              </a:rPr>
              <a:t>Clean hexagonal design; HMI fully decoupled via MQTT.</a:t>
            </a:r>
            <a:endParaRPr lang="en-US" sz="1300" dirty="0"/>
          </a:p>
          <a:p>
            <a:pPr marL="177800" indent="-177800">
              <a:spcAft>
                <a:spcPts val="600"/>
              </a:spcAft>
              <a:buSzPct val="100000"/>
              <a:buChar char="•"/>
            </a:pPr>
            <a:r>
              <a:rPr lang="en-US" sz="1300" dirty="0">
                <a:solidFill>
                  <a:srgbClr val="333331"/>
                </a:solidFill>
                <a:latin typeface="Arial" pitchFamily="34" charset="0"/>
                <a:ea typeface="Arial" pitchFamily="34" charset="-122"/>
                <a:cs typeface="Arial" pitchFamily="34" charset="-120"/>
              </a:rPr>
              <a:t>Reference Swing + console HMI; server-deployable fat jar.</a:t>
            </a:r>
            <a:endParaRPr lang="en-US" sz="1300" dirty="0"/>
          </a:p>
          <a:p>
            <a:pPr marL="177800" indent="-177800">
              <a:spcAft>
                <a:spcPts val="600"/>
              </a:spcAft>
              <a:buSzPct val="100000"/>
              <a:buChar char="•"/>
            </a:pPr>
            <a:r>
              <a:rPr lang="en-US" sz="1300" dirty="0">
                <a:solidFill>
                  <a:srgbClr val="333331"/>
                </a:solidFill>
                <a:latin typeface="Arial" pitchFamily="34" charset="0"/>
                <a:ea typeface="Arial" pitchFamily="34" charset="-122"/>
                <a:cs typeface="Arial" pitchFamily="34" charset="-120"/>
              </a:rPr>
              <a:t>21 unit tests, all green.</a:t>
            </a:r>
            <a:endParaRPr lang="en-US" sz="1300" dirty="0"/>
          </a:p>
        </p:txBody>
      </p:sp>
      <p:sp>
        <p:nvSpPr>
          <p:cNvPr id="12" name="Shape 9"/>
          <p:cNvSpPr/>
          <p:nvPr/>
        </p:nvSpPr>
        <p:spPr>
          <a:xfrm>
            <a:off x="6199632" y="1737360"/>
            <a:ext cx="5349240" cy="2468880"/>
          </a:xfrm>
          <a:prstGeom prst="rect">
            <a:avLst/>
          </a:prstGeom>
          <a:solidFill>
            <a:srgbClr val="F2F3F2"/>
          </a:solidFill>
          <a:ln w="12700">
            <a:solidFill>
              <a:srgbClr val="D7D7D5"/>
            </a:solidFill>
            <a:prstDash val="solid"/>
          </a:ln>
        </p:spPr>
        <p:txBody>
          <a:bodyPr/>
          <a:lstStyle/>
          <a:p>
            <a:endParaRPr lang="de-DE"/>
          </a:p>
        </p:txBody>
      </p:sp>
      <p:sp>
        <p:nvSpPr>
          <p:cNvPr id="13" name="Text 10"/>
          <p:cNvSpPr/>
          <p:nvPr/>
        </p:nvSpPr>
        <p:spPr>
          <a:xfrm>
            <a:off x="6428232" y="1901952"/>
            <a:ext cx="4937760" cy="365760"/>
          </a:xfrm>
          <a:prstGeom prst="rect">
            <a:avLst/>
          </a:prstGeom>
          <a:noFill/>
          <a:ln/>
        </p:spPr>
        <p:txBody>
          <a:bodyPr wrap="square" lIns="0" tIns="0" rIns="0" bIns="0" rtlCol="0" anchor="ctr"/>
          <a:lstStyle/>
          <a:p>
            <a:pPr marL="0" indent="0">
              <a:buNone/>
            </a:pPr>
            <a:r>
              <a:rPr lang="en-US" sz="1500" b="1" dirty="0">
                <a:solidFill>
                  <a:srgbClr val="2D2D2B"/>
                </a:solidFill>
                <a:latin typeface="Arial" pitchFamily="34" charset="0"/>
                <a:ea typeface="Arial" pitchFamily="34" charset="-122"/>
                <a:cs typeface="Arial" pitchFamily="34" charset="-120"/>
              </a:rPr>
              <a:t>Lessons learned</a:t>
            </a:r>
            <a:endParaRPr lang="en-US" sz="1500" dirty="0"/>
          </a:p>
        </p:txBody>
      </p:sp>
      <p:sp>
        <p:nvSpPr>
          <p:cNvPr id="14" name="Text 11"/>
          <p:cNvSpPr/>
          <p:nvPr/>
        </p:nvSpPr>
        <p:spPr>
          <a:xfrm>
            <a:off x="6428232" y="2304288"/>
            <a:ext cx="4937760" cy="17373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333331"/>
                </a:solidFill>
                <a:latin typeface="Arial" pitchFamily="34" charset="0"/>
                <a:ea typeface="Arial" pitchFamily="34" charset="-122"/>
                <a:cs typeface="Arial" pitchFamily="34" charset="-120"/>
              </a:rPr>
              <a:t>Match the runtime early — Java 11 on the server forced a retarget.</a:t>
            </a:r>
            <a:endParaRPr lang="en-US" sz="1300" dirty="0"/>
          </a:p>
          <a:p>
            <a:pPr marL="177800" indent="-177800">
              <a:spcAft>
                <a:spcPts val="600"/>
              </a:spcAft>
              <a:buSzPct val="100000"/>
              <a:buChar char="•"/>
            </a:pPr>
            <a:r>
              <a:rPr lang="en-US" sz="1300" dirty="0">
                <a:solidFill>
                  <a:srgbClr val="333331"/>
                </a:solidFill>
                <a:latin typeface="Arial" pitchFamily="34" charset="0"/>
                <a:ea typeface="Arial" pitchFamily="34" charset="-122"/>
                <a:cs typeface="Arial" pitchFamily="34" charset="-120"/>
              </a:rPr>
              <a:t>Keep secrets out of git — credentials via -D / env, never committed.</a:t>
            </a:r>
            <a:endParaRPr lang="en-US" sz="1300" dirty="0"/>
          </a:p>
          <a:p>
            <a:pPr marL="177800" indent="-177800">
              <a:spcAft>
                <a:spcPts val="600"/>
              </a:spcAft>
              <a:buSzPct val="100000"/>
              <a:buChar char="•"/>
            </a:pPr>
            <a:r>
              <a:rPr lang="en-US" sz="1300" dirty="0">
                <a:solidFill>
                  <a:srgbClr val="333331"/>
                </a:solidFill>
                <a:latin typeface="Arial" pitchFamily="34" charset="0"/>
                <a:ea typeface="Arial" pitchFamily="34" charset="-122"/>
                <a:cs typeface="Arial" pitchFamily="34" charset="-120"/>
              </a:rPr>
              <a:t>Tooling traps: Git-Bash mangles /topics; PowerShell scripts fix it.</a:t>
            </a:r>
            <a:endParaRPr lang="en-US" sz="1300" dirty="0"/>
          </a:p>
          <a:p>
            <a:pPr marL="177800" indent="-177800">
              <a:spcAft>
                <a:spcPts val="600"/>
              </a:spcAft>
              <a:buSzPct val="100000"/>
              <a:buChar char="•"/>
            </a:pPr>
            <a:r>
              <a:rPr lang="en-US" sz="1300" dirty="0">
                <a:solidFill>
                  <a:srgbClr val="333331"/>
                </a:solidFill>
                <a:latin typeface="Arial" pitchFamily="34" charset="0"/>
                <a:ea typeface="Arial" pitchFamily="34" charset="-122"/>
                <a:cs typeface="Arial" pitchFamily="34" charset="-120"/>
              </a:rPr>
              <a:t>Ports &amp; adapters made the simulation a first-class test rig.</a:t>
            </a:r>
            <a:endParaRPr lang="en-US" sz="1300" dirty="0"/>
          </a:p>
        </p:txBody>
      </p:sp>
      <p:sp>
        <p:nvSpPr>
          <p:cNvPr id="15" name="Shape 12"/>
          <p:cNvSpPr/>
          <p:nvPr/>
        </p:nvSpPr>
        <p:spPr>
          <a:xfrm>
            <a:off x="640080" y="4434840"/>
            <a:ext cx="10908792" cy="914400"/>
          </a:xfrm>
          <a:prstGeom prst="rect">
            <a:avLst/>
          </a:prstGeom>
          <a:solidFill>
            <a:srgbClr val="F2F3F2"/>
          </a:solidFill>
          <a:ln w="12700">
            <a:solidFill>
              <a:srgbClr val="D7D7D5"/>
            </a:solidFill>
            <a:prstDash val="solid"/>
          </a:ln>
        </p:spPr>
        <p:txBody>
          <a:bodyPr/>
          <a:lstStyle/>
          <a:p>
            <a:endParaRPr lang="de-DE"/>
          </a:p>
        </p:txBody>
      </p:sp>
      <p:sp>
        <p:nvSpPr>
          <p:cNvPr id="16" name="Text 13"/>
          <p:cNvSpPr/>
          <p:nvPr/>
        </p:nvSpPr>
        <p:spPr>
          <a:xfrm>
            <a:off x="914400" y="4434840"/>
            <a:ext cx="10360152" cy="914400"/>
          </a:xfrm>
          <a:prstGeom prst="rect">
            <a:avLst/>
          </a:prstGeom>
          <a:noFill/>
          <a:ln/>
        </p:spPr>
        <p:txBody>
          <a:bodyPr wrap="square" lIns="0" tIns="0" rIns="0" bIns="0" rtlCol="0" anchor="ctr"/>
          <a:lstStyle/>
          <a:p>
            <a:pPr marL="0" indent="0">
              <a:buNone/>
            </a:pPr>
            <a:r>
              <a:rPr lang="en-US" sz="1350" b="1" dirty="0">
                <a:solidFill>
                  <a:srgbClr val="0B6E7A"/>
                </a:solidFill>
                <a:latin typeface="Arial" pitchFamily="34" charset="0"/>
                <a:ea typeface="Arial" pitchFamily="34" charset="-122"/>
                <a:cs typeface="Arial" pitchFamily="34" charset="-120"/>
              </a:rPr>
              <a:t>Still open:  </a:t>
            </a:r>
            <a:r>
              <a:rPr lang="en-US" sz="1350" dirty="0">
                <a:solidFill>
                  <a:srgbClr val="333331"/>
                </a:solidFill>
                <a:latin typeface="Arial" pitchFamily="34" charset="0"/>
                <a:ea typeface="Arial" pitchFamily="34" charset="-122"/>
                <a:cs typeface="Arial" pitchFamily="34" charset="-120"/>
              </a:rPr>
              <a:t>wire the real easymodbus library and confirm the Modbus address layout against the live lab slave — then the same logic drives real hardware.</a:t>
            </a:r>
            <a:endParaRPr lang="en-US" sz="1350" dirty="0"/>
          </a:p>
        </p:txBody>
      </p:sp>
      <p:sp>
        <p:nvSpPr>
          <p:cNvPr id="17" name="Shape 14"/>
          <p:cNvSpPr/>
          <p:nvPr/>
        </p:nvSpPr>
        <p:spPr>
          <a:xfrm>
            <a:off x="640080" y="5532120"/>
            <a:ext cx="10908792" cy="685800"/>
          </a:xfrm>
          <a:prstGeom prst="rect">
            <a:avLst/>
          </a:prstGeom>
          <a:solidFill>
            <a:srgbClr val="2D2D2B"/>
          </a:solidFill>
          <a:ln/>
        </p:spPr>
        <p:txBody>
          <a:bodyPr/>
          <a:lstStyle/>
          <a:p>
            <a:endParaRPr lang="de-DE"/>
          </a:p>
        </p:txBody>
      </p:sp>
      <p:sp>
        <p:nvSpPr>
          <p:cNvPr id="18" name="Text 15"/>
          <p:cNvSpPr/>
          <p:nvPr/>
        </p:nvSpPr>
        <p:spPr>
          <a:xfrm>
            <a:off x="640080" y="5532120"/>
            <a:ext cx="10908792" cy="685800"/>
          </a:xfrm>
          <a:prstGeom prst="rect">
            <a:avLst/>
          </a:prstGeom>
          <a:noFill/>
          <a:ln/>
        </p:spPr>
        <p:txBody>
          <a:bodyPr wrap="square" lIns="0" tIns="0" rIns="0" bIns="0" rtlCol="0" anchor="ctr"/>
          <a:lstStyle/>
          <a:p>
            <a:pPr marL="0" indent="0" algn="ctr">
              <a:buNone/>
            </a:pPr>
            <a:r>
              <a:rPr lang="en-US" sz="1900" b="1" dirty="0">
                <a:solidFill>
                  <a:srgbClr val="FFFFFF"/>
                </a:solidFill>
                <a:latin typeface="Arial" pitchFamily="34" charset="0"/>
                <a:ea typeface="Arial" pitchFamily="34" charset="-122"/>
                <a:cs typeface="Arial" pitchFamily="34" charset="-120"/>
              </a:rPr>
              <a:t>Thank you — questions welcome.</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4223</Words>
  <Application>Microsoft Office PowerPoint</Application>
  <PresentationFormat>Breitbild</PresentationFormat>
  <Paragraphs>457</Paragraphs>
  <Slides>20</Slides>
  <Notes>20</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20</vt:i4>
      </vt:variant>
    </vt:vector>
  </HeadingPairs>
  <TitlesOfParts>
    <vt:vector size="23" baseType="lpstr">
      <vt:lpstr>Arial</vt:lpstr>
      <vt:lpstr>Consolas</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Elevator Control System</dc:title>
  <dc:subject>PptxGenJS Presentation</dc:subject>
  <dc:creator>Group E</dc:creator>
  <cp:lastModifiedBy>Ruben Kaiser</cp:lastModifiedBy>
  <cp:revision>7</cp:revision>
  <dcterms:created xsi:type="dcterms:W3CDTF">2026-06-25T11:55:03Z</dcterms:created>
  <dcterms:modified xsi:type="dcterms:W3CDTF">2026-06-28T16:51:54Z</dcterms:modified>
</cp:coreProperties>
</file>